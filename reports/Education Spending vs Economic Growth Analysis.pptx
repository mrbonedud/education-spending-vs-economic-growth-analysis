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rt 0: Intro" id="{400CE5BF-0C4E-405E-9E29-B0C4F7011B36}">
          <p14:sldIdLst>
            <p14:sldId id="256"/>
          </p14:sldIdLst>
        </p14:section>
        <p14:section name="Part1: Motivation and Goal" id="{7D238D1F-6133-4734-B958-844C3BBE8B47}">
          <p14:sldIdLst>
            <p14:sldId id="257"/>
            <p14:sldId id="258"/>
          </p14:sldIdLst>
        </p14:section>
        <p14:section name="Part 2: Data Source, Variables, and Prep" id="{408CE0DD-0BF8-46FD-A818-E96C682F2D09}">
          <p14:sldIdLst>
            <p14:sldId id="259"/>
            <p14:sldId id="260"/>
            <p14:sldId id="262"/>
          </p14:sldIdLst>
        </p14:section>
        <p14:section name="Part 3: Exploratory Analysis" id="{A0CA6E65-8206-4E27-A1E3-2E00F5542DA4}">
          <p14:sldIdLst>
            <p14:sldId id="263"/>
            <p14:sldId id="265"/>
            <p14:sldId id="266"/>
            <p14:sldId id="267"/>
          </p14:sldIdLst>
        </p14:section>
        <p14:section name="Part 4: Modeling and Testing" id="{E3F9A48F-4FF0-4582-886A-985D7D91F065}">
          <p14:sldIdLst>
            <p14:sldId id="268"/>
            <p14:sldId id="269"/>
            <p14:sldId id="270"/>
            <p14:sldId id="271"/>
          </p14:sldIdLst>
        </p14:section>
        <p14:section name="Part 5: Conclusions and Thank You" id="{D9A294A9-EBCE-49B2-AD45-F09C55E7FC38}">
          <p14:sldIdLst>
            <p14:sldId id="272"/>
            <p14:sldId id="27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D5E1"/>
    <a:srgbClr val="F59E0B"/>
    <a:srgbClr val="2E4682"/>
    <a:srgbClr val="F8FAFC"/>
    <a:srgbClr val="0F172A"/>
    <a:srgbClr val="0D1939"/>
    <a:srgbClr val="193071"/>
    <a:srgbClr val="1E3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0FBA2-22DD-45B6-1C92-DC92950DF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E9B59C-05D7-9E3D-9D42-1C7ACD937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C8C46-D478-EE43-ADB1-D2EE3C705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0AB2-CA9B-402F-B5A9-2242BD07A432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E27CF-8CF3-99E2-16BD-469EF3EA9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F372A-356B-2AF1-D448-E83438C7B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534C2-2B56-471D-9011-E0BC6350F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41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EBAA5-59B8-DC62-F6AA-449211034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04D1D-EF13-AD83-166B-B0FE863F0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A909A-85C2-E962-720C-4C17A9E68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0AB2-CA9B-402F-B5A9-2242BD07A432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B6EE2-526B-CAC4-2719-2E8535EB5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54396-68A7-1C55-E34E-541417CE3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534C2-2B56-471D-9011-E0BC6350F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07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6DA2-1EED-844A-76C2-BEC57052D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928EB-A212-EC88-38B3-737D46FA9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30D2F-CCA7-DBD0-5208-7C89C02F0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0AB2-CA9B-402F-B5A9-2242BD07A432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FB514-73C4-7CC1-FD7F-A6BAB1110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447EA-C612-C9F3-6EE8-55B09BEB6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534C2-2B56-471D-9011-E0BC6350F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591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29A6B-6E8C-559A-1791-FEBE452AF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1E4F3-2CDB-7ADE-01DC-C8CB7A5936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852129-9C3C-582F-41D0-75CA2D75F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01EB2-DA6A-7476-B8E4-CBC3E2EC8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0AB2-CA9B-402F-B5A9-2242BD07A432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AFD7D-1CB4-1D69-3D02-48798EC8C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21D57-0A09-DAFA-7222-5189E809B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534C2-2B56-471D-9011-E0BC6350F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905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DB7DA-601A-3BF3-0875-8D921C39D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8691A-8F0D-5810-C73A-E692CB547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DE3FA-3574-F430-9859-A2BDF36DA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1BA70E-1B23-2706-6D1E-77B95E3CBF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13E6C4-BEE6-1D1F-A5B6-85376C4CF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03C973-5532-082E-5B86-EE37C005F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0AB2-CA9B-402F-B5A9-2242BD07A432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06DE45-B04F-0DB1-D79E-04B82E565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6B770B-6FE1-C8F3-EEA7-F29FE7336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534C2-2B56-471D-9011-E0BC6350F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65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BDFED-CC15-7CF8-A5A4-95DFCE8E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15CAD-29E2-B237-9A96-AB4E9BE0B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0AB2-CA9B-402F-B5A9-2242BD07A432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E6A71-ACA1-9856-148B-98EE0BC7D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D5F2-848A-D659-5C65-F4D08CA96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534C2-2B56-471D-9011-E0BC6350F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60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2B43C0-5513-2C81-83AB-2E02F129C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0AB2-CA9B-402F-B5A9-2242BD07A432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C9FC80-1C30-A28A-9721-7C53BEC7A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E0ADE-019C-9696-2039-622B451D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534C2-2B56-471D-9011-E0BC6350F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680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3BBFC-ED13-6F18-377E-64B7D31E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E2D28-B0FC-582D-5ACB-3CCB5162C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F18BA8-0C40-8042-F1D4-89B72B6CF8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921D4-1D61-D4FF-289C-95C6B2FD7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0AB2-CA9B-402F-B5A9-2242BD07A432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A5E91-1A74-B02E-087E-78311E511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564A8-6F59-39B3-C820-A18C66013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534C2-2B56-471D-9011-E0BC6350F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48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1E751-E7C5-128A-72F2-4E64F0302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99577C-2CD3-734A-5D11-DAF48C65E4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5D30FF-BE47-AF3B-5954-14EBDBDE9A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FE3B2-6C93-D4EF-E28F-367A65C59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0AB2-CA9B-402F-B5A9-2242BD07A432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988FF-DFA5-029D-A546-FE6381FCC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0094E-C246-06D4-D79B-7E6972100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534C2-2B56-471D-9011-E0BC6350F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070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C972F-3F4C-BEED-C085-5734BAB9F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CF051D-BA74-643A-6B9C-F1140702F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F4731-8018-DDE5-6547-E7A50747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0AB2-CA9B-402F-B5A9-2242BD07A432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F0E48-EFBA-47F9-B5EA-C30347D46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8AAC4-F804-9415-07F6-34F9C0A3F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534C2-2B56-471D-9011-E0BC6350F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480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6D3E1D-1394-B79E-F62A-C7EE21FD9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71CC73-CE70-E93E-D036-051E8E4B2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FCF89-80DA-A2C9-D0FE-D613FA3CE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0AB2-CA9B-402F-B5A9-2242BD07A432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38241-5B34-8C07-AD00-C2771730F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9DC9C-160F-BBC8-8DAE-6DF0FD7F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534C2-2B56-471D-9011-E0BC6350F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642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D1939"/>
            </a:gs>
            <a:gs pos="67000">
              <a:srgbClr val="0F172A"/>
            </a:gs>
          </a:gsLst>
          <a:path path="circle">
            <a:fillToRect l="100000" t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5BA195-8F57-EA68-4671-F94DCD1EE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CBBAA-2B9E-59A9-3352-9DEBEF37C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8CEC3-6F53-DAEF-0E66-07653EC164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D0AB2-CA9B-402F-B5A9-2242BD07A432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F8C1D-1915-B1E1-4EA5-ECDB9BF650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B47C6-99AE-6F8C-A7F6-046C2DE3F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534C2-2B56-471D-9011-E0BC6350F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46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8000">
              <a:srgbClr val="0F172A"/>
            </a:gs>
            <a:gs pos="0">
              <a:srgbClr val="2E4682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BC28198-C237-0D3A-4036-18CC1C086EE2}"/>
              </a:ext>
            </a:extLst>
          </p:cNvPr>
          <p:cNvSpPr/>
          <p:nvPr/>
        </p:nvSpPr>
        <p:spPr>
          <a:xfrm>
            <a:off x="4774526" y="-244649"/>
            <a:ext cx="10605849" cy="9160069"/>
          </a:xfrm>
          <a:custGeom>
            <a:avLst/>
            <a:gdLst>
              <a:gd name="connsiteX0" fmla="*/ 2759249 w 10605849"/>
              <a:gd name="connsiteY0" fmla="*/ 6210089 h 9160069"/>
              <a:gd name="connsiteX1" fmla="*/ 2188570 w 10605849"/>
              <a:gd name="connsiteY1" fmla="*/ 6884351 h 9160069"/>
              <a:gd name="connsiteX2" fmla="*/ 2759249 w 10605849"/>
              <a:gd name="connsiteY2" fmla="*/ 6625403 h 9160069"/>
              <a:gd name="connsiteX3" fmla="*/ 3329927 w 10605849"/>
              <a:gd name="connsiteY3" fmla="*/ 6884351 h 9160069"/>
              <a:gd name="connsiteX4" fmla="*/ 1379628 w 10605849"/>
              <a:gd name="connsiteY4" fmla="*/ 4580028 h 9160069"/>
              <a:gd name="connsiteX5" fmla="*/ 2485999 w 10605849"/>
              <a:gd name="connsiteY5" fmla="*/ 5082049 h 9160069"/>
              <a:gd name="connsiteX6" fmla="*/ 2759249 w 10605849"/>
              <a:gd name="connsiteY6" fmla="*/ 6210051 h 9160069"/>
              <a:gd name="connsiteX7" fmla="*/ 3032499 w 10605849"/>
              <a:gd name="connsiteY7" fmla="*/ 5082049 h 9160069"/>
              <a:gd name="connsiteX8" fmla="*/ 4138870 w 10605849"/>
              <a:gd name="connsiteY8" fmla="*/ 4580028 h 9160069"/>
              <a:gd name="connsiteX9" fmla="*/ 5245241 w 10605849"/>
              <a:gd name="connsiteY9" fmla="*/ 5082049 h 9160069"/>
              <a:gd name="connsiteX10" fmla="*/ 5468359 w 10605849"/>
              <a:gd name="connsiteY10" fmla="*/ 6003102 h 9160069"/>
              <a:gd name="connsiteX11" fmla="*/ 5691477 w 10605849"/>
              <a:gd name="connsiteY11" fmla="*/ 5082049 h 9160069"/>
              <a:gd name="connsiteX12" fmla="*/ 6797848 w 10605849"/>
              <a:gd name="connsiteY12" fmla="*/ 4580028 h 9160069"/>
              <a:gd name="connsiteX13" fmla="*/ 7904219 w 10605849"/>
              <a:gd name="connsiteY13" fmla="*/ 5082049 h 9160069"/>
              <a:gd name="connsiteX14" fmla="*/ 8177476 w 10605849"/>
              <a:gd name="connsiteY14" fmla="*/ 6210080 h 9160069"/>
              <a:gd name="connsiteX15" fmla="*/ 7411834 w 10605849"/>
              <a:gd name="connsiteY15" fmla="*/ 7114694 h 9160069"/>
              <a:gd name="connsiteX16" fmla="*/ 6183862 w 10605849"/>
              <a:gd name="connsiteY16" fmla="*/ 7114694 h 9160069"/>
              <a:gd name="connsiteX17" fmla="*/ 5468359 w 10605849"/>
              <a:gd name="connsiteY17" fmla="*/ 6269320 h 9160069"/>
              <a:gd name="connsiteX18" fmla="*/ 4752856 w 10605849"/>
              <a:gd name="connsiteY18" fmla="*/ 7114694 h 9160069"/>
              <a:gd name="connsiteX19" fmla="*/ 3837565 w 10605849"/>
              <a:gd name="connsiteY19" fmla="*/ 7114694 h 9160069"/>
              <a:gd name="connsiteX20" fmla="*/ 3865620 w 10605849"/>
              <a:gd name="connsiteY20" fmla="*/ 7127424 h 9160069"/>
              <a:gd name="connsiteX21" fmla="*/ 4138877 w 10605849"/>
              <a:gd name="connsiteY21" fmla="*/ 8255455 h 9160069"/>
              <a:gd name="connsiteX22" fmla="*/ 3373235 w 10605849"/>
              <a:gd name="connsiteY22" fmla="*/ 9160069 h 9160069"/>
              <a:gd name="connsiteX23" fmla="*/ 2145263 w 10605849"/>
              <a:gd name="connsiteY23" fmla="*/ 9160069 h 9160069"/>
              <a:gd name="connsiteX24" fmla="*/ 1379621 w 10605849"/>
              <a:gd name="connsiteY24" fmla="*/ 8255455 h 9160069"/>
              <a:gd name="connsiteX25" fmla="*/ 1652878 w 10605849"/>
              <a:gd name="connsiteY25" fmla="*/ 7127424 h 9160069"/>
              <a:gd name="connsiteX26" fmla="*/ 1680933 w 10605849"/>
              <a:gd name="connsiteY26" fmla="*/ 7114694 h 9160069"/>
              <a:gd name="connsiteX27" fmla="*/ 765642 w 10605849"/>
              <a:gd name="connsiteY27" fmla="*/ 7114694 h 9160069"/>
              <a:gd name="connsiteX28" fmla="*/ 0 w 10605849"/>
              <a:gd name="connsiteY28" fmla="*/ 6210080 h 9160069"/>
              <a:gd name="connsiteX29" fmla="*/ 273257 w 10605849"/>
              <a:gd name="connsiteY29" fmla="*/ 5082049 h 9160069"/>
              <a:gd name="connsiteX30" fmla="*/ 2646954 w 10605849"/>
              <a:gd name="connsiteY30" fmla="*/ 2290015 h 9160069"/>
              <a:gd name="connsiteX31" fmla="*/ 3753325 w 10605849"/>
              <a:gd name="connsiteY31" fmla="*/ 2792036 h 9160069"/>
              <a:gd name="connsiteX32" fmla="*/ 4026575 w 10605849"/>
              <a:gd name="connsiteY32" fmla="*/ 3920037 h 9160069"/>
              <a:gd name="connsiteX33" fmla="*/ 4299825 w 10605849"/>
              <a:gd name="connsiteY33" fmla="*/ 2792036 h 9160069"/>
              <a:gd name="connsiteX34" fmla="*/ 5406196 w 10605849"/>
              <a:gd name="connsiteY34" fmla="*/ 2290015 h 9160069"/>
              <a:gd name="connsiteX35" fmla="*/ 6512567 w 10605849"/>
              <a:gd name="connsiteY35" fmla="*/ 2792036 h 9160069"/>
              <a:gd name="connsiteX36" fmla="*/ 6735685 w 10605849"/>
              <a:gd name="connsiteY36" fmla="*/ 3713088 h 9160069"/>
              <a:gd name="connsiteX37" fmla="*/ 6958803 w 10605849"/>
              <a:gd name="connsiteY37" fmla="*/ 2792036 h 9160069"/>
              <a:gd name="connsiteX38" fmla="*/ 8065174 w 10605849"/>
              <a:gd name="connsiteY38" fmla="*/ 2290015 h 9160069"/>
              <a:gd name="connsiteX39" fmla="*/ 9171545 w 10605849"/>
              <a:gd name="connsiteY39" fmla="*/ 2792036 h 9160069"/>
              <a:gd name="connsiteX40" fmla="*/ 9444802 w 10605849"/>
              <a:gd name="connsiteY40" fmla="*/ 3920066 h 9160069"/>
              <a:gd name="connsiteX41" fmla="*/ 8679160 w 10605849"/>
              <a:gd name="connsiteY41" fmla="*/ 4824680 h 9160069"/>
              <a:gd name="connsiteX42" fmla="*/ 7451188 w 10605849"/>
              <a:gd name="connsiteY42" fmla="*/ 4824680 h 9160069"/>
              <a:gd name="connsiteX43" fmla="*/ 6735685 w 10605849"/>
              <a:gd name="connsiteY43" fmla="*/ 3979306 h 9160069"/>
              <a:gd name="connsiteX44" fmla="*/ 6020182 w 10605849"/>
              <a:gd name="connsiteY44" fmla="*/ 4824680 h 9160069"/>
              <a:gd name="connsiteX45" fmla="*/ 4792210 w 10605849"/>
              <a:gd name="connsiteY45" fmla="*/ 4824680 h 9160069"/>
              <a:gd name="connsiteX46" fmla="*/ 4026575 w 10605849"/>
              <a:gd name="connsiteY46" fmla="*/ 3920074 h 9160069"/>
              <a:gd name="connsiteX47" fmla="*/ 3260940 w 10605849"/>
              <a:gd name="connsiteY47" fmla="*/ 4824680 h 9160069"/>
              <a:gd name="connsiteX48" fmla="*/ 2032968 w 10605849"/>
              <a:gd name="connsiteY48" fmla="*/ 4824680 h 9160069"/>
              <a:gd name="connsiteX49" fmla="*/ 1267326 w 10605849"/>
              <a:gd name="connsiteY49" fmla="*/ 3920066 h 9160069"/>
              <a:gd name="connsiteX50" fmla="*/ 1540583 w 10605849"/>
              <a:gd name="connsiteY50" fmla="*/ 2792036 h 9160069"/>
              <a:gd name="connsiteX51" fmla="*/ 3808001 w 10605849"/>
              <a:gd name="connsiteY51" fmla="*/ 0 h 9160069"/>
              <a:gd name="connsiteX52" fmla="*/ 4914372 w 10605849"/>
              <a:gd name="connsiteY52" fmla="*/ 502021 h 9160069"/>
              <a:gd name="connsiteX53" fmla="*/ 5187622 w 10605849"/>
              <a:gd name="connsiteY53" fmla="*/ 1630023 h 9160069"/>
              <a:gd name="connsiteX54" fmla="*/ 5460872 w 10605849"/>
              <a:gd name="connsiteY54" fmla="*/ 502021 h 9160069"/>
              <a:gd name="connsiteX55" fmla="*/ 6567243 w 10605849"/>
              <a:gd name="connsiteY55" fmla="*/ 0 h 9160069"/>
              <a:gd name="connsiteX56" fmla="*/ 7673614 w 10605849"/>
              <a:gd name="connsiteY56" fmla="*/ 502021 h 9160069"/>
              <a:gd name="connsiteX57" fmla="*/ 7896732 w 10605849"/>
              <a:gd name="connsiteY57" fmla="*/ 1423074 h 9160069"/>
              <a:gd name="connsiteX58" fmla="*/ 8119850 w 10605849"/>
              <a:gd name="connsiteY58" fmla="*/ 502021 h 9160069"/>
              <a:gd name="connsiteX59" fmla="*/ 9226221 w 10605849"/>
              <a:gd name="connsiteY59" fmla="*/ 0 h 9160069"/>
              <a:gd name="connsiteX60" fmla="*/ 10332592 w 10605849"/>
              <a:gd name="connsiteY60" fmla="*/ 502021 h 9160069"/>
              <a:gd name="connsiteX61" fmla="*/ 10605849 w 10605849"/>
              <a:gd name="connsiteY61" fmla="*/ 1630052 h 9160069"/>
              <a:gd name="connsiteX62" fmla="*/ 9840207 w 10605849"/>
              <a:gd name="connsiteY62" fmla="*/ 2534666 h 9160069"/>
              <a:gd name="connsiteX63" fmla="*/ 8612235 w 10605849"/>
              <a:gd name="connsiteY63" fmla="*/ 2534666 h 9160069"/>
              <a:gd name="connsiteX64" fmla="*/ 7896732 w 10605849"/>
              <a:gd name="connsiteY64" fmla="*/ 1689292 h 9160069"/>
              <a:gd name="connsiteX65" fmla="*/ 7181229 w 10605849"/>
              <a:gd name="connsiteY65" fmla="*/ 2534666 h 9160069"/>
              <a:gd name="connsiteX66" fmla="*/ 5953257 w 10605849"/>
              <a:gd name="connsiteY66" fmla="*/ 2534666 h 9160069"/>
              <a:gd name="connsiteX67" fmla="*/ 5187622 w 10605849"/>
              <a:gd name="connsiteY67" fmla="*/ 1630061 h 9160069"/>
              <a:gd name="connsiteX68" fmla="*/ 4421987 w 10605849"/>
              <a:gd name="connsiteY68" fmla="*/ 2534666 h 9160069"/>
              <a:gd name="connsiteX69" fmla="*/ 3194015 w 10605849"/>
              <a:gd name="connsiteY69" fmla="*/ 2534666 h 9160069"/>
              <a:gd name="connsiteX70" fmla="*/ 2428373 w 10605849"/>
              <a:gd name="connsiteY70" fmla="*/ 1630052 h 9160069"/>
              <a:gd name="connsiteX71" fmla="*/ 2701630 w 10605849"/>
              <a:gd name="connsiteY71" fmla="*/ 502021 h 916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0605849" h="9160069">
                <a:moveTo>
                  <a:pt x="2759249" y="6210089"/>
                </a:moveTo>
                <a:lnTo>
                  <a:pt x="2188570" y="6884351"/>
                </a:lnTo>
                <a:lnTo>
                  <a:pt x="2759249" y="6625403"/>
                </a:lnTo>
                <a:lnTo>
                  <a:pt x="3329927" y="6884351"/>
                </a:lnTo>
                <a:close/>
                <a:moveTo>
                  <a:pt x="1379628" y="4580028"/>
                </a:moveTo>
                <a:lnTo>
                  <a:pt x="2485999" y="5082049"/>
                </a:lnTo>
                <a:lnTo>
                  <a:pt x="2759249" y="6210051"/>
                </a:lnTo>
                <a:lnTo>
                  <a:pt x="3032499" y="5082049"/>
                </a:lnTo>
                <a:lnTo>
                  <a:pt x="4138870" y="4580028"/>
                </a:lnTo>
                <a:lnTo>
                  <a:pt x="5245241" y="5082049"/>
                </a:lnTo>
                <a:lnTo>
                  <a:pt x="5468359" y="6003102"/>
                </a:lnTo>
                <a:lnTo>
                  <a:pt x="5691477" y="5082049"/>
                </a:lnTo>
                <a:lnTo>
                  <a:pt x="6797848" y="4580028"/>
                </a:lnTo>
                <a:lnTo>
                  <a:pt x="7904219" y="5082049"/>
                </a:lnTo>
                <a:lnTo>
                  <a:pt x="8177476" y="6210080"/>
                </a:lnTo>
                <a:lnTo>
                  <a:pt x="7411834" y="7114694"/>
                </a:lnTo>
                <a:lnTo>
                  <a:pt x="6183862" y="7114694"/>
                </a:lnTo>
                <a:lnTo>
                  <a:pt x="5468359" y="6269320"/>
                </a:lnTo>
                <a:lnTo>
                  <a:pt x="4752856" y="7114694"/>
                </a:lnTo>
                <a:lnTo>
                  <a:pt x="3837565" y="7114694"/>
                </a:lnTo>
                <a:lnTo>
                  <a:pt x="3865620" y="7127424"/>
                </a:lnTo>
                <a:lnTo>
                  <a:pt x="4138877" y="8255455"/>
                </a:lnTo>
                <a:lnTo>
                  <a:pt x="3373235" y="9160069"/>
                </a:lnTo>
                <a:lnTo>
                  <a:pt x="2145263" y="9160069"/>
                </a:lnTo>
                <a:lnTo>
                  <a:pt x="1379621" y="8255455"/>
                </a:lnTo>
                <a:lnTo>
                  <a:pt x="1652878" y="7127424"/>
                </a:lnTo>
                <a:lnTo>
                  <a:pt x="1680933" y="7114694"/>
                </a:lnTo>
                <a:lnTo>
                  <a:pt x="765642" y="7114694"/>
                </a:lnTo>
                <a:lnTo>
                  <a:pt x="0" y="6210080"/>
                </a:lnTo>
                <a:lnTo>
                  <a:pt x="273257" y="5082049"/>
                </a:lnTo>
                <a:close/>
                <a:moveTo>
                  <a:pt x="2646954" y="2290015"/>
                </a:moveTo>
                <a:lnTo>
                  <a:pt x="3753325" y="2792036"/>
                </a:lnTo>
                <a:lnTo>
                  <a:pt x="4026575" y="3920037"/>
                </a:lnTo>
                <a:lnTo>
                  <a:pt x="4299825" y="2792036"/>
                </a:lnTo>
                <a:lnTo>
                  <a:pt x="5406196" y="2290015"/>
                </a:lnTo>
                <a:lnTo>
                  <a:pt x="6512567" y="2792036"/>
                </a:lnTo>
                <a:lnTo>
                  <a:pt x="6735685" y="3713088"/>
                </a:lnTo>
                <a:lnTo>
                  <a:pt x="6958803" y="2792036"/>
                </a:lnTo>
                <a:lnTo>
                  <a:pt x="8065174" y="2290015"/>
                </a:lnTo>
                <a:lnTo>
                  <a:pt x="9171545" y="2792036"/>
                </a:lnTo>
                <a:lnTo>
                  <a:pt x="9444802" y="3920066"/>
                </a:lnTo>
                <a:lnTo>
                  <a:pt x="8679160" y="4824680"/>
                </a:lnTo>
                <a:lnTo>
                  <a:pt x="7451188" y="4824680"/>
                </a:lnTo>
                <a:lnTo>
                  <a:pt x="6735685" y="3979306"/>
                </a:lnTo>
                <a:lnTo>
                  <a:pt x="6020182" y="4824680"/>
                </a:lnTo>
                <a:lnTo>
                  <a:pt x="4792210" y="4824680"/>
                </a:lnTo>
                <a:lnTo>
                  <a:pt x="4026575" y="3920074"/>
                </a:lnTo>
                <a:lnTo>
                  <a:pt x="3260940" y="4824680"/>
                </a:lnTo>
                <a:lnTo>
                  <a:pt x="2032968" y="4824680"/>
                </a:lnTo>
                <a:lnTo>
                  <a:pt x="1267326" y="3920066"/>
                </a:lnTo>
                <a:lnTo>
                  <a:pt x="1540583" y="2792036"/>
                </a:lnTo>
                <a:close/>
                <a:moveTo>
                  <a:pt x="3808001" y="0"/>
                </a:moveTo>
                <a:lnTo>
                  <a:pt x="4914372" y="502021"/>
                </a:lnTo>
                <a:lnTo>
                  <a:pt x="5187622" y="1630023"/>
                </a:lnTo>
                <a:lnTo>
                  <a:pt x="5460872" y="502021"/>
                </a:lnTo>
                <a:lnTo>
                  <a:pt x="6567243" y="0"/>
                </a:lnTo>
                <a:lnTo>
                  <a:pt x="7673614" y="502021"/>
                </a:lnTo>
                <a:lnTo>
                  <a:pt x="7896732" y="1423074"/>
                </a:lnTo>
                <a:lnTo>
                  <a:pt x="8119850" y="502021"/>
                </a:lnTo>
                <a:lnTo>
                  <a:pt x="9226221" y="0"/>
                </a:lnTo>
                <a:lnTo>
                  <a:pt x="10332592" y="502021"/>
                </a:lnTo>
                <a:lnTo>
                  <a:pt x="10605849" y="1630052"/>
                </a:lnTo>
                <a:lnTo>
                  <a:pt x="9840207" y="2534666"/>
                </a:lnTo>
                <a:lnTo>
                  <a:pt x="8612235" y="2534666"/>
                </a:lnTo>
                <a:lnTo>
                  <a:pt x="7896732" y="1689292"/>
                </a:lnTo>
                <a:lnTo>
                  <a:pt x="7181229" y="2534666"/>
                </a:lnTo>
                <a:lnTo>
                  <a:pt x="5953257" y="2534666"/>
                </a:lnTo>
                <a:lnTo>
                  <a:pt x="5187622" y="1630061"/>
                </a:lnTo>
                <a:lnTo>
                  <a:pt x="4421987" y="2534666"/>
                </a:lnTo>
                <a:lnTo>
                  <a:pt x="3194015" y="2534666"/>
                </a:lnTo>
                <a:lnTo>
                  <a:pt x="2428373" y="1630052"/>
                </a:lnTo>
                <a:lnTo>
                  <a:pt x="2701630" y="502021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innerShdw blurRad="558800" dist="558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14287C3-D7A8-5C02-AA37-83490EC5C1FE}"/>
              </a:ext>
            </a:extLst>
          </p:cNvPr>
          <p:cNvSpPr txBox="1"/>
          <p:nvPr/>
        </p:nvSpPr>
        <p:spPr>
          <a:xfrm>
            <a:off x="0" y="1443790"/>
            <a:ext cx="72090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  <a:t>Education Spending &amp; Economic Growth</a:t>
            </a:r>
            <a:br>
              <a:rPr lang="en-US" sz="2800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endParaRPr lang="en-US" sz="2800" dirty="0">
              <a:solidFill>
                <a:srgbClr val="F8FAF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0DDC324-9439-9312-9FF1-1AE29C1415E8}"/>
              </a:ext>
            </a:extLst>
          </p:cNvPr>
          <p:cNvSpPr txBox="1"/>
          <p:nvPr/>
        </p:nvSpPr>
        <p:spPr>
          <a:xfrm>
            <a:off x="1475873" y="2074731"/>
            <a:ext cx="35028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BD5E1"/>
                </a:solidFill>
                <a:latin typeface="Inter" panose="02000503000000020004" pitchFamily="2" charset="0"/>
                <a:ea typeface="Inter" panose="02000503000000020004" pitchFamily="2" charset="0"/>
              </a:rPr>
              <a:t>A Global Relationship Analysis</a:t>
            </a:r>
            <a:endParaRPr lang="en-US" dirty="0">
              <a:solidFill>
                <a:srgbClr val="CBD5E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US" dirty="0">
              <a:solidFill>
                <a:srgbClr val="CBD5E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2B30AB4A-5CA6-307B-B483-DB94F41BE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315" y="2505618"/>
            <a:ext cx="35381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59E0B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World Bank Data • R • Regression &amp; ML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59E0B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F59E0B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C25F7FD2-2260-BE23-6CF1-77323B9BD9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852" y="-128106"/>
            <a:ext cx="1463167" cy="1518036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6C7F01E0-7F20-871D-E3BB-E0FA930C1140}"/>
              </a:ext>
            </a:extLst>
          </p:cNvPr>
          <p:cNvSpPr txBox="1"/>
          <p:nvPr/>
        </p:nvSpPr>
        <p:spPr>
          <a:xfrm>
            <a:off x="98123" y="3829163"/>
            <a:ext cx="4377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Made By:</a:t>
            </a:r>
          </a:p>
          <a:p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Faisal Jaber Naem (</a:t>
            </a:r>
            <a:r>
              <a:rPr lang="en-US" dirty="0">
                <a:solidFill>
                  <a:srgbClr val="FFC000"/>
                </a:solidFill>
                <a:latin typeface="Montserrat" pitchFamily="2" charset="0"/>
              </a:rPr>
              <a:t>221983</a:t>
            </a: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)</a:t>
            </a:r>
          </a:p>
          <a:p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Taha Mahmoud Abo Al-Hija (</a:t>
            </a:r>
            <a:r>
              <a:rPr lang="en-US" dirty="0">
                <a:solidFill>
                  <a:srgbClr val="FFC000"/>
                </a:solidFill>
                <a:latin typeface="Montserrat" pitchFamily="2" charset="0"/>
              </a:rPr>
              <a:t>231643</a:t>
            </a: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)</a:t>
            </a:r>
          </a:p>
          <a:p>
            <a:endParaRPr lang="en-US" dirty="0">
              <a:solidFill>
                <a:srgbClr val="CBD5E1"/>
              </a:solidFill>
              <a:latin typeface="Montserrat" pitchFamily="2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27A5E9-8D02-4D2E-DAEB-813557FB5F83}"/>
              </a:ext>
            </a:extLst>
          </p:cNvPr>
          <p:cNvSpPr txBox="1"/>
          <p:nvPr/>
        </p:nvSpPr>
        <p:spPr>
          <a:xfrm>
            <a:off x="98123" y="5414210"/>
            <a:ext cx="4377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Supervised By:</a:t>
            </a:r>
          </a:p>
          <a:p>
            <a:r>
              <a:rPr lang="en-US" dirty="0">
                <a:solidFill>
                  <a:srgbClr val="F59E0B"/>
                </a:solidFill>
                <a:latin typeface="Montserrat" pitchFamily="2" charset="0"/>
              </a:rPr>
              <a:t>Prof</a:t>
            </a: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. Eslam Al-Hersh</a:t>
            </a:r>
          </a:p>
          <a:p>
            <a:endParaRPr lang="en-US" dirty="0">
              <a:solidFill>
                <a:srgbClr val="CBD5E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103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8000">
              <a:srgbClr val="0F172A"/>
            </a:gs>
            <a:gs pos="0">
              <a:srgbClr val="2E4682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36C81D-1B81-AF97-A076-C09F59992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FBABBFCA-7EC1-564B-35A0-6AD643DC21F3}"/>
              </a:ext>
            </a:extLst>
          </p:cNvPr>
          <p:cNvSpPr/>
          <p:nvPr/>
        </p:nvSpPr>
        <p:spPr>
          <a:xfrm>
            <a:off x="4774526" y="-244649"/>
            <a:ext cx="10605849" cy="9160069"/>
          </a:xfrm>
          <a:custGeom>
            <a:avLst/>
            <a:gdLst>
              <a:gd name="connsiteX0" fmla="*/ 2759249 w 10605849"/>
              <a:gd name="connsiteY0" fmla="*/ 6210089 h 9160069"/>
              <a:gd name="connsiteX1" fmla="*/ 2188570 w 10605849"/>
              <a:gd name="connsiteY1" fmla="*/ 6884351 h 9160069"/>
              <a:gd name="connsiteX2" fmla="*/ 2759249 w 10605849"/>
              <a:gd name="connsiteY2" fmla="*/ 6625403 h 9160069"/>
              <a:gd name="connsiteX3" fmla="*/ 3329927 w 10605849"/>
              <a:gd name="connsiteY3" fmla="*/ 6884351 h 9160069"/>
              <a:gd name="connsiteX4" fmla="*/ 1379628 w 10605849"/>
              <a:gd name="connsiteY4" fmla="*/ 4580028 h 9160069"/>
              <a:gd name="connsiteX5" fmla="*/ 2485999 w 10605849"/>
              <a:gd name="connsiteY5" fmla="*/ 5082049 h 9160069"/>
              <a:gd name="connsiteX6" fmla="*/ 2759249 w 10605849"/>
              <a:gd name="connsiteY6" fmla="*/ 6210051 h 9160069"/>
              <a:gd name="connsiteX7" fmla="*/ 3032499 w 10605849"/>
              <a:gd name="connsiteY7" fmla="*/ 5082049 h 9160069"/>
              <a:gd name="connsiteX8" fmla="*/ 4138870 w 10605849"/>
              <a:gd name="connsiteY8" fmla="*/ 4580028 h 9160069"/>
              <a:gd name="connsiteX9" fmla="*/ 5245241 w 10605849"/>
              <a:gd name="connsiteY9" fmla="*/ 5082049 h 9160069"/>
              <a:gd name="connsiteX10" fmla="*/ 5468359 w 10605849"/>
              <a:gd name="connsiteY10" fmla="*/ 6003102 h 9160069"/>
              <a:gd name="connsiteX11" fmla="*/ 5691477 w 10605849"/>
              <a:gd name="connsiteY11" fmla="*/ 5082049 h 9160069"/>
              <a:gd name="connsiteX12" fmla="*/ 6797848 w 10605849"/>
              <a:gd name="connsiteY12" fmla="*/ 4580028 h 9160069"/>
              <a:gd name="connsiteX13" fmla="*/ 7904219 w 10605849"/>
              <a:gd name="connsiteY13" fmla="*/ 5082049 h 9160069"/>
              <a:gd name="connsiteX14" fmla="*/ 8177476 w 10605849"/>
              <a:gd name="connsiteY14" fmla="*/ 6210080 h 9160069"/>
              <a:gd name="connsiteX15" fmla="*/ 7411834 w 10605849"/>
              <a:gd name="connsiteY15" fmla="*/ 7114694 h 9160069"/>
              <a:gd name="connsiteX16" fmla="*/ 6183862 w 10605849"/>
              <a:gd name="connsiteY16" fmla="*/ 7114694 h 9160069"/>
              <a:gd name="connsiteX17" fmla="*/ 5468359 w 10605849"/>
              <a:gd name="connsiteY17" fmla="*/ 6269320 h 9160069"/>
              <a:gd name="connsiteX18" fmla="*/ 4752856 w 10605849"/>
              <a:gd name="connsiteY18" fmla="*/ 7114694 h 9160069"/>
              <a:gd name="connsiteX19" fmla="*/ 3837565 w 10605849"/>
              <a:gd name="connsiteY19" fmla="*/ 7114694 h 9160069"/>
              <a:gd name="connsiteX20" fmla="*/ 3865620 w 10605849"/>
              <a:gd name="connsiteY20" fmla="*/ 7127424 h 9160069"/>
              <a:gd name="connsiteX21" fmla="*/ 4138877 w 10605849"/>
              <a:gd name="connsiteY21" fmla="*/ 8255455 h 9160069"/>
              <a:gd name="connsiteX22" fmla="*/ 3373235 w 10605849"/>
              <a:gd name="connsiteY22" fmla="*/ 9160069 h 9160069"/>
              <a:gd name="connsiteX23" fmla="*/ 2145263 w 10605849"/>
              <a:gd name="connsiteY23" fmla="*/ 9160069 h 9160069"/>
              <a:gd name="connsiteX24" fmla="*/ 1379621 w 10605849"/>
              <a:gd name="connsiteY24" fmla="*/ 8255455 h 9160069"/>
              <a:gd name="connsiteX25" fmla="*/ 1652878 w 10605849"/>
              <a:gd name="connsiteY25" fmla="*/ 7127424 h 9160069"/>
              <a:gd name="connsiteX26" fmla="*/ 1680933 w 10605849"/>
              <a:gd name="connsiteY26" fmla="*/ 7114694 h 9160069"/>
              <a:gd name="connsiteX27" fmla="*/ 765642 w 10605849"/>
              <a:gd name="connsiteY27" fmla="*/ 7114694 h 9160069"/>
              <a:gd name="connsiteX28" fmla="*/ 0 w 10605849"/>
              <a:gd name="connsiteY28" fmla="*/ 6210080 h 9160069"/>
              <a:gd name="connsiteX29" fmla="*/ 273257 w 10605849"/>
              <a:gd name="connsiteY29" fmla="*/ 5082049 h 9160069"/>
              <a:gd name="connsiteX30" fmla="*/ 2646954 w 10605849"/>
              <a:gd name="connsiteY30" fmla="*/ 2290015 h 9160069"/>
              <a:gd name="connsiteX31" fmla="*/ 3753325 w 10605849"/>
              <a:gd name="connsiteY31" fmla="*/ 2792036 h 9160069"/>
              <a:gd name="connsiteX32" fmla="*/ 4026575 w 10605849"/>
              <a:gd name="connsiteY32" fmla="*/ 3920037 h 9160069"/>
              <a:gd name="connsiteX33" fmla="*/ 4299825 w 10605849"/>
              <a:gd name="connsiteY33" fmla="*/ 2792036 h 9160069"/>
              <a:gd name="connsiteX34" fmla="*/ 5406196 w 10605849"/>
              <a:gd name="connsiteY34" fmla="*/ 2290015 h 9160069"/>
              <a:gd name="connsiteX35" fmla="*/ 6512567 w 10605849"/>
              <a:gd name="connsiteY35" fmla="*/ 2792036 h 9160069"/>
              <a:gd name="connsiteX36" fmla="*/ 6735685 w 10605849"/>
              <a:gd name="connsiteY36" fmla="*/ 3713088 h 9160069"/>
              <a:gd name="connsiteX37" fmla="*/ 6958803 w 10605849"/>
              <a:gd name="connsiteY37" fmla="*/ 2792036 h 9160069"/>
              <a:gd name="connsiteX38" fmla="*/ 8065174 w 10605849"/>
              <a:gd name="connsiteY38" fmla="*/ 2290015 h 9160069"/>
              <a:gd name="connsiteX39" fmla="*/ 9171545 w 10605849"/>
              <a:gd name="connsiteY39" fmla="*/ 2792036 h 9160069"/>
              <a:gd name="connsiteX40" fmla="*/ 9444802 w 10605849"/>
              <a:gd name="connsiteY40" fmla="*/ 3920066 h 9160069"/>
              <a:gd name="connsiteX41" fmla="*/ 8679160 w 10605849"/>
              <a:gd name="connsiteY41" fmla="*/ 4824680 h 9160069"/>
              <a:gd name="connsiteX42" fmla="*/ 7451188 w 10605849"/>
              <a:gd name="connsiteY42" fmla="*/ 4824680 h 9160069"/>
              <a:gd name="connsiteX43" fmla="*/ 6735685 w 10605849"/>
              <a:gd name="connsiteY43" fmla="*/ 3979306 h 9160069"/>
              <a:gd name="connsiteX44" fmla="*/ 6020182 w 10605849"/>
              <a:gd name="connsiteY44" fmla="*/ 4824680 h 9160069"/>
              <a:gd name="connsiteX45" fmla="*/ 4792210 w 10605849"/>
              <a:gd name="connsiteY45" fmla="*/ 4824680 h 9160069"/>
              <a:gd name="connsiteX46" fmla="*/ 4026575 w 10605849"/>
              <a:gd name="connsiteY46" fmla="*/ 3920074 h 9160069"/>
              <a:gd name="connsiteX47" fmla="*/ 3260940 w 10605849"/>
              <a:gd name="connsiteY47" fmla="*/ 4824680 h 9160069"/>
              <a:gd name="connsiteX48" fmla="*/ 2032968 w 10605849"/>
              <a:gd name="connsiteY48" fmla="*/ 4824680 h 9160069"/>
              <a:gd name="connsiteX49" fmla="*/ 1267326 w 10605849"/>
              <a:gd name="connsiteY49" fmla="*/ 3920066 h 9160069"/>
              <a:gd name="connsiteX50" fmla="*/ 1540583 w 10605849"/>
              <a:gd name="connsiteY50" fmla="*/ 2792036 h 9160069"/>
              <a:gd name="connsiteX51" fmla="*/ 3808001 w 10605849"/>
              <a:gd name="connsiteY51" fmla="*/ 0 h 9160069"/>
              <a:gd name="connsiteX52" fmla="*/ 4914372 w 10605849"/>
              <a:gd name="connsiteY52" fmla="*/ 502021 h 9160069"/>
              <a:gd name="connsiteX53" fmla="*/ 5187622 w 10605849"/>
              <a:gd name="connsiteY53" fmla="*/ 1630023 h 9160069"/>
              <a:gd name="connsiteX54" fmla="*/ 5460872 w 10605849"/>
              <a:gd name="connsiteY54" fmla="*/ 502021 h 9160069"/>
              <a:gd name="connsiteX55" fmla="*/ 6567243 w 10605849"/>
              <a:gd name="connsiteY55" fmla="*/ 0 h 9160069"/>
              <a:gd name="connsiteX56" fmla="*/ 7673614 w 10605849"/>
              <a:gd name="connsiteY56" fmla="*/ 502021 h 9160069"/>
              <a:gd name="connsiteX57" fmla="*/ 7896732 w 10605849"/>
              <a:gd name="connsiteY57" fmla="*/ 1423074 h 9160069"/>
              <a:gd name="connsiteX58" fmla="*/ 8119850 w 10605849"/>
              <a:gd name="connsiteY58" fmla="*/ 502021 h 9160069"/>
              <a:gd name="connsiteX59" fmla="*/ 9226221 w 10605849"/>
              <a:gd name="connsiteY59" fmla="*/ 0 h 9160069"/>
              <a:gd name="connsiteX60" fmla="*/ 10332592 w 10605849"/>
              <a:gd name="connsiteY60" fmla="*/ 502021 h 9160069"/>
              <a:gd name="connsiteX61" fmla="*/ 10605849 w 10605849"/>
              <a:gd name="connsiteY61" fmla="*/ 1630052 h 9160069"/>
              <a:gd name="connsiteX62" fmla="*/ 9840207 w 10605849"/>
              <a:gd name="connsiteY62" fmla="*/ 2534666 h 9160069"/>
              <a:gd name="connsiteX63" fmla="*/ 8612235 w 10605849"/>
              <a:gd name="connsiteY63" fmla="*/ 2534666 h 9160069"/>
              <a:gd name="connsiteX64" fmla="*/ 7896732 w 10605849"/>
              <a:gd name="connsiteY64" fmla="*/ 1689292 h 9160069"/>
              <a:gd name="connsiteX65" fmla="*/ 7181229 w 10605849"/>
              <a:gd name="connsiteY65" fmla="*/ 2534666 h 9160069"/>
              <a:gd name="connsiteX66" fmla="*/ 5953257 w 10605849"/>
              <a:gd name="connsiteY66" fmla="*/ 2534666 h 9160069"/>
              <a:gd name="connsiteX67" fmla="*/ 5187622 w 10605849"/>
              <a:gd name="connsiteY67" fmla="*/ 1630061 h 9160069"/>
              <a:gd name="connsiteX68" fmla="*/ 4421987 w 10605849"/>
              <a:gd name="connsiteY68" fmla="*/ 2534666 h 9160069"/>
              <a:gd name="connsiteX69" fmla="*/ 3194015 w 10605849"/>
              <a:gd name="connsiteY69" fmla="*/ 2534666 h 9160069"/>
              <a:gd name="connsiteX70" fmla="*/ 2428373 w 10605849"/>
              <a:gd name="connsiteY70" fmla="*/ 1630052 h 9160069"/>
              <a:gd name="connsiteX71" fmla="*/ 2701630 w 10605849"/>
              <a:gd name="connsiteY71" fmla="*/ 502021 h 916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0605849" h="9160069">
                <a:moveTo>
                  <a:pt x="2759249" y="6210089"/>
                </a:moveTo>
                <a:lnTo>
                  <a:pt x="2188570" y="6884351"/>
                </a:lnTo>
                <a:lnTo>
                  <a:pt x="2759249" y="6625403"/>
                </a:lnTo>
                <a:lnTo>
                  <a:pt x="3329927" y="6884351"/>
                </a:lnTo>
                <a:close/>
                <a:moveTo>
                  <a:pt x="1379628" y="4580028"/>
                </a:moveTo>
                <a:lnTo>
                  <a:pt x="2485999" y="5082049"/>
                </a:lnTo>
                <a:lnTo>
                  <a:pt x="2759249" y="6210051"/>
                </a:lnTo>
                <a:lnTo>
                  <a:pt x="3032499" y="5082049"/>
                </a:lnTo>
                <a:lnTo>
                  <a:pt x="4138870" y="4580028"/>
                </a:lnTo>
                <a:lnTo>
                  <a:pt x="5245241" y="5082049"/>
                </a:lnTo>
                <a:lnTo>
                  <a:pt x="5468359" y="6003102"/>
                </a:lnTo>
                <a:lnTo>
                  <a:pt x="5691477" y="5082049"/>
                </a:lnTo>
                <a:lnTo>
                  <a:pt x="6797848" y="4580028"/>
                </a:lnTo>
                <a:lnTo>
                  <a:pt x="7904219" y="5082049"/>
                </a:lnTo>
                <a:lnTo>
                  <a:pt x="8177476" y="6210080"/>
                </a:lnTo>
                <a:lnTo>
                  <a:pt x="7411834" y="7114694"/>
                </a:lnTo>
                <a:lnTo>
                  <a:pt x="6183862" y="7114694"/>
                </a:lnTo>
                <a:lnTo>
                  <a:pt x="5468359" y="6269320"/>
                </a:lnTo>
                <a:lnTo>
                  <a:pt x="4752856" y="7114694"/>
                </a:lnTo>
                <a:lnTo>
                  <a:pt x="3837565" y="7114694"/>
                </a:lnTo>
                <a:lnTo>
                  <a:pt x="3865620" y="7127424"/>
                </a:lnTo>
                <a:lnTo>
                  <a:pt x="4138877" y="8255455"/>
                </a:lnTo>
                <a:lnTo>
                  <a:pt x="3373235" y="9160069"/>
                </a:lnTo>
                <a:lnTo>
                  <a:pt x="2145263" y="9160069"/>
                </a:lnTo>
                <a:lnTo>
                  <a:pt x="1379621" y="8255455"/>
                </a:lnTo>
                <a:lnTo>
                  <a:pt x="1652878" y="7127424"/>
                </a:lnTo>
                <a:lnTo>
                  <a:pt x="1680933" y="7114694"/>
                </a:lnTo>
                <a:lnTo>
                  <a:pt x="765642" y="7114694"/>
                </a:lnTo>
                <a:lnTo>
                  <a:pt x="0" y="6210080"/>
                </a:lnTo>
                <a:lnTo>
                  <a:pt x="273257" y="5082049"/>
                </a:lnTo>
                <a:close/>
                <a:moveTo>
                  <a:pt x="2646954" y="2290015"/>
                </a:moveTo>
                <a:lnTo>
                  <a:pt x="3753325" y="2792036"/>
                </a:lnTo>
                <a:lnTo>
                  <a:pt x="4026575" y="3920037"/>
                </a:lnTo>
                <a:lnTo>
                  <a:pt x="4299825" y="2792036"/>
                </a:lnTo>
                <a:lnTo>
                  <a:pt x="5406196" y="2290015"/>
                </a:lnTo>
                <a:lnTo>
                  <a:pt x="6512567" y="2792036"/>
                </a:lnTo>
                <a:lnTo>
                  <a:pt x="6735685" y="3713088"/>
                </a:lnTo>
                <a:lnTo>
                  <a:pt x="6958803" y="2792036"/>
                </a:lnTo>
                <a:lnTo>
                  <a:pt x="8065174" y="2290015"/>
                </a:lnTo>
                <a:lnTo>
                  <a:pt x="9171545" y="2792036"/>
                </a:lnTo>
                <a:lnTo>
                  <a:pt x="9444802" y="3920066"/>
                </a:lnTo>
                <a:lnTo>
                  <a:pt x="8679160" y="4824680"/>
                </a:lnTo>
                <a:lnTo>
                  <a:pt x="7451188" y="4824680"/>
                </a:lnTo>
                <a:lnTo>
                  <a:pt x="6735685" y="3979306"/>
                </a:lnTo>
                <a:lnTo>
                  <a:pt x="6020182" y="4824680"/>
                </a:lnTo>
                <a:lnTo>
                  <a:pt x="4792210" y="4824680"/>
                </a:lnTo>
                <a:lnTo>
                  <a:pt x="4026575" y="3920074"/>
                </a:lnTo>
                <a:lnTo>
                  <a:pt x="3260940" y="4824680"/>
                </a:lnTo>
                <a:lnTo>
                  <a:pt x="2032968" y="4824680"/>
                </a:lnTo>
                <a:lnTo>
                  <a:pt x="1267326" y="3920066"/>
                </a:lnTo>
                <a:lnTo>
                  <a:pt x="1540583" y="2792036"/>
                </a:lnTo>
                <a:close/>
                <a:moveTo>
                  <a:pt x="3808001" y="0"/>
                </a:moveTo>
                <a:lnTo>
                  <a:pt x="4914372" y="502021"/>
                </a:lnTo>
                <a:lnTo>
                  <a:pt x="5187622" y="1630023"/>
                </a:lnTo>
                <a:lnTo>
                  <a:pt x="5460872" y="502021"/>
                </a:lnTo>
                <a:lnTo>
                  <a:pt x="6567243" y="0"/>
                </a:lnTo>
                <a:lnTo>
                  <a:pt x="7673614" y="502021"/>
                </a:lnTo>
                <a:lnTo>
                  <a:pt x="7896732" y="1423074"/>
                </a:lnTo>
                <a:lnTo>
                  <a:pt x="8119850" y="502021"/>
                </a:lnTo>
                <a:lnTo>
                  <a:pt x="9226221" y="0"/>
                </a:lnTo>
                <a:lnTo>
                  <a:pt x="10332592" y="502021"/>
                </a:lnTo>
                <a:lnTo>
                  <a:pt x="10605849" y="1630052"/>
                </a:lnTo>
                <a:lnTo>
                  <a:pt x="9840207" y="2534666"/>
                </a:lnTo>
                <a:lnTo>
                  <a:pt x="8612235" y="2534666"/>
                </a:lnTo>
                <a:lnTo>
                  <a:pt x="7896732" y="1689292"/>
                </a:lnTo>
                <a:lnTo>
                  <a:pt x="7181229" y="2534666"/>
                </a:lnTo>
                <a:lnTo>
                  <a:pt x="5953257" y="2534666"/>
                </a:lnTo>
                <a:lnTo>
                  <a:pt x="5187622" y="1630061"/>
                </a:lnTo>
                <a:lnTo>
                  <a:pt x="4421987" y="2534666"/>
                </a:lnTo>
                <a:lnTo>
                  <a:pt x="3194015" y="2534666"/>
                </a:lnTo>
                <a:lnTo>
                  <a:pt x="2428373" y="1630052"/>
                </a:lnTo>
                <a:lnTo>
                  <a:pt x="2701630" y="502021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innerShdw blurRad="558800" dist="558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C3F70B9-214F-D7CD-A923-59165C7DC9AE}"/>
              </a:ext>
            </a:extLst>
          </p:cNvPr>
          <p:cNvSpPr txBox="1"/>
          <p:nvPr/>
        </p:nvSpPr>
        <p:spPr>
          <a:xfrm>
            <a:off x="288758" y="320299"/>
            <a:ext cx="347082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59E0B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Part 1.1:</a:t>
            </a:r>
            <a:r>
              <a:rPr lang="en-US" sz="2800" b="1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  <a:t> Motivation</a:t>
            </a:r>
            <a:br>
              <a:rPr lang="en-US" sz="2800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endParaRPr lang="en-US" sz="2800" dirty="0">
              <a:solidFill>
                <a:srgbClr val="F8FAF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DB7E4-BA79-F0D1-3D1E-3326D08D076A}"/>
              </a:ext>
            </a:extLst>
          </p:cNvPr>
          <p:cNvSpPr txBox="1"/>
          <p:nvPr/>
        </p:nvSpPr>
        <p:spPr>
          <a:xfrm>
            <a:off x="301141" y="1595352"/>
            <a:ext cx="447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  <a:latin typeface="Montserrat" pitchFamily="2" charset="0"/>
              </a:rPr>
              <a:t>Why this matters: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8E7E29-2282-46D9-8B4E-30601A96C1A9}"/>
              </a:ext>
            </a:extLst>
          </p:cNvPr>
          <p:cNvSpPr txBox="1"/>
          <p:nvPr/>
        </p:nvSpPr>
        <p:spPr>
          <a:xfrm>
            <a:off x="288758" y="2285630"/>
            <a:ext cx="38440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Education is considered a key driver of development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Governments invest very different shares of GDP in education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Economic growth varies widely across countries and time</a:t>
            </a:r>
          </a:p>
        </p:txBody>
      </p:sp>
    </p:spTree>
    <p:extLst>
      <p:ext uri="{BB962C8B-B14F-4D97-AF65-F5344CB8AC3E}">
        <p14:creationId xmlns:p14="http://schemas.microsoft.com/office/powerpoint/2010/main" val="1431774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8000">
              <a:srgbClr val="0F172A"/>
            </a:gs>
            <a:gs pos="0">
              <a:srgbClr val="2E4682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0E824C-553D-2BDE-0311-03E265A1A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A224BA93-82BE-765B-9D4E-0DBEA425DD54}"/>
              </a:ext>
            </a:extLst>
          </p:cNvPr>
          <p:cNvSpPr/>
          <p:nvPr/>
        </p:nvSpPr>
        <p:spPr>
          <a:xfrm>
            <a:off x="4774526" y="-244649"/>
            <a:ext cx="10605849" cy="9160069"/>
          </a:xfrm>
          <a:custGeom>
            <a:avLst/>
            <a:gdLst>
              <a:gd name="connsiteX0" fmla="*/ 2759249 w 10605849"/>
              <a:gd name="connsiteY0" fmla="*/ 6210089 h 9160069"/>
              <a:gd name="connsiteX1" fmla="*/ 2188570 w 10605849"/>
              <a:gd name="connsiteY1" fmla="*/ 6884351 h 9160069"/>
              <a:gd name="connsiteX2" fmla="*/ 2759249 w 10605849"/>
              <a:gd name="connsiteY2" fmla="*/ 6625403 h 9160069"/>
              <a:gd name="connsiteX3" fmla="*/ 3329927 w 10605849"/>
              <a:gd name="connsiteY3" fmla="*/ 6884351 h 9160069"/>
              <a:gd name="connsiteX4" fmla="*/ 1379628 w 10605849"/>
              <a:gd name="connsiteY4" fmla="*/ 4580028 h 9160069"/>
              <a:gd name="connsiteX5" fmla="*/ 2485999 w 10605849"/>
              <a:gd name="connsiteY5" fmla="*/ 5082049 h 9160069"/>
              <a:gd name="connsiteX6" fmla="*/ 2759249 w 10605849"/>
              <a:gd name="connsiteY6" fmla="*/ 6210051 h 9160069"/>
              <a:gd name="connsiteX7" fmla="*/ 3032499 w 10605849"/>
              <a:gd name="connsiteY7" fmla="*/ 5082049 h 9160069"/>
              <a:gd name="connsiteX8" fmla="*/ 4138870 w 10605849"/>
              <a:gd name="connsiteY8" fmla="*/ 4580028 h 9160069"/>
              <a:gd name="connsiteX9" fmla="*/ 5245241 w 10605849"/>
              <a:gd name="connsiteY9" fmla="*/ 5082049 h 9160069"/>
              <a:gd name="connsiteX10" fmla="*/ 5468359 w 10605849"/>
              <a:gd name="connsiteY10" fmla="*/ 6003102 h 9160069"/>
              <a:gd name="connsiteX11" fmla="*/ 5691477 w 10605849"/>
              <a:gd name="connsiteY11" fmla="*/ 5082049 h 9160069"/>
              <a:gd name="connsiteX12" fmla="*/ 6797848 w 10605849"/>
              <a:gd name="connsiteY12" fmla="*/ 4580028 h 9160069"/>
              <a:gd name="connsiteX13" fmla="*/ 7904219 w 10605849"/>
              <a:gd name="connsiteY13" fmla="*/ 5082049 h 9160069"/>
              <a:gd name="connsiteX14" fmla="*/ 8177476 w 10605849"/>
              <a:gd name="connsiteY14" fmla="*/ 6210080 h 9160069"/>
              <a:gd name="connsiteX15" fmla="*/ 7411834 w 10605849"/>
              <a:gd name="connsiteY15" fmla="*/ 7114694 h 9160069"/>
              <a:gd name="connsiteX16" fmla="*/ 6183862 w 10605849"/>
              <a:gd name="connsiteY16" fmla="*/ 7114694 h 9160069"/>
              <a:gd name="connsiteX17" fmla="*/ 5468359 w 10605849"/>
              <a:gd name="connsiteY17" fmla="*/ 6269320 h 9160069"/>
              <a:gd name="connsiteX18" fmla="*/ 4752856 w 10605849"/>
              <a:gd name="connsiteY18" fmla="*/ 7114694 h 9160069"/>
              <a:gd name="connsiteX19" fmla="*/ 3837565 w 10605849"/>
              <a:gd name="connsiteY19" fmla="*/ 7114694 h 9160069"/>
              <a:gd name="connsiteX20" fmla="*/ 3865620 w 10605849"/>
              <a:gd name="connsiteY20" fmla="*/ 7127424 h 9160069"/>
              <a:gd name="connsiteX21" fmla="*/ 4138877 w 10605849"/>
              <a:gd name="connsiteY21" fmla="*/ 8255455 h 9160069"/>
              <a:gd name="connsiteX22" fmla="*/ 3373235 w 10605849"/>
              <a:gd name="connsiteY22" fmla="*/ 9160069 h 9160069"/>
              <a:gd name="connsiteX23" fmla="*/ 2145263 w 10605849"/>
              <a:gd name="connsiteY23" fmla="*/ 9160069 h 9160069"/>
              <a:gd name="connsiteX24" fmla="*/ 1379621 w 10605849"/>
              <a:gd name="connsiteY24" fmla="*/ 8255455 h 9160069"/>
              <a:gd name="connsiteX25" fmla="*/ 1652878 w 10605849"/>
              <a:gd name="connsiteY25" fmla="*/ 7127424 h 9160069"/>
              <a:gd name="connsiteX26" fmla="*/ 1680933 w 10605849"/>
              <a:gd name="connsiteY26" fmla="*/ 7114694 h 9160069"/>
              <a:gd name="connsiteX27" fmla="*/ 765642 w 10605849"/>
              <a:gd name="connsiteY27" fmla="*/ 7114694 h 9160069"/>
              <a:gd name="connsiteX28" fmla="*/ 0 w 10605849"/>
              <a:gd name="connsiteY28" fmla="*/ 6210080 h 9160069"/>
              <a:gd name="connsiteX29" fmla="*/ 273257 w 10605849"/>
              <a:gd name="connsiteY29" fmla="*/ 5082049 h 9160069"/>
              <a:gd name="connsiteX30" fmla="*/ 2646954 w 10605849"/>
              <a:gd name="connsiteY30" fmla="*/ 2290015 h 9160069"/>
              <a:gd name="connsiteX31" fmla="*/ 3753325 w 10605849"/>
              <a:gd name="connsiteY31" fmla="*/ 2792036 h 9160069"/>
              <a:gd name="connsiteX32" fmla="*/ 4026575 w 10605849"/>
              <a:gd name="connsiteY32" fmla="*/ 3920037 h 9160069"/>
              <a:gd name="connsiteX33" fmla="*/ 4299825 w 10605849"/>
              <a:gd name="connsiteY33" fmla="*/ 2792036 h 9160069"/>
              <a:gd name="connsiteX34" fmla="*/ 5406196 w 10605849"/>
              <a:gd name="connsiteY34" fmla="*/ 2290015 h 9160069"/>
              <a:gd name="connsiteX35" fmla="*/ 6512567 w 10605849"/>
              <a:gd name="connsiteY35" fmla="*/ 2792036 h 9160069"/>
              <a:gd name="connsiteX36" fmla="*/ 6735685 w 10605849"/>
              <a:gd name="connsiteY36" fmla="*/ 3713088 h 9160069"/>
              <a:gd name="connsiteX37" fmla="*/ 6958803 w 10605849"/>
              <a:gd name="connsiteY37" fmla="*/ 2792036 h 9160069"/>
              <a:gd name="connsiteX38" fmla="*/ 8065174 w 10605849"/>
              <a:gd name="connsiteY38" fmla="*/ 2290015 h 9160069"/>
              <a:gd name="connsiteX39" fmla="*/ 9171545 w 10605849"/>
              <a:gd name="connsiteY39" fmla="*/ 2792036 h 9160069"/>
              <a:gd name="connsiteX40" fmla="*/ 9444802 w 10605849"/>
              <a:gd name="connsiteY40" fmla="*/ 3920066 h 9160069"/>
              <a:gd name="connsiteX41" fmla="*/ 8679160 w 10605849"/>
              <a:gd name="connsiteY41" fmla="*/ 4824680 h 9160069"/>
              <a:gd name="connsiteX42" fmla="*/ 7451188 w 10605849"/>
              <a:gd name="connsiteY42" fmla="*/ 4824680 h 9160069"/>
              <a:gd name="connsiteX43" fmla="*/ 6735685 w 10605849"/>
              <a:gd name="connsiteY43" fmla="*/ 3979306 h 9160069"/>
              <a:gd name="connsiteX44" fmla="*/ 6020182 w 10605849"/>
              <a:gd name="connsiteY44" fmla="*/ 4824680 h 9160069"/>
              <a:gd name="connsiteX45" fmla="*/ 4792210 w 10605849"/>
              <a:gd name="connsiteY45" fmla="*/ 4824680 h 9160069"/>
              <a:gd name="connsiteX46" fmla="*/ 4026575 w 10605849"/>
              <a:gd name="connsiteY46" fmla="*/ 3920074 h 9160069"/>
              <a:gd name="connsiteX47" fmla="*/ 3260940 w 10605849"/>
              <a:gd name="connsiteY47" fmla="*/ 4824680 h 9160069"/>
              <a:gd name="connsiteX48" fmla="*/ 2032968 w 10605849"/>
              <a:gd name="connsiteY48" fmla="*/ 4824680 h 9160069"/>
              <a:gd name="connsiteX49" fmla="*/ 1267326 w 10605849"/>
              <a:gd name="connsiteY49" fmla="*/ 3920066 h 9160069"/>
              <a:gd name="connsiteX50" fmla="*/ 1540583 w 10605849"/>
              <a:gd name="connsiteY50" fmla="*/ 2792036 h 9160069"/>
              <a:gd name="connsiteX51" fmla="*/ 3808001 w 10605849"/>
              <a:gd name="connsiteY51" fmla="*/ 0 h 9160069"/>
              <a:gd name="connsiteX52" fmla="*/ 4914372 w 10605849"/>
              <a:gd name="connsiteY52" fmla="*/ 502021 h 9160069"/>
              <a:gd name="connsiteX53" fmla="*/ 5187622 w 10605849"/>
              <a:gd name="connsiteY53" fmla="*/ 1630023 h 9160069"/>
              <a:gd name="connsiteX54" fmla="*/ 5460872 w 10605849"/>
              <a:gd name="connsiteY54" fmla="*/ 502021 h 9160069"/>
              <a:gd name="connsiteX55" fmla="*/ 6567243 w 10605849"/>
              <a:gd name="connsiteY55" fmla="*/ 0 h 9160069"/>
              <a:gd name="connsiteX56" fmla="*/ 7673614 w 10605849"/>
              <a:gd name="connsiteY56" fmla="*/ 502021 h 9160069"/>
              <a:gd name="connsiteX57" fmla="*/ 7896732 w 10605849"/>
              <a:gd name="connsiteY57" fmla="*/ 1423074 h 9160069"/>
              <a:gd name="connsiteX58" fmla="*/ 8119850 w 10605849"/>
              <a:gd name="connsiteY58" fmla="*/ 502021 h 9160069"/>
              <a:gd name="connsiteX59" fmla="*/ 9226221 w 10605849"/>
              <a:gd name="connsiteY59" fmla="*/ 0 h 9160069"/>
              <a:gd name="connsiteX60" fmla="*/ 10332592 w 10605849"/>
              <a:gd name="connsiteY60" fmla="*/ 502021 h 9160069"/>
              <a:gd name="connsiteX61" fmla="*/ 10605849 w 10605849"/>
              <a:gd name="connsiteY61" fmla="*/ 1630052 h 9160069"/>
              <a:gd name="connsiteX62" fmla="*/ 9840207 w 10605849"/>
              <a:gd name="connsiteY62" fmla="*/ 2534666 h 9160069"/>
              <a:gd name="connsiteX63" fmla="*/ 8612235 w 10605849"/>
              <a:gd name="connsiteY63" fmla="*/ 2534666 h 9160069"/>
              <a:gd name="connsiteX64" fmla="*/ 7896732 w 10605849"/>
              <a:gd name="connsiteY64" fmla="*/ 1689292 h 9160069"/>
              <a:gd name="connsiteX65" fmla="*/ 7181229 w 10605849"/>
              <a:gd name="connsiteY65" fmla="*/ 2534666 h 9160069"/>
              <a:gd name="connsiteX66" fmla="*/ 5953257 w 10605849"/>
              <a:gd name="connsiteY66" fmla="*/ 2534666 h 9160069"/>
              <a:gd name="connsiteX67" fmla="*/ 5187622 w 10605849"/>
              <a:gd name="connsiteY67" fmla="*/ 1630061 h 9160069"/>
              <a:gd name="connsiteX68" fmla="*/ 4421987 w 10605849"/>
              <a:gd name="connsiteY68" fmla="*/ 2534666 h 9160069"/>
              <a:gd name="connsiteX69" fmla="*/ 3194015 w 10605849"/>
              <a:gd name="connsiteY69" fmla="*/ 2534666 h 9160069"/>
              <a:gd name="connsiteX70" fmla="*/ 2428373 w 10605849"/>
              <a:gd name="connsiteY70" fmla="*/ 1630052 h 9160069"/>
              <a:gd name="connsiteX71" fmla="*/ 2701630 w 10605849"/>
              <a:gd name="connsiteY71" fmla="*/ 502021 h 916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0605849" h="9160069">
                <a:moveTo>
                  <a:pt x="2759249" y="6210089"/>
                </a:moveTo>
                <a:lnTo>
                  <a:pt x="2188570" y="6884351"/>
                </a:lnTo>
                <a:lnTo>
                  <a:pt x="2759249" y="6625403"/>
                </a:lnTo>
                <a:lnTo>
                  <a:pt x="3329927" y="6884351"/>
                </a:lnTo>
                <a:close/>
                <a:moveTo>
                  <a:pt x="1379628" y="4580028"/>
                </a:moveTo>
                <a:lnTo>
                  <a:pt x="2485999" y="5082049"/>
                </a:lnTo>
                <a:lnTo>
                  <a:pt x="2759249" y="6210051"/>
                </a:lnTo>
                <a:lnTo>
                  <a:pt x="3032499" y="5082049"/>
                </a:lnTo>
                <a:lnTo>
                  <a:pt x="4138870" y="4580028"/>
                </a:lnTo>
                <a:lnTo>
                  <a:pt x="5245241" y="5082049"/>
                </a:lnTo>
                <a:lnTo>
                  <a:pt x="5468359" y="6003102"/>
                </a:lnTo>
                <a:lnTo>
                  <a:pt x="5691477" y="5082049"/>
                </a:lnTo>
                <a:lnTo>
                  <a:pt x="6797848" y="4580028"/>
                </a:lnTo>
                <a:lnTo>
                  <a:pt x="7904219" y="5082049"/>
                </a:lnTo>
                <a:lnTo>
                  <a:pt x="8177476" y="6210080"/>
                </a:lnTo>
                <a:lnTo>
                  <a:pt x="7411834" y="7114694"/>
                </a:lnTo>
                <a:lnTo>
                  <a:pt x="6183862" y="7114694"/>
                </a:lnTo>
                <a:lnTo>
                  <a:pt x="5468359" y="6269320"/>
                </a:lnTo>
                <a:lnTo>
                  <a:pt x="4752856" y="7114694"/>
                </a:lnTo>
                <a:lnTo>
                  <a:pt x="3837565" y="7114694"/>
                </a:lnTo>
                <a:lnTo>
                  <a:pt x="3865620" y="7127424"/>
                </a:lnTo>
                <a:lnTo>
                  <a:pt x="4138877" y="8255455"/>
                </a:lnTo>
                <a:lnTo>
                  <a:pt x="3373235" y="9160069"/>
                </a:lnTo>
                <a:lnTo>
                  <a:pt x="2145263" y="9160069"/>
                </a:lnTo>
                <a:lnTo>
                  <a:pt x="1379621" y="8255455"/>
                </a:lnTo>
                <a:lnTo>
                  <a:pt x="1652878" y="7127424"/>
                </a:lnTo>
                <a:lnTo>
                  <a:pt x="1680933" y="7114694"/>
                </a:lnTo>
                <a:lnTo>
                  <a:pt x="765642" y="7114694"/>
                </a:lnTo>
                <a:lnTo>
                  <a:pt x="0" y="6210080"/>
                </a:lnTo>
                <a:lnTo>
                  <a:pt x="273257" y="5082049"/>
                </a:lnTo>
                <a:close/>
                <a:moveTo>
                  <a:pt x="2646954" y="2290015"/>
                </a:moveTo>
                <a:lnTo>
                  <a:pt x="3753325" y="2792036"/>
                </a:lnTo>
                <a:lnTo>
                  <a:pt x="4026575" y="3920037"/>
                </a:lnTo>
                <a:lnTo>
                  <a:pt x="4299825" y="2792036"/>
                </a:lnTo>
                <a:lnTo>
                  <a:pt x="5406196" y="2290015"/>
                </a:lnTo>
                <a:lnTo>
                  <a:pt x="6512567" y="2792036"/>
                </a:lnTo>
                <a:lnTo>
                  <a:pt x="6735685" y="3713088"/>
                </a:lnTo>
                <a:lnTo>
                  <a:pt x="6958803" y="2792036"/>
                </a:lnTo>
                <a:lnTo>
                  <a:pt x="8065174" y="2290015"/>
                </a:lnTo>
                <a:lnTo>
                  <a:pt x="9171545" y="2792036"/>
                </a:lnTo>
                <a:lnTo>
                  <a:pt x="9444802" y="3920066"/>
                </a:lnTo>
                <a:lnTo>
                  <a:pt x="8679160" y="4824680"/>
                </a:lnTo>
                <a:lnTo>
                  <a:pt x="7451188" y="4824680"/>
                </a:lnTo>
                <a:lnTo>
                  <a:pt x="6735685" y="3979306"/>
                </a:lnTo>
                <a:lnTo>
                  <a:pt x="6020182" y="4824680"/>
                </a:lnTo>
                <a:lnTo>
                  <a:pt x="4792210" y="4824680"/>
                </a:lnTo>
                <a:lnTo>
                  <a:pt x="4026575" y="3920074"/>
                </a:lnTo>
                <a:lnTo>
                  <a:pt x="3260940" y="4824680"/>
                </a:lnTo>
                <a:lnTo>
                  <a:pt x="2032968" y="4824680"/>
                </a:lnTo>
                <a:lnTo>
                  <a:pt x="1267326" y="3920066"/>
                </a:lnTo>
                <a:lnTo>
                  <a:pt x="1540583" y="2792036"/>
                </a:lnTo>
                <a:close/>
                <a:moveTo>
                  <a:pt x="3808001" y="0"/>
                </a:moveTo>
                <a:lnTo>
                  <a:pt x="4914372" y="502021"/>
                </a:lnTo>
                <a:lnTo>
                  <a:pt x="5187622" y="1630023"/>
                </a:lnTo>
                <a:lnTo>
                  <a:pt x="5460872" y="502021"/>
                </a:lnTo>
                <a:lnTo>
                  <a:pt x="6567243" y="0"/>
                </a:lnTo>
                <a:lnTo>
                  <a:pt x="7673614" y="502021"/>
                </a:lnTo>
                <a:lnTo>
                  <a:pt x="7896732" y="1423074"/>
                </a:lnTo>
                <a:lnTo>
                  <a:pt x="8119850" y="502021"/>
                </a:lnTo>
                <a:lnTo>
                  <a:pt x="9226221" y="0"/>
                </a:lnTo>
                <a:lnTo>
                  <a:pt x="10332592" y="502021"/>
                </a:lnTo>
                <a:lnTo>
                  <a:pt x="10605849" y="1630052"/>
                </a:lnTo>
                <a:lnTo>
                  <a:pt x="9840207" y="2534666"/>
                </a:lnTo>
                <a:lnTo>
                  <a:pt x="8612235" y="2534666"/>
                </a:lnTo>
                <a:lnTo>
                  <a:pt x="7896732" y="1689292"/>
                </a:lnTo>
                <a:lnTo>
                  <a:pt x="7181229" y="2534666"/>
                </a:lnTo>
                <a:lnTo>
                  <a:pt x="5953257" y="2534666"/>
                </a:lnTo>
                <a:lnTo>
                  <a:pt x="5187622" y="1630061"/>
                </a:lnTo>
                <a:lnTo>
                  <a:pt x="4421987" y="2534666"/>
                </a:lnTo>
                <a:lnTo>
                  <a:pt x="3194015" y="2534666"/>
                </a:lnTo>
                <a:lnTo>
                  <a:pt x="2428373" y="1630052"/>
                </a:lnTo>
                <a:lnTo>
                  <a:pt x="2701630" y="502021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innerShdw blurRad="558800" dist="558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A69BF0A-F994-618B-07F6-EA6482D6624B}"/>
              </a:ext>
            </a:extLst>
          </p:cNvPr>
          <p:cNvSpPr txBox="1"/>
          <p:nvPr/>
        </p:nvSpPr>
        <p:spPr>
          <a:xfrm>
            <a:off x="288758" y="320299"/>
            <a:ext cx="422583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59E0B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Part 1.2:</a:t>
            </a:r>
            <a:r>
              <a:rPr lang="en-US" sz="2800" b="1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  <a:t> Research Goal</a:t>
            </a:r>
            <a:br>
              <a:rPr lang="en-US" sz="2800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endParaRPr lang="en-US" sz="2800" dirty="0">
              <a:solidFill>
                <a:srgbClr val="F8FAF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6A9644-5235-1794-B3DB-1271A1A49BCD}"/>
              </a:ext>
            </a:extLst>
          </p:cNvPr>
          <p:cNvSpPr txBox="1"/>
          <p:nvPr/>
        </p:nvSpPr>
        <p:spPr>
          <a:xfrm>
            <a:off x="301141" y="1595352"/>
            <a:ext cx="447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  <a:latin typeface="Montserrat" pitchFamily="2" charset="0"/>
              </a:rPr>
              <a:t>Goal of the Project: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BD2B18-62A2-EE9A-525E-6C25E8CC5E03}"/>
              </a:ext>
            </a:extLst>
          </p:cNvPr>
          <p:cNvSpPr txBox="1"/>
          <p:nvPr/>
        </p:nvSpPr>
        <p:spPr>
          <a:xfrm>
            <a:off x="288757" y="2285630"/>
            <a:ext cx="42258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Assess the strength of the relationship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Between education spending and GDP growth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Not to predict GDP</a:t>
            </a:r>
          </a:p>
        </p:txBody>
      </p:sp>
    </p:spTree>
    <p:extLst>
      <p:ext uri="{BB962C8B-B14F-4D97-AF65-F5344CB8AC3E}">
        <p14:creationId xmlns:p14="http://schemas.microsoft.com/office/powerpoint/2010/main" val="2452150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8000">
              <a:srgbClr val="0F172A"/>
            </a:gs>
            <a:gs pos="0">
              <a:srgbClr val="2E4682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9B7769-8C2A-6A89-D123-B1A8616F9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D237CCEC-E425-82D4-778A-D0DBBCEE7702}"/>
              </a:ext>
            </a:extLst>
          </p:cNvPr>
          <p:cNvSpPr/>
          <p:nvPr/>
        </p:nvSpPr>
        <p:spPr>
          <a:xfrm>
            <a:off x="4774526" y="-244649"/>
            <a:ext cx="10605849" cy="9160069"/>
          </a:xfrm>
          <a:custGeom>
            <a:avLst/>
            <a:gdLst>
              <a:gd name="connsiteX0" fmla="*/ 2759249 w 10605849"/>
              <a:gd name="connsiteY0" fmla="*/ 6210089 h 9160069"/>
              <a:gd name="connsiteX1" fmla="*/ 2188570 w 10605849"/>
              <a:gd name="connsiteY1" fmla="*/ 6884351 h 9160069"/>
              <a:gd name="connsiteX2" fmla="*/ 2759249 w 10605849"/>
              <a:gd name="connsiteY2" fmla="*/ 6625403 h 9160069"/>
              <a:gd name="connsiteX3" fmla="*/ 3329927 w 10605849"/>
              <a:gd name="connsiteY3" fmla="*/ 6884351 h 9160069"/>
              <a:gd name="connsiteX4" fmla="*/ 1379628 w 10605849"/>
              <a:gd name="connsiteY4" fmla="*/ 4580028 h 9160069"/>
              <a:gd name="connsiteX5" fmla="*/ 2485999 w 10605849"/>
              <a:gd name="connsiteY5" fmla="*/ 5082049 h 9160069"/>
              <a:gd name="connsiteX6" fmla="*/ 2759249 w 10605849"/>
              <a:gd name="connsiteY6" fmla="*/ 6210051 h 9160069"/>
              <a:gd name="connsiteX7" fmla="*/ 3032499 w 10605849"/>
              <a:gd name="connsiteY7" fmla="*/ 5082049 h 9160069"/>
              <a:gd name="connsiteX8" fmla="*/ 4138870 w 10605849"/>
              <a:gd name="connsiteY8" fmla="*/ 4580028 h 9160069"/>
              <a:gd name="connsiteX9" fmla="*/ 5245241 w 10605849"/>
              <a:gd name="connsiteY9" fmla="*/ 5082049 h 9160069"/>
              <a:gd name="connsiteX10" fmla="*/ 5468359 w 10605849"/>
              <a:gd name="connsiteY10" fmla="*/ 6003102 h 9160069"/>
              <a:gd name="connsiteX11" fmla="*/ 5691477 w 10605849"/>
              <a:gd name="connsiteY11" fmla="*/ 5082049 h 9160069"/>
              <a:gd name="connsiteX12" fmla="*/ 6797848 w 10605849"/>
              <a:gd name="connsiteY12" fmla="*/ 4580028 h 9160069"/>
              <a:gd name="connsiteX13" fmla="*/ 7904219 w 10605849"/>
              <a:gd name="connsiteY13" fmla="*/ 5082049 h 9160069"/>
              <a:gd name="connsiteX14" fmla="*/ 8177476 w 10605849"/>
              <a:gd name="connsiteY14" fmla="*/ 6210080 h 9160069"/>
              <a:gd name="connsiteX15" fmla="*/ 7411834 w 10605849"/>
              <a:gd name="connsiteY15" fmla="*/ 7114694 h 9160069"/>
              <a:gd name="connsiteX16" fmla="*/ 6183862 w 10605849"/>
              <a:gd name="connsiteY16" fmla="*/ 7114694 h 9160069"/>
              <a:gd name="connsiteX17" fmla="*/ 5468359 w 10605849"/>
              <a:gd name="connsiteY17" fmla="*/ 6269320 h 9160069"/>
              <a:gd name="connsiteX18" fmla="*/ 4752856 w 10605849"/>
              <a:gd name="connsiteY18" fmla="*/ 7114694 h 9160069"/>
              <a:gd name="connsiteX19" fmla="*/ 3837565 w 10605849"/>
              <a:gd name="connsiteY19" fmla="*/ 7114694 h 9160069"/>
              <a:gd name="connsiteX20" fmla="*/ 3865620 w 10605849"/>
              <a:gd name="connsiteY20" fmla="*/ 7127424 h 9160069"/>
              <a:gd name="connsiteX21" fmla="*/ 4138877 w 10605849"/>
              <a:gd name="connsiteY21" fmla="*/ 8255455 h 9160069"/>
              <a:gd name="connsiteX22" fmla="*/ 3373235 w 10605849"/>
              <a:gd name="connsiteY22" fmla="*/ 9160069 h 9160069"/>
              <a:gd name="connsiteX23" fmla="*/ 2145263 w 10605849"/>
              <a:gd name="connsiteY23" fmla="*/ 9160069 h 9160069"/>
              <a:gd name="connsiteX24" fmla="*/ 1379621 w 10605849"/>
              <a:gd name="connsiteY24" fmla="*/ 8255455 h 9160069"/>
              <a:gd name="connsiteX25" fmla="*/ 1652878 w 10605849"/>
              <a:gd name="connsiteY25" fmla="*/ 7127424 h 9160069"/>
              <a:gd name="connsiteX26" fmla="*/ 1680933 w 10605849"/>
              <a:gd name="connsiteY26" fmla="*/ 7114694 h 9160069"/>
              <a:gd name="connsiteX27" fmla="*/ 765642 w 10605849"/>
              <a:gd name="connsiteY27" fmla="*/ 7114694 h 9160069"/>
              <a:gd name="connsiteX28" fmla="*/ 0 w 10605849"/>
              <a:gd name="connsiteY28" fmla="*/ 6210080 h 9160069"/>
              <a:gd name="connsiteX29" fmla="*/ 273257 w 10605849"/>
              <a:gd name="connsiteY29" fmla="*/ 5082049 h 9160069"/>
              <a:gd name="connsiteX30" fmla="*/ 2646954 w 10605849"/>
              <a:gd name="connsiteY30" fmla="*/ 2290015 h 9160069"/>
              <a:gd name="connsiteX31" fmla="*/ 3753325 w 10605849"/>
              <a:gd name="connsiteY31" fmla="*/ 2792036 h 9160069"/>
              <a:gd name="connsiteX32" fmla="*/ 4026575 w 10605849"/>
              <a:gd name="connsiteY32" fmla="*/ 3920037 h 9160069"/>
              <a:gd name="connsiteX33" fmla="*/ 4299825 w 10605849"/>
              <a:gd name="connsiteY33" fmla="*/ 2792036 h 9160069"/>
              <a:gd name="connsiteX34" fmla="*/ 5406196 w 10605849"/>
              <a:gd name="connsiteY34" fmla="*/ 2290015 h 9160069"/>
              <a:gd name="connsiteX35" fmla="*/ 6512567 w 10605849"/>
              <a:gd name="connsiteY35" fmla="*/ 2792036 h 9160069"/>
              <a:gd name="connsiteX36" fmla="*/ 6735685 w 10605849"/>
              <a:gd name="connsiteY36" fmla="*/ 3713088 h 9160069"/>
              <a:gd name="connsiteX37" fmla="*/ 6958803 w 10605849"/>
              <a:gd name="connsiteY37" fmla="*/ 2792036 h 9160069"/>
              <a:gd name="connsiteX38" fmla="*/ 8065174 w 10605849"/>
              <a:gd name="connsiteY38" fmla="*/ 2290015 h 9160069"/>
              <a:gd name="connsiteX39" fmla="*/ 9171545 w 10605849"/>
              <a:gd name="connsiteY39" fmla="*/ 2792036 h 9160069"/>
              <a:gd name="connsiteX40" fmla="*/ 9444802 w 10605849"/>
              <a:gd name="connsiteY40" fmla="*/ 3920066 h 9160069"/>
              <a:gd name="connsiteX41" fmla="*/ 8679160 w 10605849"/>
              <a:gd name="connsiteY41" fmla="*/ 4824680 h 9160069"/>
              <a:gd name="connsiteX42" fmla="*/ 7451188 w 10605849"/>
              <a:gd name="connsiteY42" fmla="*/ 4824680 h 9160069"/>
              <a:gd name="connsiteX43" fmla="*/ 6735685 w 10605849"/>
              <a:gd name="connsiteY43" fmla="*/ 3979306 h 9160069"/>
              <a:gd name="connsiteX44" fmla="*/ 6020182 w 10605849"/>
              <a:gd name="connsiteY44" fmla="*/ 4824680 h 9160069"/>
              <a:gd name="connsiteX45" fmla="*/ 4792210 w 10605849"/>
              <a:gd name="connsiteY45" fmla="*/ 4824680 h 9160069"/>
              <a:gd name="connsiteX46" fmla="*/ 4026575 w 10605849"/>
              <a:gd name="connsiteY46" fmla="*/ 3920074 h 9160069"/>
              <a:gd name="connsiteX47" fmla="*/ 3260940 w 10605849"/>
              <a:gd name="connsiteY47" fmla="*/ 4824680 h 9160069"/>
              <a:gd name="connsiteX48" fmla="*/ 2032968 w 10605849"/>
              <a:gd name="connsiteY48" fmla="*/ 4824680 h 9160069"/>
              <a:gd name="connsiteX49" fmla="*/ 1267326 w 10605849"/>
              <a:gd name="connsiteY49" fmla="*/ 3920066 h 9160069"/>
              <a:gd name="connsiteX50" fmla="*/ 1540583 w 10605849"/>
              <a:gd name="connsiteY50" fmla="*/ 2792036 h 9160069"/>
              <a:gd name="connsiteX51" fmla="*/ 3808001 w 10605849"/>
              <a:gd name="connsiteY51" fmla="*/ 0 h 9160069"/>
              <a:gd name="connsiteX52" fmla="*/ 4914372 w 10605849"/>
              <a:gd name="connsiteY52" fmla="*/ 502021 h 9160069"/>
              <a:gd name="connsiteX53" fmla="*/ 5187622 w 10605849"/>
              <a:gd name="connsiteY53" fmla="*/ 1630023 h 9160069"/>
              <a:gd name="connsiteX54" fmla="*/ 5460872 w 10605849"/>
              <a:gd name="connsiteY54" fmla="*/ 502021 h 9160069"/>
              <a:gd name="connsiteX55" fmla="*/ 6567243 w 10605849"/>
              <a:gd name="connsiteY55" fmla="*/ 0 h 9160069"/>
              <a:gd name="connsiteX56" fmla="*/ 7673614 w 10605849"/>
              <a:gd name="connsiteY56" fmla="*/ 502021 h 9160069"/>
              <a:gd name="connsiteX57" fmla="*/ 7896732 w 10605849"/>
              <a:gd name="connsiteY57" fmla="*/ 1423074 h 9160069"/>
              <a:gd name="connsiteX58" fmla="*/ 8119850 w 10605849"/>
              <a:gd name="connsiteY58" fmla="*/ 502021 h 9160069"/>
              <a:gd name="connsiteX59" fmla="*/ 9226221 w 10605849"/>
              <a:gd name="connsiteY59" fmla="*/ 0 h 9160069"/>
              <a:gd name="connsiteX60" fmla="*/ 10332592 w 10605849"/>
              <a:gd name="connsiteY60" fmla="*/ 502021 h 9160069"/>
              <a:gd name="connsiteX61" fmla="*/ 10605849 w 10605849"/>
              <a:gd name="connsiteY61" fmla="*/ 1630052 h 9160069"/>
              <a:gd name="connsiteX62" fmla="*/ 9840207 w 10605849"/>
              <a:gd name="connsiteY62" fmla="*/ 2534666 h 9160069"/>
              <a:gd name="connsiteX63" fmla="*/ 8612235 w 10605849"/>
              <a:gd name="connsiteY63" fmla="*/ 2534666 h 9160069"/>
              <a:gd name="connsiteX64" fmla="*/ 7896732 w 10605849"/>
              <a:gd name="connsiteY64" fmla="*/ 1689292 h 9160069"/>
              <a:gd name="connsiteX65" fmla="*/ 7181229 w 10605849"/>
              <a:gd name="connsiteY65" fmla="*/ 2534666 h 9160069"/>
              <a:gd name="connsiteX66" fmla="*/ 5953257 w 10605849"/>
              <a:gd name="connsiteY66" fmla="*/ 2534666 h 9160069"/>
              <a:gd name="connsiteX67" fmla="*/ 5187622 w 10605849"/>
              <a:gd name="connsiteY67" fmla="*/ 1630061 h 9160069"/>
              <a:gd name="connsiteX68" fmla="*/ 4421987 w 10605849"/>
              <a:gd name="connsiteY68" fmla="*/ 2534666 h 9160069"/>
              <a:gd name="connsiteX69" fmla="*/ 3194015 w 10605849"/>
              <a:gd name="connsiteY69" fmla="*/ 2534666 h 9160069"/>
              <a:gd name="connsiteX70" fmla="*/ 2428373 w 10605849"/>
              <a:gd name="connsiteY70" fmla="*/ 1630052 h 9160069"/>
              <a:gd name="connsiteX71" fmla="*/ 2701630 w 10605849"/>
              <a:gd name="connsiteY71" fmla="*/ 502021 h 916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0605849" h="9160069">
                <a:moveTo>
                  <a:pt x="2759249" y="6210089"/>
                </a:moveTo>
                <a:lnTo>
                  <a:pt x="2188570" y="6884351"/>
                </a:lnTo>
                <a:lnTo>
                  <a:pt x="2759249" y="6625403"/>
                </a:lnTo>
                <a:lnTo>
                  <a:pt x="3329927" y="6884351"/>
                </a:lnTo>
                <a:close/>
                <a:moveTo>
                  <a:pt x="1379628" y="4580028"/>
                </a:moveTo>
                <a:lnTo>
                  <a:pt x="2485999" y="5082049"/>
                </a:lnTo>
                <a:lnTo>
                  <a:pt x="2759249" y="6210051"/>
                </a:lnTo>
                <a:lnTo>
                  <a:pt x="3032499" y="5082049"/>
                </a:lnTo>
                <a:lnTo>
                  <a:pt x="4138870" y="4580028"/>
                </a:lnTo>
                <a:lnTo>
                  <a:pt x="5245241" y="5082049"/>
                </a:lnTo>
                <a:lnTo>
                  <a:pt x="5468359" y="6003102"/>
                </a:lnTo>
                <a:lnTo>
                  <a:pt x="5691477" y="5082049"/>
                </a:lnTo>
                <a:lnTo>
                  <a:pt x="6797848" y="4580028"/>
                </a:lnTo>
                <a:lnTo>
                  <a:pt x="7904219" y="5082049"/>
                </a:lnTo>
                <a:lnTo>
                  <a:pt x="8177476" y="6210080"/>
                </a:lnTo>
                <a:lnTo>
                  <a:pt x="7411834" y="7114694"/>
                </a:lnTo>
                <a:lnTo>
                  <a:pt x="6183862" y="7114694"/>
                </a:lnTo>
                <a:lnTo>
                  <a:pt x="5468359" y="6269320"/>
                </a:lnTo>
                <a:lnTo>
                  <a:pt x="4752856" y="7114694"/>
                </a:lnTo>
                <a:lnTo>
                  <a:pt x="3837565" y="7114694"/>
                </a:lnTo>
                <a:lnTo>
                  <a:pt x="3865620" y="7127424"/>
                </a:lnTo>
                <a:lnTo>
                  <a:pt x="4138877" y="8255455"/>
                </a:lnTo>
                <a:lnTo>
                  <a:pt x="3373235" y="9160069"/>
                </a:lnTo>
                <a:lnTo>
                  <a:pt x="2145263" y="9160069"/>
                </a:lnTo>
                <a:lnTo>
                  <a:pt x="1379621" y="8255455"/>
                </a:lnTo>
                <a:lnTo>
                  <a:pt x="1652878" y="7127424"/>
                </a:lnTo>
                <a:lnTo>
                  <a:pt x="1680933" y="7114694"/>
                </a:lnTo>
                <a:lnTo>
                  <a:pt x="765642" y="7114694"/>
                </a:lnTo>
                <a:lnTo>
                  <a:pt x="0" y="6210080"/>
                </a:lnTo>
                <a:lnTo>
                  <a:pt x="273257" y="5082049"/>
                </a:lnTo>
                <a:close/>
                <a:moveTo>
                  <a:pt x="2646954" y="2290015"/>
                </a:moveTo>
                <a:lnTo>
                  <a:pt x="3753325" y="2792036"/>
                </a:lnTo>
                <a:lnTo>
                  <a:pt x="4026575" y="3920037"/>
                </a:lnTo>
                <a:lnTo>
                  <a:pt x="4299825" y="2792036"/>
                </a:lnTo>
                <a:lnTo>
                  <a:pt x="5406196" y="2290015"/>
                </a:lnTo>
                <a:lnTo>
                  <a:pt x="6512567" y="2792036"/>
                </a:lnTo>
                <a:lnTo>
                  <a:pt x="6735685" y="3713088"/>
                </a:lnTo>
                <a:lnTo>
                  <a:pt x="6958803" y="2792036"/>
                </a:lnTo>
                <a:lnTo>
                  <a:pt x="8065174" y="2290015"/>
                </a:lnTo>
                <a:lnTo>
                  <a:pt x="9171545" y="2792036"/>
                </a:lnTo>
                <a:lnTo>
                  <a:pt x="9444802" y="3920066"/>
                </a:lnTo>
                <a:lnTo>
                  <a:pt x="8679160" y="4824680"/>
                </a:lnTo>
                <a:lnTo>
                  <a:pt x="7451188" y="4824680"/>
                </a:lnTo>
                <a:lnTo>
                  <a:pt x="6735685" y="3979306"/>
                </a:lnTo>
                <a:lnTo>
                  <a:pt x="6020182" y="4824680"/>
                </a:lnTo>
                <a:lnTo>
                  <a:pt x="4792210" y="4824680"/>
                </a:lnTo>
                <a:lnTo>
                  <a:pt x="4026575" y="3920074"/>
                </a:lnTo>
                <a:lnTo>
                  <a:pt x="3260940" y="4824680"/>
                </a:lnTo>
                <a:lnTo>
                  <a:pt x="2032968" y="4824680"/>
                </a:lnTo>
                <a:lnTo>
                  <a:pt x="1267326" y="3920066"/>
                </a:lnTo>
                <a:lnTo>
                  <a:pt x="1540583" y="2792036"/>
                </a:lnTo>
                <a:close/>
                <a:moveTo>
                  <a:pt x="3808001" y="0"/>
                </a:moveTo>
                <a:lnTo>
                  <a:pt x="4914372" y="502021"/>
                </a:lnTo>
                <a:lnTo>
                  <a:pt x="5187622" y="1630023"/>
                </a:lnTo>
                <a:lnTo>
                  <a:pt x="5460872" y="502021"/>
                </a:lnTo>
                <a:lnTo>
                  <a:pt x="6567243" y="0"/>
                </a:lnTo>
                <a:lnTo>
                  <a:pt x="7673614" y="502021"/>
                </a:lnTo>
                <a:lnTo>
                  <a:pt x="7896732" y="1423074"/>
                </a:lnTo>
                <a:lnTo>
                  <a:pt x="8119850" y="502021"/>
                </a:lnTo>
                <a:lnTo>
                  <a:pt x="9226221" y="0"/>
                </a:lnTo>
                <a:lnTo>
                  <a:pt x="10332592" y="502021"/>
                </a:lnTo>
                <a:lnTo>
                  <a:pt x="10605849" y="1630052"/>
                </a:lnTo>
                <a:lnTo>
                  <a:pt x="9840207" y="2534666"/>
                </a:lnTo>
                <a:lnTo>
                  <a:pt x="8612235" y="2534666"/>
                </a:lnTo>
                <a:lnTo>
                  <a:pt x="7896732" y="1689292"/>
                </a:lnTo>
                <a:lnTo>
                  <a:pt x="7181229" y="2534666"/>
                </a:lnTo>
                <a:lnTo>
                  <a:pt x="5953257" y="2534666"/>
                </a:lnTo>
                <a:lnTo>
                  <a:pt x="5187622" y="1630061"/>
                </a:lnTo>
                <a:lnTo>
                  <a:pt x="4421987" y="2534666"/>
                </a:lnTo>
                <a:lnTo>
                  <a:pt x="3194015" y="2534666"/>
                </a:lnTo>
                <a:lnTo>
                  <a:pt x="2428373" y="1630052"/>
                </a:lnTo>
                <a:lnTo>
                  <a:pt x="2701630" y="502021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innerShdw blurRad="558800" dist="558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6FF8128-4D94-18D6-65CC-773A601C6A2E}"/>
              </a:ext>
            </a:extLst>
          </p:cNvPr>
          <p:cNvSpPr txBox="1"/>
          <p:nvPr/>
        </p:nvSpPr>
        <p:spPr>
          <a:xfrm>
            <a:off x="288758" y="320299"/>
            <a:ext cx="531908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59E0B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Part 2.1:</a:t>
            </a:r>
            <a:r>
              <a:rPr lang="en-US" sz="2800" b="1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  <a:t> Data Source &amp; Scope</a:t>
            </a:r>
            <a:br>
              <a:rPr lang="en-US" sz="2800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endParaRPr lang="en-US" sz="2800" dirty="0">
              <a:solidFill>
                <a:srgbClr val="F8FAF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4C24A4-DBB9-5B16-5BDA-D775EECAF7EA}"/>
              </a:ext>
            </a:extLst>
          </p:cNvPr>
          <p:cNvSpPr txBox="1"/>
          <p:nvPr/>
        </p:nvSpPr>
        <p:spPr>
          <a:xfrm>
            <a:off x="301141" y="1595352"/>
            <a:ext cx="447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  <a:latin typeface="Montserrat" pitchFamily="2" charset="0"/>
              </a:rPr>
              <a:t>Data: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BAF92F-6E12-A29F-D7A4-BA5CF932A30E}"/>
              </a:ext>
            </a:extLst>
          </p:cNvPr>
          <p:cNvSpPr txBox="1"/>
          <p:nvPr/>
        </p:nvSpPr>
        <p:spPr>
          <a:xfrm>
            <a:off x="288757" y="2285630"/>
            <a:ext cx="42258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World Bank – World Development Indicators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Global, multi-country panel data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Unit of analysis: Country–Year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F4365C-624B-1383-04DC-5AC0CD3765CD}"/>
              </a:ext>
            </a:extLst>
          </p:cNvPr>
          <p:cNvSpPr txBox="1"/>
          <p:nvPr/>
        </p:nvSpPr>
        <p:spPr>
          <a:xfrm>
            <a:off x="301141" y="3804470"/>
            <a:ext cx="447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  <a:latin typeface="Montserrat" pitchFamily="2" charset="0"/>
              </a:rPr>
              <a:t>Time Structure: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571025-0C59-4795-E400-98693D17691C}"/>
              </a:ext>
            </a:extLst>
          </p:cNvPr>
          <p:cNvSpPr txBox="1"/>
          <p:nvPr/>
        </p:nvSpPr>
        <p:spPr>
          <a:xfrm>
            <a:off x="288757" y="4494748"/>
            <a:ext cx="42258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Multiple years per country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Allows cross-country and temporal comparison</a:t>
            </a:r>
          </a:p>
        </p:txBody>
      </p:sp>
    </p:spTree>
    <p:extLst>
      <p:ext uri="{BB962C8B-B14F-4D97-AF65-F5344CB8AC3E}">
        <p14:creationId xmlns:p14="http://schemas.microsoft.com/office/powerpoint/2010/main" val="1490776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8000">
              <a:srgbClr val="0F172A"/>
            </a:gs>
            <a:gs pos="0">
              <a:srgbClr val="2E4682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72EF7-FE7E-3E47-A450-03C7F60B4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D932056-0A5E-A0C4-4CC3-D2A6F5E134B6}"/>
              </a:ext>
            </a:extLst>
          </p:cNvPr>
          <p:cNvSpPr/>
          <p:nvPr/>
        </p:nvSpPr>
        <p:spPr>
          <a:xfrm>
            <a:off x="4774526" y="-244649"/>
            <a:ext cx="10605849" cy="9160069"/>
          </a:xfrm>
          <a:custGeom>
            <a:avLst/>
            <a:gdLst>
              <a:gd name="connsiteX0" fmla="*/ 2759249 w 10605849"/>
              <a:gd name="connsiteY0" fmla="*/ 6210089 h 9160069"/>
              <a:gd name="connsiteX1" fmla="*/ 2188570 w 10605849"/>
              <a:gd name="connsiteY1" fmla="*/ 6884351 h 9160069"/>
              <a:gd name="connsiteX2" fmla="*/ 2759249 w 10605849"/>
              <a:gd name="connsiteY2" fmla="*/ 6625403 h 9160069"/>
              <a:gd name="connsiteX3" fmla="*/ 3329927 w 10605849"/>
              <a:gd name="connsiteY3" fmla="*/ 6884351 h 9160069"/>
              <a:gd name="connsiteX4" fmla="*/ 1379628 w 10605849"/>
              <a:gd name="connsiteY4" fmla="*/ 4580028 h 9160069"/>
              <a:gd name="connsiteX5" fmla="*/ 2485999 w 10605849"/>
              <a:gd name="connsiteY5" fmla="*/ 5082049 h 9160069"/>
              <a:gd name="connsiteX6" fmla="*/ 2759249 w 10605849"/>
              <a:gd name="connsiteY6" fmla="*/ 6210051 h 9160069"/>
              <a:gd name="connsiteX7" fmla="*/ 3032499 w 10605849"/>
              <a:gd name="connsiteY7" fmla="*/ 5082049 h 9160069"/>
              <a:gd name="connsiteX8" fmla="*/ 4138870 w 10605849"/>
              <a:gd name="connsiteY8" fmla="*/ 4580028 h 9160069"/>
              <a:gd name="connsiteX9" fmla="*/ 5245241 w 10605849"/>
              <a:gd name="connsiteY9" fmla="*/ 5082049 h 9160069"/>
              <a:gd name="connsiteX10" fmla="*/ 5468359 w 10605849"/>
              <a:gd name="connsiteY10" fmla="*/ 6003102 h 9160069"/>
              <a:gd name="connsiteX11" fmla="*/ 5691477 w 10605849"/>
              <a:gd name="connsiteY11" fmla="*/ 5082049 h 9160069"/>
              <a:gd name="connsiteX12" fmla="*/ 6797848 w 10605849"/>
              <a:gd name="connsiteY12" fmla="*/ 4580028 h 9160069"/>
              <a:gd name="connsiteX13" fmla="*/ 7904219 w 10605849"/>
              <a:gd name="connsiteY13" fmla="*/ 5082049 h 9160069"/>
              <a:gd name="connsiteX14" fmla="*/ 8177476 w 10605849"/>
              <a:gd name="connsiteY14" fmla="*/ 6210080 h 9160069"/>
              <a:gd name="connsiteX15" fmla="*/ 7411834 w 10605849"/>
              <a:gd name="connsiteY15" fmla="*/ 7114694 h 9160069"/>
              <a:gd name="connsiteX16" fmla="*/ 6183862 w 10605849"/>
              <a:gd name="connsiteY16" fmla="*/ 7114694 h 9160069"/>
              <a:gd name="connsiteX17" fmla="*/ 5468359 w 10605849"/>
              <a:gd name="connsiteY17" fmla="*/ 6269320 h 9160069"/>
              <a:gd name="connsiteX18" fmla="*/ 4752856 w 10605849"/>
              <a:gd name="connsiteY18" fmla="*/ 7114694 h 9160069"/>
              <a:gd name="connsiteX19" fmla="*/ 3837565 w 10605849"/>
              <a:gd name="connsiteY19" fmla="*/ 7114694 h 9160069"/>
              <a:gd name="connsiteX20" fmla="*/ 3865620 w 10605849"/>
              <a:gd name="connsiteY20" fmla="*/ 7127424 h 9160069"/>
              <a:gd name="connsiteX21" fmla="*/ 4138877 w 10605849"/>
              <a:gd name="connsiteY21" fmla="*/ 8255455 h 9160069"/>
              <a:gd name="connsiteX22" fmla="*/ 3373235 w 10605849"/>
              <a:gd name="connsiteY22" fmla="*/ 9160069 h 9160069"/>
              <a:gd name="connsiteX23" fmla="*/ 2145263 w 10605849"/>
              <a:gd name="connsiteY23" fmla="*/ 9160069 h 9160069"/>
              <a:gd name="connsiteX24" fmla="*/ 1379621 w 10605849"/>
              <a:gd name="connsiteY24" fmla="*/ 8255455 h 9160069"/>
              <a:gd name="connsiteX25" fmla="*/ 1652878 w 10605849"/>
              <a:gd name="connsiteY25" fmla="*/ 7127424 h 9160069"/>
              <a:gd name="connsiteX26" fmla="*/ 1680933 w 10605849"/>
              <a:gd name="connsiteY26" fmla="*/ 7114694 h 9160069"/>
              <a:gd name="connsiteX27" fmla="*/ 765642 w 10605849"/>
              <a:gd name="connsiteY27" fmla="*/ 7114694 h 9160069"/>
              <a:gd name="connsiteX28" fmla="*/ 0 w 10605849"/>
              <a:gd name="connsiteY28" fmla="*/ 6210080 h 9160069"/>
              <a:gd name="connsiteX29" fmla="*/ 273257 w 10605849"/>
              <a:gd name="connsiteY29" fmla="*/ 5082049 h 9160069"/>
              <a:gd name="connsiteX30" fmla="*/ 2646954 w 10605849"/>
              <a:gd name="connsiteY30" fmla="*/ 2290015 h 9160069"/>
              <a:gd name="connsiteX31" fmla="*/ 3753325 w 10605849"/>
              <a:gd name="connsiteY31" fmla="*/ 2792036 h 9160069"/>
              <a:gd name="connsiteX32" fmla="*/ 4026575 w 10605849"/>
              <a:gd name="connsiteY32" fmla="*/ 3920037 h 9160069"/>
              <a:gd name="connsiteX33" fmla="*/ 4299825 w 10605849"/>
              <a:gd name="connsiteY33" fmla="*/ 2792036 h 9160069"/>
              <a:gd name="connsiteX34" fmla="*/ 5406196 w 10605849"/>
              <a:gd name="connsiteY34" fmla="*/ 2290015 h 9160069"/>
              <a:gd name="connsiteX35" fmla="*/ 6512567 w 10605849"/>
              <a:gd name="connsiteY35" fmla="*/ 2792036 h 9160069"/>
              <a:gd name="connsiteX36" fmla="*/ 6735685 w 10605849"/>
              <a:gd name="connsiteY36" fmla="*/ 3713088 h 9160069"/>
              <a:gd name="connsiteX37" fmla="*/ 6958803 w 10605849"/>
              <a:gd name="connsiteY37" fmla="*/ 2792036 h 9160069"/>
              <a:gd name="connsiteX38" fmla="*/ 8065174 w 10605849"/>
              <a:gd name="connsiteY38" fmla="*/ 2290015 h 9160069"/>
              <a:gd name="connsiteX39" fmla="*/ 9171545 w 10605849"/>
              <a:gd name="connsiteY39" fmla="*/ 2792036 h 9160069"/>
              <a:gd name="connsiteX40" fmla="*/ 9444802 w 10605849"/>
              <a:gd name="connsiteY40" fmla="*/ 3920066 h 9160069"/>
              <a:gd name="connsiteX41" fmla="*/ 8679160 w 10605849"/>
              <a:gd name="connsiteY41" fmla="*/ 4824680 h 9160069"/>
              <a:gd name="connsiteX42" fmla="*/ 7451188 w 10605849"/>
              <a:gd name="connsiteY42" fmla="*/ 4824680 h 9160069"/>
              <a:gd name="connsiteX43" fmla="*/ 6735685 w 10605849"/>
              <a:gd name="connsiteY43" fmla="*/ 3979306 h 9160069"/>
              <a:gd name="connsiteX44" fmla="*/ 6020182 w 10605849"/>
              <a:gd name="connsiteY44" fmla="*/ 4824680 h 9160069"/>
              <a:gd name="connsiteX45" fmla="*/ 4792210 w 10605849"/>
              <a:gd name="connsiteY45" fmla="*/ 4824680 h 9160069"/>
              <a:gd name="connsiteX46" fmla="*/ 4026575 w 10605849"/>
              <a:gd name="connsiteY46" fmla="*/ 3920074 h 9160069"/>
              <a:gd name="connsiteX47" fmla="*/ 3260940 w 10605849"/>
              <a:gd name="connsiteY47" fmla="*/ 4824680 h 9160069"/>
              <a:gd name="connsiteX48" fmla="*/ 2032968 w 10605849"/>
              <a:gd name="connsiteY48" fmla="*/ 4824680 h 9160069"/>
              <a:gd name="connsiteX49" fmla="*/ 1267326 w 10605849"/>
              <a:gd name="connsiteY49" fmla="*/ 3920066 h 9160069"/>
              <a:gd name="connsiteX50" fmla="*/ 1540583 w 10605849"/>
              <a:gd name="connsiteY50" fmla="*/ 2792036 h 9160069"/>
              <a:gd name="connsiteX51" fmla="*/ 3808001 w 10605849"/>
              <a:gd name="connsiteY51" fmla="*/ 0 h 9160069"/>
              <a:gd name="connsiteX52" fmla="*/ 4914372 w 10605849"/>
              <a:gd name="connsiteY52" fmla="*/ 502021 h 9160069"/>
              <a:gd name="connsiteX53" fmla="*/ 5187622 w 10605849"/>
              <a:gd name="connsiteY53" fmla="*/ 1630023 h 9160069"/>
              <a:gd name="connsiteX54" fmla="*/ 5460872 w 10605849"/>
              <a:gd name="connsiteY54" fmla="*/ 502021 h 9160069"/>
              <a:gd name="connsiteX55" fmla="*/ 6567243 w 10605849"/>
              <a:gd name="connsiteY55" fmla="*/ 0 h 9160069"/>
              <a:gd name="connsiteX56" fmla="*/ 7673614 w 10605849"/>
              <a:gd name="connsiteY56" fmla="*/ 502021 h 9160069"/>
              <a:gd name="connsiteX57" fmla="*/ 7896732 w 10605849"/>
              <a:gd name="connsiteY57" fmla="*/ 1423074 h 9160069"/>
              <a:gd name="connsiteX58" fmla="*/ 8119850 w 10605849"/>
              <a:gd name="connsiteY58" fmla="*/ 502021 h 9160069"/>
              <a:gd name="connsiteX59" fmla="*/ 9226221 w 10605849"/>
              <a:gd name="connsiteY59" fmla="*/ 0 h 9160069"/>
              <a:gd name="connsiteX60" fmla="*/ 10332592 w 10605849"/>
              <a:gd name="connsiteY60" fmla="*/ 502021 h 9160069"/>
              <a:gd name="connsiteX61" fmla="*/ 10605849 w 10605849"/>
              <a:gd name="connsiteY61" fmla="*/ 1630052 h 9160069"/>
              <a:gd name="connsiteX62" fmla="*/ 9840207 w 10605849"/>
              <a:gd name="connsiteY62" fmla="*/ 2534666 h 9160069"/>
              <a:gd name="connsiteX63" fmla="*/ 8612235 w 10605849"/>
              <a:gd name="connsiteY63" fmla="*/ 2534666 h 9160069"/>
              <a:gd name="connsiteX64" fmla="*/ 7896732 w 10605849"/>
              <a:gd name="connsiteY64" fmla="*/ 1689292 h 9160069"/>
              <a:gd name="connsiteX65" fmla="*/ 7181229 w 10605849"/>
              <a:gd name="connsiteY65" fmla="*/ 2534666 h 9160069"/>
              <a:gd name="connsiteX66" fmla="*/ 5953257 w 10605849"/>
              <a:gd name="connsiteY66" fmla="*/ 2534666 h 9160069"/>
              <a:gd name="connsiteX67" fmla="*/ 5187622 w 10605849"/>
              <a:gd name="connsiteY67" fmla="*/ 1630061 h 9160069"/>
              <a:gd name="connsiteX68" fmla="*/ 4421987 w 10605849"/>
              <a:gd name="connsiteY68" fmla="*/ 2534666 h 9160069"/>
              <a:gd name="connsiteX69" fmla="*/ 3194015 w 10605849"/>
              <a:gd name="connsiteY69" fmla="*/ 2534666 h 9160069"/>
              <a:gd name="connsiteX70" fmla="*/ 2428373 w 10605849"/>
              <a:gd name="connsiteY70" fmla="*/ 1630052 h 9160069"/>
              <a:gd name="connsiteX71" fmla="*/ 2701630 w 10605849"/>
              <a:gd name="connsiteY71" fmla="*/ 502021 h 916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0605849" h="9160069">
                <a:moveTo>
                  <a:pt x="2759249" y="6210089"/>
                </a:moveTo>
                <a:lnTo>
                  <a:pt x="2188570" y="6884351"/>
                </a:lnTo>
                <a:lnTo>
                  <a:pt x="2759249" y="6625403"/>
                </a:lnTo>
                <a:lnTo>
                  <a:pt x="3329927" y="6884351"/>
                </a:lnTo>
                <a:close/>
                <a:moveTo>
                  <a:pt x="1379628" y="4580028"/>
                </a:moveTo>
                <a:lnTo>
                  <a:pt x="2485999" y="5082049"/>
                </a:lnTo>
                <a:lnTo>
                  <a:pt x="2759249" y="6210051"/>
                </a:lnTo>
                <a:lnTo>
                  <a:pt x="3032499" y="5082049"/>
                </a:lnTo>
                <a:lnTo>
                  <a:pt x="4138870" y="4580028"/>
                </a:lnTo>
                <a:lnTo>
                  <a:pt x="5245241" y="5082049"/>
                </a:lnTo>
                <a:lnTo>
                  <a:pt x="5468359" y="6003102"/>
                </a:lnTo>
                <a:lnTo>
                  <a:pt x="5691477" y="5082049"/>
                </a:lnTo>
                <a:lnTo>
                  <a:pt x="6797848" y="4580028"/>
                </a:lnTo>
                <a:lnTo>
                  <a:pt x="7904219" y="5082049"/>
                </a:lnTo>
                <a:lnTo>
                  <a:pt x="8177476" y="6210080"/>
                </a:lnTo>
                <a:lnTo>
                  <a:pt x="7411834" y="7114694"/>
                </a:lnTo>
                <a:lnTo>
                  <a:pt x="6183862" y="7114694"/>
                </a:lnTo>
                <a:lnTo>
                  <a:pt x="5468359" y="6269320"/>
                </a:lnTo>
                <a:lnTo>
                  <a:pt x="4752856" y="7114694"/>
                </a:lnTo>
                <a:lnTo>
                  <a:pt x="3837565" y="7114694"/>
                </a:lnTo>
                <a:lnTo>
                  <a:pt x="3865620" y="7127424"/>
                </a:lnTo>
                <a:lnTo>
                  <a:pt x="4138877" y="8255455"/>
                </a:lnTo>
                <a:lnTo>
                  <a:pt x="3373235" y="9160069"/>
                </a:lnTo>
                <a:lnTo>
                  <a:pt x="2145263" y="9160069"/>
                </a:lnTo>
                <a:lnTo>
                  <a:pt x="1379621" y="8255455"/>
                </a:lnTo>
                <a:lnTo>
                  <a:pt x="1652878" y="7127424"/>
                </a:lnTo>
                <a:lnTo>
                  <a:pt x="1680933" y="7114694"/>
                </a:lnTo>
                <a:lnTo>
                  <a:pt x="765642" y="7114694"/>
                </a:lnTo>
                <a:lnTo>
                  <a:pt x="0" y="6210080"/>
                </a:lnTo>
                <a:lnTo>
                  <a:pt x="273257" y="5082049"/>
                </a:lnTo>
                <a:close/>
                <a:moveTo>
                  <a:pt x="2646954" y="2290015"/>
                </a:moveTo>
                <a:lnTo>
                  <a:pt x="3753325" y="2792036"/>
                </a:lnTo>
                <a:lnTo>
                  <a:pt x="4026575" y="3920037"/>
                </a:lnTo>
                <a:lnTo>
                  <a:pt x="4299825" y="2792036"/>
                </a:lnTo>
                <a:lnTo>
                  <a:pt x="5406196" y="2290015"/>
                </a:lnTo>
                <a:lnTo>
                  <a:pt x="6512567" y="2792036"/>
                </a:lnTo>
                <a:lnTo>
                  <a:pt x="6735685" y="3713088"/>
                </a:lnTo>
                <a:lnTo>
                  <a:pt x="6958803" y="2792036"/>
                </a:lnTo>
                <a:lnTo>
                  <a:pt x="8065174" y="2290015"/>
                </a:lnTo>
                <a:lnTo>
                  <a:pt x="9171545" y="2792036"/>
                </a:lnTo>
                <a:lnTo>
                  <a:pt x="9444802" y="3920066"/>
                </a:lnTo>
                <a:lnTo>
                  <a:pt x="8679160" y="4824680"/>
                </a:lnTo>
                <a:lnTo>
                  <a:pt x="7451188" y="4824680"/>
                </a:lnTo>
                <a:lnTo>
                  <a:pt x="6735685" y="3979306"/>
                </a:lnTo>
                <a:lnTo>
                  <a:pt x="6020182" y="4824680"/>
                </a:lnTo>
                <a:lnTo>
                  <a:pt x="4792210" y="4824680"/>
                </a:lnTo>
                <a:lnTo>
                  <a:pt x="4026575" y="3920074"/>
                </a:lnTo>
                <a:lnTo>
                  <a:pt x="3260940" y="4824680"/>
                </a:lnTo>
                <a:lnTo>
                  <a:pt x="2032968" y="4824680"/>
                </a:lnTo>
                <a:lnTo>
                  <a:pt x="1267326" y="3920066"/>
                </a:lnTo>
                <a:lnTo>
                  <a:pt x="1540583" y="2792036"/>
                </a:lnTo>
                <a:close/>
                <a:moveTo>
                  <a:pt x="3808001" y="0"/>
                </a:moveTo>
                <a:lnTo>
                  <a:pt x="4914372" y="502021"/>
                </a:lnTo>
                <a:lnTo>
                  <a:pt x="5187622" y="1630023"/>
                </a:lnTo>
                <a:lnTo>
                  <a:pt x="5460872" y="502021"/>
                </a:lnTo>
                <a:lnTo>
                  <a:pt x="6567243" y="0"/>
                </a:lnTo>
                <a:lnTo>
                  <a:pt x="7673614" y="502021"/>
                </a:lnTo>
                <a:lnTo>
                  <a:pt x="7896732" y="1423074"/>
                </a:lnTo>
                <a:lnTo>
                  <a:pt x="8119850" y="502021"/>
                </a:lnTo>
                <a:lnTo>
                  <a:pt x="9226221" y="0"/>
                </a:lnTo>
                <a:lnTo>
                  <a:pt x="10332592" y="502021"/>
                </a:lnTo>
                <a:lnTo>
                  <a:pt x="10605849" y="1630052"/>
                </a:lnTo>
                <a:lnTo>
                  <a:pt x="9840207" y="2534666"/>
                </a:lnTo>
                <a:lnTo>
                  <a:pt x="8612235" y="2534666"/>
                </a:lnTo>
                <a:lnTo>
                  <a:pt x="7896732" y="1689292"/>
                </a:lnTo>
                <a:lnTo>
                  <a:pt x="7181229" y="2534666"/>
                </a:lnTo>
                <a:lnTo>
                  <a:pt x="5953257" y="2534666"/>
                </a:lnTo>
                <a:lnTo>
                  <a:pt x="5187622" y="1630061"/>
                </a:lnTo>
                <a:lnTo>
                  <a:pt x="4421987" y="2534666"/>
                </a:lnTo>
                <a:lnTo>
                  <a:pt x="3194015" y="2534666"/>
                </a:lnTo>
                <a:lnTo>
                  <a:pt x="2428373" y="1630052"/>
                </a:lnTo>
                <a:lnTo>
                  <a:pt x="2701630" y="502021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innerShdw blurRad="558800" dist="558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7EB4DE-1706-B34E-19E2-0E714A85A924}"/>
              </a:ext>
            </a:extLst>
          </p:cNvPr>
          <p:cNvSpPr txBox="1"/>
          <p:nvPr/>
        </p:nvSpPr>
        <p:spPr>
          <a:xfrm>
            <a:off x="288758" y="320299"/>
            <a:ext cx="440216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59E0B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Part 2.2:</a:t>
            </a:r>
            <a:r>
              <a:rPr lang="en-US" sz="2800" b="1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  <a:t> Variables Used</a:t>
            </a:r>
            <a:br>
              <a:rPr lang="en-US" sz="2800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endParaRPr lang="en-US" sz="2800" dirty="0">
              <a:solidFill>
                <a:srgbClr val="F8FAF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4B2073-F0A0-EB1B-9E7D-B12C9412FD6D}"/>
              </a:ext>
            </a:extLst>
          </p:cNvPr>
          <p:cNvSpPr txBox="1"/>
          <p:nvPr/>
        </p:nvSpPr>
        <p:spPr>
          <a:xfrm>
            <a:off x="301141" y="1595352"/>
            <a:ext cx="447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  <a:latin typeface="Montserrat" pitchFamily="2" charset="0"/>
              </a:rPr>
              <a:t>Key Variables: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717F04-8FF7-C875-1836-247AB2DBD4F2}"/>
              </a:ext>
            </a:extLst>
          </p:cNvPr>
          <p:cNvSpPr txBox="1"/>
          <p:nvPr/>
        </p:nvSpPr>
        <p:spPr>
          <a:xfrm>
            <a:off x="288757" y="2285630"/>
            <a:ext cx="4225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Education Spending (% of GDP)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GDP Growth (%)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A04A9C-2480-DD49-5F2F-69658CD788D9}"/>
              </a:ext>
            </a:extLst>
          </p:cNvPr>
          <p:cNvSpPr txBox="1"/>
          <p:nvPr/>
        </p:nvSpPr>
        <p:spPr>
          <a:xfrm>
            <a:off x="301141" y="3252907"/>
            <a:ext cx="447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  <a:latin typeface="Montserrat" pitchFamily="2" charset="0"/>
              </a:rPr>
              <a:t>Control Variables: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BF25AD-D23E-BD2F-CD15-7018097F8AAD}"/>
              </a:ext>
            </a:extLst>
          </p:cNvPr>
          <p:cNvSpPr txBox="1"/>
          <p:nvPr/>
        </p:nvSpPr>
        <p:spPr>
          <a:xfrm>
            <a:off x="288757" y="3943185"/>
            <a:ext cx="42258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Unemployment (%)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Inflation (%)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Population Growth (%)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B0D0FF-E465-1406-072D-18892D8C9BDE}"/>
              </a:ext>
            </a:extLst>
          </p:cNvPr>
          <p:cNvSpPr txBox="1"/>
          <p:nvPr/>
        </p:nvSpPr>
        <p:spPr>
          <a:xfrm>
            <a:off x="249356" y="5187461"/>
            <a:ext cx="447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  <a:latin typeface="Montserrat" pitchFamily="2" charset="0"/>
              </a:rPr>
              <a:t>Why controls?: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1A021A-E669-1C1A-1001-7165F331F6EE}"/>
              </a:ext>
            </a:extLst>
          </p:cNvPr>
          <p:cNvSpPr txBox="1"/>
          <p:nvPr/>
        </p:nvSpPr>
        <p:spPr>
          <a:xfrm>
            <a:off x="236972" y="5877739"/>
            <a:ext cx="42258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GDP growth is influenced by many macroeconomic conditions</a:t>
            </a:r>
          </a:p>
        </p:txBody>
      </p:sp>
    </p:spTree>
    <p:extLst>
      <p:ext uri="{BB962C8B-B14F-4D97-AF65-F5344CB8AC3E}">
        <p14:creationId xmlns:p14="http://schemas.microsoft.com/office/powerpoint/2010/main" val="2872369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8000">
              <a:srgbClr val="0F172A"/>
            </a:gs>
            <a:gs pos="0">
              <a:srgbClr val="2E4682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21A094-2AC2-1E98-4D02-0510ECF8C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A010C85-C77B-FC05-114F-57AC4F8AEE8B}"/>
              </a:ext>
            </a:extLst>
          </p:cNvPr>
          <p:cNvSpPr/>
          <p:nvPr/>
        </p:nvSpPr>
        <p:spPr>
          <a:xfrm>
            <a:off x="4774526" y="-244649"/>
            <a:ext cx="10605849" cy="9160069"/>
          </a:xfrm>
          <a:custGeom>
            <a:avLst/>
            <a:gdLst>
              <a:gd name="connsiteX0" fmla="*/ 2759249 w 10605849"/>
              <a:gd name="connsiteY0" fmla="*/ 6210089 h 9160069"/>
              <a:gd name="connsiteX1" fmla="*/ 2188570 w 10605849"/>
              <a:gd name="connsiteY1" fmla="*/ 6884351 h 9160069"/>
              <a:gd name="connsiteX2" fmla="*/ 2759249 w 10605849"/>
              <a:gd name="connsiteY2" fmla="*/ 6625403 h 9160069"/>
              <a:gd name="connsiteX3" fmla="*/ 3329927 w 10605849"/>
              <a:gd name="connsiteY3" fmla="*/ 6884351 h 9160069"/>
              <a:gd name="connsiteX4" fmla="*/ 1379628 w 10605849"/>
              <a:gd name="connsiteY4" fmla="*/ 4580028 h 9160069"/>
              <a:gd name="connsiteX5" fmla="*/ 2485999 w 10605849"/>
              <a:gd name="connsiteY5" fmla="*/ 5082049 h 9160069"/>
              <a:gd name="connsiteX6" fmla="*/ 2759249 w 10605849"/>
              <a:gd name="connsiteY6" fmla="*/ 6210051 h 9160069"/>
              <a:gd name="connsiteX7" fmla="*/ 3032499 w 10605849"/>
              <a:gd name="connsiteY7" fmla="*/ 5082049 h 9160069"/>
              <a:gd name="connsiteX8" fmla="*/ 4138870 w 10605849"/>
              <a:gd name="connsiteY8" fmla="*/ 4580028 h 9160069"/>
              <a:gd name="connsiteX9" fmla="*/ 5245241 w 10605849"/>
              <a:gd name="connsiteY9" fmla="*/ 5082049 h 9160069"/>
              <a:gd name="connsiteX10" fmla="*/ 5468359 w 10605849"/>
              <a:gd name="connsiteY10" fmla="*/ 6003102 h 9160069"/>
              <a:gd name="connsiteX11" fmla="*/ 5691477 w 10605849"/>
              <a:gd name="connsiteY11" fmla="*/ 5082049 h 9160069"/>
              <a:gd name="connsiteX12" fmla="*/ 6797848 w 10605849"/>
              <a:gd name="connsiteY12" fmla="*/ 4580028 h 9160069"/>
              <a:gd name="connsiteX13" fmla="*/ 7904219 w 10605849"/>
              <a:gd name="connsiteY13" fmla="*/ 5082049 h 9160069"/>
              <a:gd name="connsiteX14" fmla="*/ 8177476 w 10605849"/>
              <a:gd name="connsiteY14" fmla="*/ 6210080 h 9160069"/>
              <a:gd name="connsiteX15" fmla="*/ 7411834 w 10605849"/>
              <a:gd name="connsiteY15" fmla="*/ 7114694 h 9160069"/>
              <a:gd name="connsiteX16" fmla="*/ 6183862 w 10605849"/>
              <a:gd name="connsiteY16" fmla="*/ 7114694 h 9160069"/>
              <a:gd name="connsiteX17" fmla="*/ 5468359 w 10605849"/>
              <a:gd name="connsiteY17" fmla="*/ 6269320 h 9160069"/>
              <a:gd name="connsiteX18" fmla="*/ 4752856 w 10605849"/>
              <a:gd name="connsiteY18" fmla="*/ 7114694 h 9160069"/>
              <a:gd name="connsiteX19" fmla="*/ 3837565 w 10605849"/>
              <a:gd name="connsiteY19" fmla="*/ 7114694 h 9160069"/>
              <a:gd name="connsiteX20" fmla="*/ 3865620 w 10605849"/>
              <a:gd name="connsiteY20" fmla="*/ 7127424 h 9160069"/>
              <a:gd name="connsiteX21" fmla="*/ 4138877 w 10605849"/>
              <a:gd name="connsiteY21" fmla="*/ 8255455 h 9160069"/>
              <a:gd name="connsiteX22" fmla="*/ 3373235 w 10605849"/>
              <a:gd name="connsiteY22" fmla="*/ 9160069 h 9160069"/>
              <a:gd name="connsiteX23" fmla="*/ 2145263 w 10605849"/>
              <a:gd name="connsiteY23" fmla="*/ 9160069 h 9160069"/>
              <a:gd name="connsiteX24" fmla="*/ 1379621 w 10605849"/>
              <a:gd name="connsiteY24" fmla="*/ 8255455 h 9160069"/>
              <a:gd name="connsiteX25" fmla="*/ 1652878 w 10605849"/>
              <a:gd name="connsiteY25" fmla="*/ 7127424 h 9160069"/>
              <a:gd name="connsiteX26" fmla="*/ 1680933 w 10605849"/>
              <a:gd name="connsiteY26" fmla="*/ 7114694 h 9160069"/>
              <a:gd name="connsiteX27" fmla="*/ 765642 w 10605849"/>
              <a:gd name="connsiteY27" fmla="*/ 7114694 h 9160069"/>
              <a:gd name="connsiteX28" fmla="*/ 0 w 10605849"/>
              <a:gd name="connsiteY28" fmla="*/ 6210080 h 9160069"/>
              <a:gd name="connsiteX29" fmla="*/ 273257 w 10605849"/>
              <a:gd name="connsiteY29" fmla="*/ 5082049 h 9160069"/>
              <a:gd name="connsiteX30" fmla="*/ 2646954 w 10605849"/>
              <a:gd name="connsiteY30" fmla="*/ 2290015 h 9160069"/>
              <a:gd name="connsiteX31" fmla="*/ 3753325 w 10605849"/>
              <a:gd name="connsiteY31" fmla="*/ 2792036 h 9160069"/>
              <a:gd name="connsiteX32" fmla="*/ 4026575 w 10605849"/>
              <a:gd name="connsiteY32" fmla="*/ 3920037 h 9160069"/>
              <a:gd name="connsiteX33" fmla="*/ 4299825 w 10605849"/>
              <a:gd name="connsiteY33" fmla="*/ 2792036 h 9160069"/>
              <a:gd name="connsiteX34" fmla="*/ 5406196 w 10605849"/>
              <a:gd name="connsiteY34" fmla="*/ 2290015 h 9160069"/>
              <a:gd name="connsiteX35" fmla="*/ 6512567 w 10605849"/>
              <a:gd name="connsiteY35" fmla="*/ 2792036 h 9160069"/>
              <a:gd name="connsiteX36" fmla="*/ 6735685 w 10605849"/>
              <a:gd name="connsiteY36" fmla="*/ 3713088 h 9160069"/>
              <a:gd name="connsiteX37" fmla="*/ 6958803 w 10605849"/>
              <a:gd name="connsiteY37" fmla="*/ 2792036 h 9160069"/>
              <a:gd name="connsiteX38" fmla="*/ 8065174 w 10605849"/>
              <a:gd name="connsiteY38" fmla="*/ 2290015 h 9160069"/>
              <a:gd name="connsiteX39" fmla="*/ 9171545 w 10605849"/>
              <a:gd name="connsiteY39" fmla="*/ 2792036 h 9160069"/>
              <a:gd name="connsiteX40" fmla="*/ 9444802 w 10605849"/>
              <a:gd name="connsiteY40" fmla="*/ 3920066 h 9160069"/>
              <a:gd name="connsiteX41" fmla="*/ 8679160 w 10605849"/>
              <a:gd name="connsiteY41" fmla="*/ 4824680 h 9160069"/>
              <a:gd name="connsiteX42" fmla="*/ 7451188 w 10605849"/>
              <a:gd name="connsiteY42" fmla="*/ 4824680 h 9160069"/>
              <a:gd name="connsiteX43" fmla="*/ 6735685 w 10605849"/>
              <a:gd name="connsiteY43" fmla="*/ 3979306 h 9160069"/>
              <a:gd name="connsiteX44" fmla="*/ 6020182 w 10605849"/>
              <a:gd name="connsiteY44" fmla="*/ 4824680 h 9160069"/>
              <a:gd name="connsiteX45" fmla="*/ 4792210 w 10605849"/>
              <a:gd name="connsiteY45" fmla="*/ 4824680 h 9160069"/>
              <a:gd name="connsiteX46" fmla="*/ 4026575 w 10605849"/>
              <a:gd name="connsiteY46" fmla="*/ 3920074 h 9160069"/>
              <a:gd name="connsiteX47" fmla="*/ 3260940 w 10605849"/>
              <a:gd name="connsiteY47" fmla="*/ 4824680 h 9160069"/>
              <a:gd name="connsiteX48" fmla="*/ 2032968 w 10605849"/>
              <a:gd name="connsiteY48" fmla="*/ 4824680 h 9160069"/>
              <a:gd name="connsiteX49" fmla="*/ 1267326 w 10605849"/>
              <a:gd name="connsiteY49" fmla="*/ 3920066 h 9160069"/>
              <a:gd name="connsiteX50" fmla="*/ 1540583 w 10605849"/>
              <a:gd name="connsiteY50" fmla="*/ 2792036 h 9160069"/>
              <a:gd name="connsiteX51" fmla="*/ 3808001 w 10605849"/>
              <a:gd name="connsiteY51" fmla="*/ 0 h 9160069"/>
              <a:gd name="connsiteX52" fmla="*/ 4914372 w 10605849"/>
              <a:gd name="connsiteY52" fmla="*/ 502021 h 9160069"/>
              <a:gd name="connsiteX53" fmla="*/ 5187622 w 10605849"/>
              <a:gd name="connsiteY53" fmla="*/ 1630023 h 9160069"/>
              <a:gd name="connsiteX54" fmla="*/ 5460872 w 10605849"/>
              <a:gd name="connsiteY54" fmla="*/ 502021 h 9160069"/>
              <a:gd name="connsiteX55" fmla="*/ 6567243 w 10605849"/>
              <a:gd name="connsiteY55" fmla="*/ 0 h 9160069"/>
              <a:gd name="connsiteX56" fmla="*/ 7673614 w 10605849"/>
              <a:gd name="connsiteY56" fmla="*/ 502021 h 9160069"/>
              <a:gd name="connsiteX57" fmla="*/ 7896732 w 10605849"/>
              <a:gd name="connsiteY57" fmla="*/ 1423074 h 9160069"/>
              <a:gd name="connsiteX58" fmla="*/ 8119850 w 10605849"/>
              <a:gd name="connsiteY58" fmla="*/ 502021 h 9160069"/>
              <a:gd name="connsiteX59" fmla="*/ 9226221 w 10605849"/>
              <a:gd name="connsiteY59" fmla="*/ 0 h 9160069"/>
              <a:gd name="connsiteX60" fmla="*/ 10332592 w 10605849"/>
              <a:gd name="connsiteY60" fmla="*/ 502021 h 9160069"/>
              <a:gd name="connsiteX61" fmla="*/ 10605849 w 10605849"/>
              <a:gd name="connsiteY61" fmla="*/ 1630052 h 9160069"/>
              <a:gd name="connsiteX62" fmla="*/ 9840207 w 10605849"/>
              <a:gd name="connsiteY62" fmla="*/ 2534666 h 9160069"/>
              <a:gd name="connsiteX63" fmla="*/ 8612235 w 10605849"/>
              <a:gd name="connsiteY63" fmla="*/ 2534666 h 9160069"/>
              <a:gd name="connsiteX64" fmla="*/ 7896732 w 10605849"/>
              <a:gd name="connsiteY64" fmla="*/ 1689292 h 9160069"/>
              <a:gd name="connsiteX65" fmla="*/ 7181229 w 10605849"/>
              <a:gd name="connsiteY65" fmla="*/ 2534666 h 9160069"/>
              <a:gd name="connsiteX66" fmla="*/ 5953257 w 10605849"/>
              <a:gd name="connsiteY66" fmla="*/ 2534666 h 9160069"/>
              <a:gd name="connsiteX67" fmla="*/ 5187622 w 10605849"/>
              <a:gd name="connsiteY67" fmla="*/ 1630061 h 9160069"/>
              <a:gd name="connsiteX68" fmla="*/ 4421987 w 10605849"/>
              <a:gd name="connsiteY68" fmla="*/ 2534666 h 9160069"/>
              <a:gd name="connsiteX69" fmla="*/ 3194015 w 10605849"/>
              <a:gd name="connsiteY69" fmla="*/ 2534666 h 9160069"/>
              <a:gd name="connsiteX70" fmla="*/ 2428373 w 10605849"/>
              <a:gd name="connsiteY70" fmla="*/ 1630052 h 9160069"/>
              <a:gd name="connsiteX71" fmla="*/ 2701630 w 10605849"/>
              <a:gd name="connsiteY71" fmla="*/ 502021 h 916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0605849" h="9160069">
                <a:moveTo>
                  <a:pt x="2759249" y="6210089"/>
                </a:moveTo>
                <a:lnTo>
                  <a:pt x="2188570" y="6884351"/>
                </a:lnTo>
                <a:lnTo>
                  <a:pt x="2759249" y="6625403"/>
                </a:lnTo>
                <a:lnTo>
                  <a:pt x="3329927" y="6884351"/>
                </a:lnTo>
                <a:close/>
                <a:moveTo>
                  <a:pt x="1379628" y="4580028"/>
                </a:moveTo>
                <a:lnTo>
                  <a:pt x="2485999" y="5082049"/>
                </a:lnTo>
                <a:lnTo>
                  <a:pt x="2759249" y="6210051"/>
                </a:lnTo>
                <a:lnTo>
                  <a:pt x="3032499" y="5082049"/>
                </a:lnTo>
                <a:lnTo>
                  <a:pt x="4138870" y="4580028"/>
                </a:lnTo>
                <a:lnTo>
                  <a:pt x="5245241" y="5082049"/>
                </a:lnTo>
                <a:lnTo>
                  <a:pt x="5468359" y="6003102"/>
                </a:lnTo>
                <a:lnTo>
                  <a:pt x="5691477" y="5082049"/>
                </a:lnTo>
                <a:lnTo>
                  <a:pt x="6797848" y="4580028"/>
                </a:lnTo>
                <a:lnTo>
                  <a:pt x="7904219" y="5082049"/>
                </a:lnTo>
                <a:lnTo>
                  <a:pt x="8177476" y="6210080"/>
                </a:lnTo>
                <a:lnTo>
                  <a:pt x="7411834" y="7114694"/>
                </a:lnTo>
                <a:lnTo>
                  <a:pt x="6183862" y="7114694"/>
                </a:lnTo>
                <a:lnTo>
                  <a:pt x="5468359" y="6269320"/>
                </a:lnTo>
                <a:lnTo>
                  <a:pt x="4752856" y="7114694"/>
                </a:lnTo>
                <a:lnTo>
                  <a:pt x="3837565" y="7114694"/>
                </a:lnTo>
                <a:lnTo>
                  <a:pt x="3865620" y="7127424"/>
                </a:lnTo>
                <a:lnTo>
                  <a:pt x="4138877" y="8255455"/>
                </a:lnTo>
                <a:lnTo>
                  <a:pt x="3373235" y="9160069"/>
                </a:lnTo>
                <a:lnTo>
                  <a:pt x="2145263" y="9160069"/>
                </a:lnTo>
                <a:lnTo>
                  <a:pt x="1379621" y="8255455"/>
                </a:lnTo>
                <a:lnTo>
                  <a:pt x="1652878" y="7127424"/>
                </a:lnTo>
                <a:lnTo>
                  <a:pt x="1680933" y="7114694"/>
                </a:lnTo>
                <a:lnTo>
                  <a:pt x="765642" y="7114694"/>
                </a:lnTo>
                <a:lnTo>
                  <a:pt x="0" y="6210080"/>
                </a:lnTo>
                <a:lnTo>
                  <a:pt x="273257" y="5082049"/>
                </a:lnTo>
                <a:close/>
                <a:moveTo>
                  <a:pt x="2646954" y="2290015"/>
                </a:moveTo>
                <a:lnTo>
                  <a:pt x="3753325" y="2792036"/>
                </a:lnTo>
                <a:lnTo>
                  <a:pt x="4026575" y="3920037"/>
                </a:lnTo>
                <a:lnTo>
                  <a:pt x="4299825" y="2792036"/>
                </a:lnTo>
                <a:lnTo>
                  <a:pt x="5406196" y="2290015"/>
                </a:lnTo>
                <a:lnTo>
                  <a:pt x="6512567" y="2792036"/>
                </a:lnTo>
                <a:lnTo>
                  <a:pt x="6735685" y="3713088"/>
                </a:lnTo>
                <a:lnTo>
                  <a:pt x="6958803" y="2792036"/>
                </a:lnTo>
                <a:lnTo>
                  <a:pt x="8065174" y="2290015"/>
                </a:lnTo>
                <a:lnTo>
                  <a:pt x="9171545" y="2792036"/>
                </a:lnTo>
                <a:lnTo>
                  <a:pt x="9444802" y="3920066"/>
                </a:lnTo>
                <a:lnTo>
                  <a:pt x="8679160" y="4824680"/>
                </a:lnTo>
                <a:lnTo>
                  <a:pt x="7451188" y="4824680"/>
                </a:lnTo>
                <a:lnTo>
                  <a:pt x="6735685" y="3979306"/>
                </a:lnTo>
                <a:lnTo>
                  <a:pt x="6020182" y="4824680"/>
                </a:lnTo>
                <a:lnTo>
                  <a:pt x="4792210" y="4824680"/>
                </a:lnTo>
                <a:lnTo>
                  <a:pt x="4026575" y="3920074"/>
                </a:lnTo>
                <a:lnTo>
                  <a:pt x="3260940" y="4824680"/>
                </a:lnTo>
                <a:lnTo>
                  <a:pt x="2032968" y="4824680"/>
                </a:lnTo>
                <a:lnTo>
                  <a:pt x="1267326" y="3920066"/>
                </a:lnTo>
                <a:lnTo>
                  <a:pt x="1540583" y="2792036"/>
                </a:lnTo>
                <a:close/>
                <a:moveTo>
                  <a:pt x="3808001" y="0"/>
                </a:moveTo>
                <a:lnTo>
                  <a:pt x="4914372" y="502021"/>
                </a:lnTo>
                <a:lnTo>
                  <a:pt x="5187622" y="1630023"/>
                </a:lnTo>
                <a:lnTo>
                  <a:pt x="5460872" y="502021"/>
                </a:lnTo>
                <a:lnTo>
                  <a:pt x="6567243" y="0"/>
                </a:lnTo>
                <a:lnTo>
                  <a:pt x="7673614" y="502021"/>
                </a:lnTo>
                <a:lnTo>
                  <a:pt x="7896732" y="1423074"/>
                </a:lnTo>
                <a:lnTo>
                  <a:pt x="8119850" y="502021"/>
                </a:lnTo>
                <a:lnTo>
                  <a:pt x="9226221" y="0"/>
                </a:lnTo>
                <a:lnTo>
                  <a:pt x="10332592" y="502021"/>
                </a:lnTo>
                <a:lnTo>
                  <a:pt x="10605849" y="1630052"/>
                </a:lnTo>
                <a:lnTo>
                  <a:pt x="9840207" y="2534666"/>
                </a:lnTo>
                <a:lnTo>
                  <a:pt x="8612235" y="2534666"/>
                </a:lnTo>
                <a:lnTo>
                  <a:pt x="7896732" y="1689292"/>
                </a:lnTo>
                <a:lnTo>
                  <a:pt x="7181229" y="2534666"/>
                </a:lnTo>
                <a:lnTo>
                  <a:pt x="5953257" y="2534666"/>
                </a:lnTo>
                <a:lnTo>
                  <a:pt x="5187622" y="1630061"/>
                </a:lnTo>
                <a:lnTo>
                  <a:pt x="4421987" y="2534666"/>
                </a:lnTo>
                <a:lnTo>
                  <a:pt x="3194015" y="2534666"/>
                </a:lnTo>
                <a:lnTo>
                  <a:pt x="2428373" y="1630052"/>
                </a:lnTo>
                <a:lnTo>
                  <a:pt x="2701630" y="502021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innerShdw blurRad="558800" dist="558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E7EDA58-CB7B-9DE3-5C07-360CC28EA178}"/>
              </a:ext>
            </a:extLst>
          </p:cNvPr>
          <p:cNvSpPr txBox="1"/>
          <p:nvPr/>
        </p:nvSpPr>
        <p:spPr>
          <a:xfrm>
            <a:off x="288758" y="320299"/>
            <a:ext cx="653255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59E0B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Part 2.3:</a:t>
            </a:r>
            <a:r>
              <a:rPr lang="en-US" sz="2800" b="1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  <a:t> Data Preparation &amp; Outputs</a:t>
            </a:r>
            <a:br>
              <a:rPr lang="en-US" sz="2800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endParaRPr lang="en-US" sz="2800" dirty="0">
              <a:solidFill>
                <a:srgbClr val="F8FAF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DCB272-282C-22DB-0340-02FF0B4B6E4D}"/>
              </a:ext>
            </a:extLst>
          </p:cNvPr>
          <p:cNvSpPr txBox="1"/>
          <p:nvPr/>
        </p:nvSpPr>
        <p:spPr>
          <a:xfrm>
            <a:off x="301141" y="1595352"/>
            <a:ext cx="447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  <a:latin typeface="Montserrat" pitchFamily="2" charset="0"/>
              </a:rPr>
              <a:t>What we did: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E2F322-A2EB-5B11-16A4-84EF45C76DE4}"/>
              </a:ext>
            </a:extLst>
          </p:cNvPr>
          <p:cNvSpPr txBox="1"/>
          <p:nvPr/>
        </p:nvSpPr>
        <p:spPr>
          <a:xfrm>
            <a:off x="288757" y="2285630"/>
            <a:ext cx="42258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Selected only relevant indicators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Reshaped data into country–year format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Converted all variables to numeric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Removed incomplete observations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6AB21D-D10C-1C54-8709-36187DF2A5E3}"/>
              </a:ext>
            </a:extLst>
          </p:cNvPr>
          <p:cNvSpPr txBox="1"/>
          <p:nvPr/>
        </p:nvSpPr>
        <p:spPr>
          <a:xfrm>
            <a:off x="313525" y="4527178"/>
            <a:ext cx="447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  <a:latin typeface="Montserrat" pitchFamily="2" charset="0"/>
              </a:rPr>
              <a:t>Reproducibility: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847492-01DB-09A2-B3E3-2DC1F4FF3B52}"/>
              </a:ext>
            </a:extLst>
          </p:cNvPr>
          <p:cNvSpPr txBox="1"/>
          <p:nvPr/>
        </p:nvSpPr>
        <p:spPr>
          <a:xfrm>
            <a:off x="301141" y="5217456"/>
            <a:ext cx="42258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Clean dataset saved as CSV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Model outputs and predictions saved as CSV files</a:t>
            </a:r>
          </a:p>
        </p:txBody>
      </p:sp>
    </p:spTree>
    <p:extLst>
      <p:ext uri="{BB962C8B-B14F-4D97-AF65-F5344CB8AC3E}">
        <p14:creationId xmlns:p14="http://schemas.microsoft.com/office/powerpoint/2010/main" val="756373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8000">
              <a:srgbClr val="0F172A"/>
            </a:gs>
            <a:gs pos="0">
              <a:srgbClr val="2E4682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85870B-639B-C417-C861-A105B0DFC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E330889-1384-CE3E-01EF-0F83645B4FF2}"/>
              </a:ext>
            </a:extLst>
          </p:cNvPr>
          <p:cNvSpPr/>
          <p:nvPr/>
        </p:nvSpPr>
        <p:spPr>
          <a:xfrm>
            <a:off x="4774526" y="-244649"/>
            <a:ext cx="10605849" cy="9160069"/>
          </a:xfrm>
          <a:custGeom>
            <a:avLst/>
            <a:gdLst>
              <a:gd name="connsiteX0" fmla="*/ 2759249 w 10605849"/>
              <a:gd name="connsiteY0" fmla="*/ 6210089 h 9160069"/>
              <a:gd name="connsiteX1" fmla="*/ 2188570 w 10605849"/>
              <a:gd name="connsiteY1" fmla="*/ 6884351 h 9160069"/>
              <a:gd name="connsiteX2" fmla="*/ 2759249 w 10605849"/>
              <a:gd name="connsiteY2" fmla="*/ 6625403 h 9160069"/>
              <a:gd name="connsiteX3" fmla="*/ 3329927 w 10605849"/>
              <a:gd name="connsiteY3" fmla="*/ 6884351 h 9160069"/>
              <a:gd name="connsiteX4" fmla="*/ 1379628 w 10605849"/>
              <a:gd name="connsiteY4" fmla="*/ 4580028 h 9160069"/>
              <a:gd name="connsiteX5" fmla="*/ 2485999 w 10605849"/>
              <a:gd name="connsiteY5" fmla="*/ 5082049 h 9160069"/>
              <a:gd name="connsiteX6" fmla="*/ 2759249 w 10605849"/>
              <a:gd name="connsiteY6" fmla="*/ 6210051 h 9160069"/>
              <a:gd name="connsiteX7" fmla="*/ 3032499 w 10605849"/>
              <a:gd name="connsiteY7" fmla="*/ 5082049 h 9160069"/>
              <a:gd name="connsiteX8" fmla="*/ 4138870 w 10605849"/>
              <a:gd name="connsiteY8" fmla="*/ 4580028 h 9160069"/>
              <a:gd name="connsiteX9" fmla="*/ 5245241 w 10605849"/>
              <a:gd name="connsiteY9" fmla="*/ 5082049 h 9160069"/>
              <a:gd name="connsiteX10" fmla="*/ 5468359 w 10605849"/>
              <a:gd name="connsiteY10" fmla="*/ 6003102 h 9160069"/>
              <a:gd name="connsiteX11" fmla="*/ 5691477 w 10605849"/>
              <a:gd name="connsiteY11" fmla="*/ 5082049 h 9160069"/>
              <a:gd name="connsiteX12" fmla="*/ 6797848 w 10605849"/>
              <a:gd name="connsiteY12" fmla="*/ 4580028 h 9160069"/>
              <a:gd name="connsiteX13" fmla="*/ 7904219 w 10605849"/>
              <a:gd name="connsiteY13" fmla="*/ 5082049 h 9160069"/>
              <a:gd name="connsiteX14" fmla="*/ 8177476 w 10605849"/>
              <a:gd name="connsiteY14" fmla="*/ 6210080 h 9160069"/>
              <a:gd name="connsiteX15" fmla="*/ 7411834 w 10605849"/>
              <a:gd name="connsiteY15" fmla="*/ 7114694 h 9160069"/>
              <a:gd name="connsiteX16" fmla="*/ 6183862 w 10605849"/>
              <a:gd name="connsiteY16" fmla="*/ 7114694 h 9160069"/>
              <a:gd name="connsiteX17" fmla="*/ 5468359 w 10605849"/>
              <a:gd name="connsiteY17" fmla="*/ 6269320 h 9160069"/>
              <a:gd name="connsiteX18" fmla="*/ 4752856 w 10605849"/>
              <a:gd name="connsiteY18" fmla="*/ 7114694 h 9160069"/>
              <a:gd name="connsiteX19" fmla="*/ 3837565 w 10605849"/>
              <a:gd name="connsiteY19" fmla="*/ 7114694 h 9160069"/>
              <a:gd name="connsiteX20" fmla="*/ 3865620 w 10605849"/>
              <a:gd name="connsiteY20" fmla="*/ 7127424 h 9160069"/>
              <a:gd name="connsiteX21" fmla="*/ 4138877 w 10605849"/>
              <a:gd name="connsiteY21" fmla="*/ 8255455 h 9160069"/>
              <a:gd name="connsiteX22" fmla="*/ 3373235 w 10605849"/>
              <a:gd name="connsiteY22" fmla="*/ 9160069 h 9160069"/>
              <a:gd name="connsiteX23" fmla="*/ 2145263 w 10605849"/>
              <a:gd name="connsiteY23" fmla="*/ 9160069 h 9160069"/>
              <a:gd name="connsiteX24" fmla="*/ 1379621 w 10605849"/>
              <a:gd name="connsiteY24" fmla="*/ 8255455 h 9160069"/>
              <a:gd name="connsiteX25" fmla="*/ 1652878 w 10605849"/>
              <a:gd name="connsiteY25" fmla="*/ 7127424 h 9160069"/>
              <a:gd name="connsiteX26" fmla="*/ 1680933 w 10605849"/>
              <a:gd name="connsiteY26" fmla="*/ 7114694 h 9160069"/>
              <a:gd name="connsiteX27" fmla="*/ 765642 w 10605849"/>
              <a:gd name="connsiteY27" fmla="*/ 7114694 h 9160069"/>
              <a:gd name="connsiteX28" fmla="*/ 0 w 10605849"/>
              <a:gd name="connsiteY28" fmla="*/ 6210080 h 9160069"/>
              <a:gd name="connsiteX29" fmla="*/ 273257 w 10605849"/>
              <a:gd name="connsiteY29" fmla="*/ 5082049 h 9160069"/>
              <a:gd name="connsiteX30" fmla="*/ 2646954 w 10605849"/>
              <a:gd name="connsiteY30" fmla="*/ 2290015 h 9160069"/>
              <a:gd name="connsiteX31" fmla="*/ 3753325 w 10605849"/>
              <a:gd name="connsiteY31" fmla="*/ 2792036 h 9160069"/>
              <a:gd name="connsiteX32" fmla="*/ 4026575 w 10605849"/>
              <a:gd name="connsiteY32" fmla="*/ 3920037 h 9160069"/>
              <a:gd name="connsiteX33" fmla="*/ 4299825 w 10605849"/>
              <a:gd name="connsiteY33" fmla="*/ 2792036 h 9160069"/>
              <a:gd name="connsiteX34" fmla="*/ 5406196 w 10605849"/>
              <a:gd name="connsiteY34" fmla="*/ 2290015 h 9160069"/>
              <a:gd name="connsiteX35" fmla="*/ 6512567 w 10605849"/>
              <a:gd name="connsiteY35" fmla="*/ 2792036 h 9160069"/>
              <a:gd name="connsiteX36" fmla="*/ 6735685 w 10605849"/>
              <a:gd name="connsiteY36" fmla="*/ 3713088 h 9160069"/>
              <a:gd name="connsiteX37" fmla="*/ 6958803 w 10605849"/>
              <a:gd name="connsiteY37" fmla="*/ 2792036 h 9160069"/>
              <a:gd name="connsiteX38" fmla="*/ 8065174 w 10605849"/>
              <a:gd name="connsiteY38" fmla="*/ 2290015 h 9160069"/>
              <a:gd name="connsiteX39" fmla="*/ 9171545 w 10605849"/>
              <a:gd name="connsiteY39" fmla="*/ 2792036 h 9160069"/>
              <a:gd name="connsiteX40" fmla="*/ 9444802 w 10605849"/>
              <a:gd name="connsiteY40" fmla="*/ 3920066 h 9160069"/>
              <a:gd name="connsiteX41" fmla="*/ 8679160 w 10605849"/>
              <a:gd name="connsiteY41" fmla="*/ 4824680 h 9160069"/>
              <a:gd name="connsiteX42" fmla="*/ 7451188 w 10605849"/>
              <a:gd name="connsiteY42" fmla="*/ 4824680 h 9160069"/>
              <a:gd name="connsiteX43" fmla="*/ 6735685 w 10605849"/>
              <a:gd name="connsiteY43" fmla="*/ 3979306 h 9160069"/>
              <a:gd name="connsiteX44" fmla="*/ 6020182 w 10605849"/>
              <a:gd name="connsiteY44" fmla="*/ 4824680 h 9160069"/>
              <a:gd name="connsiteX45" fmla="*/ 4792210 w 10605849"/>
              <a:gd name="connsiteY45" fmla="*/ 4824680 h 9160069"/>
              <a:gd name="connsiteX46" fmla="*/ 4026575 w 10605849"/>
              <a:gd name="connsiteY46" fmla="*/ 3920074 h 9160069"/>
              <a:gd name="connsiteX47" fmla="*/ 3260940 w 10605849"/>
              <a:gd name="connsiteY47" fmla="*/ 4824680 h 9160069"/>
              <a:gd name="connsiteX48" fmla="*/ 2032968 w 10605849"/>
              <a:gd name="connsiteY48" fmla="*/ 4824680 h 9160069"/>
              <a:gd name="connsiteX49" fmla="*/ 1267326 w 10605849"/>
              <a:gd name="connsiteY49" fmla="*/ 3920066 h 9160069"/>
              <a:gd name="connsiteX50" fmla="*/ 1540583 w 10605849"/>
              <a:gd name="connsiteY50" fmla="*/ 2792036 h 9160069"/>
              <a:gd name="connsiteX51" fmla="*/ 3808001 w 10605849"/>
              <a:gd name="connsiteY51" fmla="*/ 0 h 9160069"/>
              <a:gd name="connsiteX52" fmla="*/ 4914372 w 10605849"/>
              <a:gd name="connsiteY52" fmla="*/ 502021 h 9160069"/>
              <a:gd name="connsiteX53" fmla="*/ 5187622 w 10605849"/>
              <a:gd name="connsiteY53" fmla="*/ 1630023 h 9160069"/>
              <a:gd name="connsiteX54" fmla="*/ 5460872 w 10605849"/>
              <a:gd name="connsiteY54" fmla="*/ 502021 h 9160069"/>
              <a:gd name="connsiteX55" fmla="*/ 6567243 w 10605849"/>
              <a:gd name="connsiteY55" fmla="*/ 0 h 9160069"/>
              <a:gd name="connsiteX56" fmla="*/ 7673614 w 10605849"/>
              <a:gd name="connsiteY56" fmla="*/ 502021 h 9160069"/>
              <a:gd name="connsiteX57" fmla="*/ 7896732 w 10605849"/>
              <a:gd name="connsiteY57" fmla="*/ 1423074 h 9160069"/>
              <a:gd name="connsiteX58" fmla="*/ 8119850 w 10605849"/>
              <a:gd name="connsiteY58" fmla="*/ 502021 h 9160069"/>
              <a:gd name="connsiteX59" fmla="*/ 9226221 w 10605849"/>
              <a:gd name="connsiteY59" fmla="*/ 0 h 9160069"/>
              <a:gd name="connsiteX60" fmla="*/ 10332592 w 10605849"/>
              <a:gd name="connsiteY60" fmla="*/ 502021 h 9160069"/>
              <a:gd name="connsiteX61" fmla="*/ 10605849 w 10605849"/>
              <a:gd name="connsiteY61" fmla="*/ 1630052 h 9160069"/>
              <a:gd name="connsiteX62" fmla="*/ 9840207 w 10605849"/>
              <a:gd name="connsiteY62" fmla="*/ 2534666 h 9160069"/>
              <a:gd name="connsiteX63" fmla="*/ 8612235 w 10605849"/>
              <a:gd name="connsiteY63" fmla="*/ 2534666 h 9160069"/>
              <a:gd name="connsiteX64" fmla="*/ 7896732 w 10605849"/>
              <a:gd name="connsiteY64" fmla="*/ 1689292 h 9160069"/>
              <a:gd name="connsiteX65" fmla="*/ 7181229 w 10605849"/>
              <a:gd name="connsiteY65" fmla="*/ 2534666 h 9160069"/>
              <a:gd name="connsiteX66" fmla="*/ 5953257 w 10605849"/>
              <a:gd name="connsiteY66" fmla="*/ 2534666 h 9160069"/>
              <a:gd name="connsiteX67" fmla="*/ 5187622 w 10605849"/>
              <a:gd name="connsiteY67" fmla="*/ 1630061 h 9160069"/>
              <a:gd name="connsiteX68" fmla="*/ 4421987 w 10605849"/>
              <a:gd name="connsiteY68" fmla="*/ 2534666 h 9160069"/>
              <a:gd name="connsiteX69" fmla="*/ 3194015 w 10605849"/>
              <a:gd name="connsiteY69" fmla="*/ 2534666 h 9160069"/>
              <a:gd name="connsiteX70" fmla="*/ 2428373 w 10605849"/>
              <a:gd name="connsiteY70" fmla="*/ 1630052 h 9160069"/>
              <a:gd name="connsiteX71" fmla="*/ 2701630 w 10605849"/>
              <a:gd name="connsiteY71" fmla="*/ 502021 h 916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0605849" h="9160069">
                <a:moveTo>
                  <a:pt x="2759249" y="6210089"/>
                </a:moveTo>
                <a:lnTo>
                  <a:pt x="2188570" y="6884351"/>
                </a:lnTo>
                <a:lnTo>
                  <a:pt x="2759249" y="6625403"/>
                </a:lnTo>
                <a:lnTo>
                  <a:pt x="3329927" y="6884351"/>
                </a:lnTo>
                <a:close/>
                <a:moveTo>
                  <a:pt x="1379628" y="4580028"/>
                </a:moveTo>
                <a:lnTo>
                  <a:pt x="2485999" y="5082049"/>
                </a:lnTo>
                <a:lnTo>
                  <a:pt x="2759249" y="6210051"/>
                </a:lnTo>
                <a:lnTo>
                  <a:pt x="3032499" y="5082049"/>
                </a:lnTo>
                <a:lnTo>
                  <a:pt x="4138870" y="4580028"/>
                </a:lnTo>
                <a:lnTo>
                  <a:pt x="5245241" y="5082049"/>
                </a:lnTo>
                <a:lnTo>
                  <a:pt x="5468359" y="6003102"/>
                </a:lnTo>
                <a:lnTo>
                  <a:pt x="5691477" y="5082049"/>
                </a:lnTo>
                <a:lnTo>
                  <a:pt x="6797848" y="4580028"/>
                </a:lnTo>
                <a:lnTo>
                  <a:pt x="7904219" y="5082049"/>
                </a:lnTo>
                <a:lnTo>
                  <a:pt x="8177476" y="6210080"/>
                </a:lnTo>
                <a:lnTo>
                  <a:pt x="7411834" y="7114694"/>
                </a:lnTo>
                <a:lnTo>
                  <a:pt x="6183862" y="7114694"/>
                </a:lnTo>
                <a:lnTo>
                  <a:pt x="5468359" y="6269320"/>
                </a:lnTo>
                <a:lnTo>
                  <a:pt x="4752856" y="7114694"/>
                </a:lnTo>
                <a:lnTo>
                  <a:pt x="3837565" y="7114694"/>
                </a:lnTo>
                <a:lnTo>
                  <a:pt x="3865620" y="7127424"/>
                </a:lnTo>
                <a:lnTo>
                  <a:pt x="4138877" y="8255455"/>
                </a:lnTo>
                <a:lnTo>
                  <a:pt x="3373235" y="9160069"/>
                </a:lnTo>
                <a:lnTo>
                  <a:pt x="2145263" y="9160069"/>
                </a:lnTo>
                <a:lnTo>
                  <a:pt x="1379621" y="8255455"/>
                </a:lnTo>
                <a:lnTo>
                  <a:pt x="1652878" y="7127424"/>
                </a:lnTo>
                <a:lnTo>
                  <a:pt x="1680933" y="7114694"/>
                </a:lnTo>
                <a:lnTo>
                  <a:pt x="765642" y="7114694"/>
                </a:lnTo>
                <a:lnTo>
                  <a:pt x="0" y="6210080"/>
                </a:lnTo>
                <a:lnTo>
                  <a:pt x="273257" y="5082049"/>
                </a:lnTo>
                <a:close/>
                <a:moveTo>
                  <a:pt x="2646954" y="2290015"/>
                </a:moveTo>
                <a:lnTo>
                  <a:pt x="3753325" y="2792036"/>
                </a:lnTo>
                <a:lnTo>
                  <a:pt x="4026575" y="3920037"/>
                </a:lnTo>
                <a:lnTo>
                  <a:pt x="4299825" y="2792036"/>
                </a:lnTo>
                <a:lnTo>
                  <a:pt x="5406196" y="2290015"/>
                </a:lnTo>
                <a:lnTo>
                  <a:pt x="6512567" y="2792036"/>
                </a:lnTo>
                <a:lnTo>
                  <a:pt x="6735685" y="3713088"/>
                </a:lnTo>
                <a:lnTo>
                  <a:pt x="6958803" y="2792036"/>
                </a:lnTo>
                <a:lnTo>
                  <a:pt x="8065174" y="2290015"/>
                </a:lnTo>
                <a:lnTo>
                  <a:pt x="9171545" y="2792036"/>
                </a:lnTo>
                <a:lnTo>
                  <a:pt x="9444802" y="3920066"/>
                </a:lnTo>
                <a:lnTo>
                  <a:pt x="8679160" y="4824680"/>
                </a:lnTo>
                <a:lnTo>
                  <a:pt x="7451188" y="4824680"/>
                </a:lnTo>
                <a:lnTo>
                  <a:pt x="6735685" y="3979306"/>
                </a:lnTo>
                <a:lnTo>
                  <a:pt x="6020182" y="4824680"/>
                </a:lnTo>
                <a:lnTo>
                  <a:pt x="4792210" y="4824680"/>
                </a:lnTo>
                <a:lnTo>
                  <a:pt x="4026575" y="3920074"/>
                </a:lnTo>
                <a:lnTo>
                  <a:pt x="3260940" y="4824680"/>
                </a:lnTo>
                <a:lnTo>
                  <a:pt x="2032968" y="4824680"/>
                </a:lnTo>
                <a:lnTo>
                  <a:pt x="1267326" y="3920066"/>
                </a:lnTo>
                <a:lnTo>
                  <a:pt x="1540583" y="2792036"/>
                </a:lnTo>
                <a:close/>
                <a:moveTo>
                  <a:pt x="3808001" y="0"/>
                </a:moveTo>
                <a:lnTo>
                  <a:pt x="4914372" y="502021"/>
                </a:lnTo>
                <a:lnTo>
                  <a:pt x="5187622" y="1630023"/>
                </a:lnTo>
                <a:lnTo>
                  <a:pt x="5460872" y="502021"/>
                </a:lnTo>
                <a:lnTo>
                  <a:pt x="6567243" y="0"/>
                </a:lnTo>
                <a:lnTo>
                  <a:pt x="7673614" y="502021"/>
                </a:lnTo>
                <a:lnTo>
                  <a:pt x="7896732" y="1423074"/>
                </a:lnTo>
                <a:lnTo>
                  <a:pt x="8119850" y="502021"/>
                </a:lnTo>
                <a:lnTo>
                  <a:pt x="9226221" y="0"/>
                </a:lnTo>
                <a:lnTo>
                  <a:pt x="10332592" y="502021"/>
                </a:lnTo>
                <a:lnTo>
                  <a:pt x="10605849" y="1630052"/>
                </a:lnTo>
                <a:lnTo>
                  <a:pt x="9840207" y="2534666"/>
                </a:lnTo>
                <a:lnTo>
                  <a:pt x="8612235" y="2534666"/>
                </a:lnTo>
                <a:lnTo>
                  <a:pt x="7896732" y="1689292"/>
                </a:lnTo>
                <a:lnTo>
                  <a:pt x="7181229" y="2534666"/>
                </a:lnTo>
                <a:lnTo>
                  <a:pt x="5953257" y="2534666"/>
                </a:lnTo>
                <a:lnTo>
                  <a:pt x="5187622" y="1630061"/>
                </a:lnTo>
                <a:lnTo>
                  <a:pt x="4421987" y="2534666"/>
                </a:lnTo>
                <a:lnTo>
                  <a:pt x="3194015" y="2534666"/>
                </a:lnTo>
                <a:lnTo>
                  <a:pt x="2428373" y="1630052"/>
                </a:lnTo>
                <a:lnTo>
                  <a:pt x="2701630" y="502021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innerShdw blurRad="558800" dist="558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152051A-8456-395F-95EB-5FAE263960E8}"/>
              </a:ext>
            </a:extLst>
          </p:cNvPr>
          <p:cNvSpPr txBox="1"/>
          <p:nvPr/>
        </p:nvSpPr>
        <p:spPr>
          <a:xfrm>
            <a:off x="288758" y="320299"/>
            <a:ext cx="691086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59E0B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Part 3.1:</a:t>
            </a:r>
            <a:r>
              <a:rPr lang="en-US" sz="2800" b="1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  <a:t> Exploratory Analysis: Context</a:t>
            </a:r>
            <a:br>
              <a:rPr lang="en-US" sz="2800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endParaRPr lang="en-US" sz="2800" dirty="0">
              <a:solidFill>
                <a:srgbClr val="F8FAF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70A024-6A48-9D88-12FC-B27A635919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84" y="1051290"/>
            <a:ext cx="8229617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463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8000">
              <a:srgbClr val="0F172A"/>
            </a:gs>
            <a:gs pos="0">
              <a:srgbClr val="2E4682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5CE0DD-FB3B-8BFA-91F9-A2CFBC911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3367B5B4-A954-7997-38FC-8062E3A06B94}"/>
              </a:ext>
            </a:extLst>
          </p:cNvPr>
          <p:cNvSpPr/>
          <p:nvPr/>
        </p:nvSpPr>
        <p:spPr>
          <a:xfrm>
            <a:off x="4774526" y="-244649"/>
            <a:ext cx="10605849" cy="9160069"/>
          </a:xfrm>
          <a:custGeom>
            <a:avLst/>
            <a:gdLst>
              <a:gd name="connsiteX0" fmla="*/ 2759249 w 10605849"/>
              <a:gd name="connsiteY0" fmla="*/ 6210089 h 9160069"/>
              <a:gd name="connsiteX1" fmla="*/ 2188570 w 10605849"/>
              <a:gd name="connsiteY1" fmla="*/ 6884351 h 9160069"/>
              <a:gd name="connsiteX2" fmla="*/ 2759249 w 10605849"/>
              <a:gd name="connsiteY2" fmla="*/ 6625403 h 9160069"/>
              <a:gd name="connsiteX3" fmla="*/ 3329927 w 10605849"/>
              <a:gd name="connsiteY3" fmla="*/ 6884351 h 9160069"/>
              <a:gd name="connsiteX4" fmla="*/ 1379628 w 10605849"/>
              <a:gd name="connsiteY4" fmla="*/ 4580028 h 9160069"/>
              <a:gd name="connsiteX5" fmla="*/ 2485999 w 10605849"/>
              <a:gd name="connsiteY5" fmla="*/ 5082049 h 9160069"/>
              <a:gd name="connsiteX6" fmla="*/ 2759249 w 10605849"/>
              <a:gd name="connsiteY6" fmla="*/ 6210051 h 9160069"/>
              <a:gd name="connsiteX7" fmla="*/ 3032499 w 10605849"/>
              <a:gd name="connsiteY7" fmla="*/ 5082049 h 9160069"/>
              <a:gd name="connsiteX8" fmla="*/ 4138870 w 10605849"/>
              <a:gd name="connsiteY8" fmla="*/ 4580028 h 9160069"/>
              <a:gd name="connsiteX9" fmla="*/ 5245241 w 10605849"/>
              <a:gd name="connsiteY9" fmla="*/ 5082049 h 9160069"/>
              <a:gd name="connsiteX10" fmla="*/ 5468359 w 10605849"/>
              <a:gd name="connsiteY10" fmla="*/ 6003102 h 9160069"/>
              <a:gd name="connsiteX11" fmla="*/ 5691477 w 10605849"/>
              <a:gd name="connsiteY11" fmla="*/ 5082049 h 9160069"/>
              <a:gd name="connsiteX12" fmla="*/ 6797848 w 10605849"/>
              <a:gd name="connsiteY12" fmla="*/ 4580028 h 9160069"/>
              <a:gd name="connsiteX13" fmla="*/ 7904219 w 10605849"/>
              <a:gd name="connsiteY13" fmla="*/ 5082049 h 9160069"/>
              <a:gd name="connsiteX14" fmla="*/ 8177476 w 10605849"/>
              <a:gd name="connsiteY14" fmla="*/ 6210080 h 9160069"/>
              <a:gd name="connsiteX15" fmla="*/ 7411834 w 10605849"/>
              <a:gd name="connsiteY15" fmla="*/ 7114694 h 9160069"/>
              <a:gd name="connsiteX16" fmla="*/ 6183862 w 10605849"/>
              <a:gd name="connsiteY16" fmla="*/ 7114694 h 9160069"/>
              <a:gd name="connsiteX17" fmla="*/ 5468359 w 10605849"/>
              <a:gd name="connsiteY17" fmla="*/ 6269320 h 9160069"/>
              <a:gd name="connsiteX18" fmla="*/ 4752856 w 10605849"/>
              <a:gd name="connsiteY18" fmla="*/ 7114694 h 9160069"/>
              <a:gd name="connsiteX19" fmla="*/ 3837565 w 10605849"/>
              <a:gd name="connsiteY19" fmla="*/ 7114694 h 9160069"/>
              <a:gd name="connsiteX20" fmla="*/ 3865620 w 10605849"/>
              <a:gd name="connsiteY20" fmla="*/ 7127424 h 9160069"/>
              <a:gd name="connsiteX21" fmla="*/ 4138877 w 10605849"/>
              <a:gd name="connsiteY21" fmla="*/ 8255455 h 9160069"/>
              <a:gd name="connsiteX22" fmla="*/ 3373235 w 10605849"/>
              <a:gd name="connsiteY22" fmla="*/ 9160069 h 9160069"/>
              <a:gd name="connsiteX23" fmla="*/ 2145263 w 10605849"/>
              <a:gd name="connsiteY23" fmla="*/ 9160069 h 9160069"/>
              <a:gd name="connsiteX24" fmla="*/ 1379621 w 10605849"/>
              <a:gd name="connsiteY24" fmla="*/ 8255455 h 9160069"/>
              <a:gd name="connsiteX25" fmla="*/ 1652878 w 10605849"/>
              <a:gd name="connsiteY25" fmla="*/ 7127424 h 9160069"/>
              <a:gd name="connsiteX26" fmla="*/ 1680933 w 10605849"/>
              <a:gd name="connsiteY26" fmla="*/ 7114694 h 9160069"/>
              <a:gd name="connsiteX27" fmla="*/ 765642 w 10605849"/>
              <a:gd name="connsiteY27" fmla="*/ 7114694 h 9160069"/>
              <a:gd name="connsiteX28" fmla="*/ 0 w 10605849"/>
              <a:gd name="connsiteY28" fmla="*/ 6210080 h 9160069"/>
              <a:gd name="connsiteX29" fmla="*/ 273257 w 10605849"/>
              <a:gd name="connsiteY29" fmla="*/ 5082049 h 9160069"/>
              <a:gd name="connsiteX30" fmla="*/ 2646954 w 10605849"/>
              <a:gd name="connsiteY30" fmla="*/ 2290015 h 9160069"/>
              <a:gd name="connsiteX31" fmla="*/ 3753325 w 10605849"/>
              <a:gd name="connsiteY31" fmla="*/ 2792036 h 9160069"/>
              <a:gd name="connsiteX32" fmla="*/ 4026575 w 10605849"/>
              <a:gd name="connsiteY32" fmla="*/ 3920037 h 9160069"/>
              <a:gd name="connsiteX33" fmla="*/ 4299825 w 10605849"/>
              <a:gd name="connsiteY33" fmla="*/ 2792036 h 9160069"/>
              <a:gd name="connsiteX34" fmla="*/ 5406196 w 10605849"/>
              <a:gd name="connsiteY34" fmla="*/ 2290015 h 9160069"/>
              <a:gd name="connsiteX35" fmla="*/ 6512567 w 10605849"/>
              <a:gd name="connsiteY35" fmla="*/ 2792036 h 9160069"/>
              <a:gd name="connsiteX36" fmla="*/ 6735685 w 10605849"/>
              <a:gd name="connsiteY36" fmla="*/ 3713088 h 9160069"/>
              <a:gd name="connsiteX37" fmla="*/ 6958803 w 10605849"/>
              <a:gd name="connsiteY37" fmla="*/ 2792036 h 9160069"/>
              <a:gd name="connsiteX38" fmla="*/ 8065174 w 10605849"/>
              <a:gd name="connsiteY38" fmla="*/ 2290015 h 9160069"/>
              <a:gd name="connsiteX39" fmla="*/ 9171545 w 10605849"/>
              <a:gd name="connsiteY39" fmla="*/ 2792036 h 9160069"/>
              <a:gd name="connsiteX40" fmla="*/ 9444802 w 10605849"/>
              <a:gd name="connsiteY40" fmla="*/ 3920066 h 9160069"/>
              <a:gd name="connsiteX41" fmla="*/ 8679160 w 10605849"/>
              <a:gd name="connsiteY41" fmla="*/ 4824680 h 9160069"/>
              <a:gd name="connsiteX42" fmla="*/ 7451188 w 10605849"/>
              <a:gd name="connsiteY42" fmla="*/ 4824680 h 9160069"/>
              <a:gd name="connsiteX43" fmla="*/ 6735685 w 10605849"/>
              <a:gd name="connsiteY43" fmla="*/ 3979306 h 9160069"/>
              <a:gd name="connsiteX44" fmla="*/ 6020182 w 10605849"/>
              <a:gd name="connsiteY44" fmla="*/ 4824680 h 9160069"/>
              <a:gd name="connsiteX45" fmla="*/ 4792210 w 10605849"/>
              <a:gd name="connsiteY45" fmla="*/ 4824680 h 9160069"/>
              <a:gd name="connsiteX46" fmla="*/ 4026575 w 10605849"/>
              <a:gd name="connsiteY46" fmla="*/ 3920074 h 9160069"/>
              <a:gd name="connsiteX47" fmla="*/ 3260940 w 10605849"/>
              <a:gd name="connsiteY47" fmla="*/ 4824680 h 9160069"/>
              <a:gd name="connsiteX48" fmla="*/ 2032968 w 10605849"/>
              <a:gd name="connsiteY48" fmla="*/ 4824680 h 9160069"/>
              <a:gd name="connsiteX49" fmla="*/ 1267326 w 10605849"/>
              <a:gd name="connsiteY49" fmla="*/ 3920066 h 9160069"/>
              <a:gd name="connsiteX50" fmla="*/ 1540583 w 10605849"/>
              <a:gd name="connsiteY50" fmla="*/ 2792036 h 9160069"/>
              <a:gd name="connsiteX51" fmla="*/ 3808001 w 10605849"/>
              <a:gd name="connsiteY51" fmla="*/ 0 h 9160069"/>
              <a:gd name="connsiteX52" fmla="*/ 4914372 w 10605849"/>
              <a:gd name="connsiteY52" fmla="*/ 502021 h 9160069"/>
              <a:gd name="connsiteX53" fmla="*/ 5187622 w 10605849"/>
              <a:gd name="connsiteY53" fmla="*/ 1630023 h 9160069"/>
              <a:gd name="connsiteX54" fmla="*/ 5460872 w 10605849"/>
              <a:gd name="connsiteY54" fmla="*/ 502021 h 9160069"/>
              <a:gd name="connsiteX55" fmla="*/ 6567243 w 10605849"/>
              <a:gd name="connsiteY55" fmla="*/ 0 h 9160069"/>
              <a:gd name="connsiteX56" fmla="*/ 7673614 w 10605849"/>
              <a:gd name="connsiteY56" fmla="*/ 502021 h 9160069"/>
              <a:gd name="connsiteX57" fmla="*/ 7896732 w 10605849"/>
              <a:gd name="connsiteY57" fmla="*/ 1423074 h 9160069"/>
              <a:gd name="connsiteX58" fmla="*/ 8119850 w 10605849"/>
              <a:gd name="connsiteY58" fmla="*/ 502021 h 9160069"/>
              <a:gd name="connsiteX59" fmla="*/ 9226221 w 10605849"/>
              <a:gd name="connsiteY59" fmla="*/ 0 h 9160069"/>
              <a:gd name="connsiteX60" fmla="*/ 10332592 w 10605849"/>
              <a:gd name="connsiteY60" fmla="*/ 502021 h 9160069"/>
              <a:gd name="connsiteX61" fmla="*/ 10605849 w 10605849"/>
              <a:gd name="connsiteY61" fmla="*/ 1630052 h 9160069"/>
              <a:gd name="connsiteX62" fmla="*/ 9840207 w 10605849"/>
              <a:gd name="connsiteY62" fmla="*/ 2534666 h 9160069"/>
              <a:gd name="connsiteX63" fmla="*/ 8612235 w 10605849"/>
              <a:gd name="connsiteY63" fmla="*/ 2534666 h 9160069"/>
              <a:gd name="connsiteX64" fmla="*/ 7896732 w 10605849"/>
              <a:gd name="connsiteY64" fmla="*/ 1689292 h 9160069"/>
              <a:gd name="connsiteX65" fmla="*/ 7181229 w 10605849"/>
              <a:gd name="connsiteY65" fmla="*/ 2534666 h 9160069"/>
              <a:gd name="connsiteX66" fmla="*/ 5953257 w 10605849"/>
              <a:gd name="connsiteY66" fmla="*/ 2534666 h 9160069"/>
              <a:gd name="connsiteX67" fmla="*/ 5187622 w 10605849"/>
              <a:gd name="connsiteY67" fmla="*/ 1630061 h 9160069"/>
              <a:gd name="connsiteX68" fmla="*/ 4421987 w 10605849"/>
              <a:gd name="connsiteY68" fmla="*/ 2534666 h 9160069"/>
              <a:gd name="connsiteX69" fmla="*/ 3194015 w 10605849"/>
              <a:gd name="connsiteY69" fmla="*/ 2534666 h 9160069"/>
              <a:gd name="connsiteX70" fmla="*/ 2428373 w 10605849"/>
              <a:gd name="connsiteY70" fmla="*/ 1630052 h 9160069"/>
              <a:gd name="connsiteX71" fmla="*/ 2701630 w 10605849"/>
              <a:gd name="connsiteY71" fmla="*/ 502021 h 916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0605849" h="9160069">
                <a:moveTo>
                  <a:pt x="2759249" y="6210089"/>
                </a:moveTo>
                <a:lnTo>
                  <a:pt x="2188570" y="6884351"/>
                </a:lnTo>
                <a:lnTo>
                  <a:pt x="2759249" y="6625403"/>
                </a:lnTo>
                <a:lnTo>
                  <a:pt x="3329927" y="6884351"/>
                </a:lnTo>
                <a:close/>
                <a:moveTo>
                  <a:pt x="1379628" y="4580028"/>
                </a:moveTo>
                <a:lnTo>
                  <a:pt x="2485999" y="5082049"/>
                </a:lnTo>
                <a:lnTo>
                  <a:pt x="2759249" y="6210051"/>
                </a:lnTo>
                <a:lnTo>
                  <a:pt x="3032499" y="5082049"/>
                </a:lnTo>
                <a:lnTo>
                  <a:pt x="4138870" y="4580028"/>
                </a:lnTo>
                <a:lnTo>
                  <a:pt x="5245241" y="5082049"/>
                </a:lnTo>
                <a:lnTo>
                  <a:pt x="5468359" y="6003102"/>
                </a:lnTo>
                <a:lnTo>
                  <a:pt x="5691477" y="5082049"/>
                </a:lnTo>
                <a:lnTo>
                  <a:pt x="6797848" y="4580028"/>
                </a:lnTo>
                <a:lnTo>
                  <a:pt x="7904219" y="5082049"/>
                </a:lnTo>
                <a:lnTo>
                  <a:pt x="8177476" y="6210080"/>
                </a:lnTo>
                <a:lnTo>
                  <a:pt x="7411834" y="7114694"/>
                </a:lnTo>
                <a:lnTo>
                  <a:pt x="6183862" y="7114694"/>
                </a:lnTo>
                <a:lnTo>
                  <a:pt x="5468359" y="6269320"/>
                </a:lnTo>
                <a:lnTo>
                  <a:pt x="4752856" y="7114694"/>
                </a:lnTo>
                <a:lnTo>
                  <a:pt x="3837565" y="7114694"/>
                </a:lnTo>
                <a:lnTo>
                  <a:pt x="3865620" y="7127424"/>
                </a:lnTo>
                <a:lnTo>
                  <a:pt x="4138877" y="8255455"/>
                </a:lnTo>
                <a:lnTo>
                  <a:pt x="3373235" y="9160069"/>
                </a:lnTo>
                <a:lnTo>
                  <a:pt x="2145263" y="9160069"/>
                </a:lnTo>
                <a:lnTo>
                  <a:pt x="1379621" y="8255455"/>
                </a:lnTo>
                <a:lnTo>
                  <a:pt x="1652878" y="7127424"/>
                </a:lnTo>
                <a:lnTo>
                  <a:pt x="1680933" y="7114694"/>
                </a:lnTo>
                <a:lnTo>
                  <a:pt x="765642" y="7114694"/>
                </a:lnTo>
                <a:lnTo>
                  <a:pt x="0" y="6210080"/>
                </a:lnTo>
                <a:lnTo>
                  <a:pt x="273257" y="5082049"/>
                </a:lnTo>
                <a:close/>
                <a:moveTo>
                  <a:pt x="2646954" y="2290015"/>
                </a:moveTo>
                <a:lnTo>
                  <a:pt x="3753325" y="2792036"/>
                </a:lnTo>
                <a:lnTo>
                  <a:pt x="4026575" y="3920037"/>
                </a:lnTo>
                <a:lnTo>
                  <a:pt x="4299825" y="2792036"/>
                </a:lnTo>
                <a:lnTo>
                  <a:pt x="5406196" y="2290015"/>
                </a:lnTo>
                <a:lnTo>
                  <a:pt x="6512567" y="2792036"/>
                </a:lnTo>
                <a:lnTo>
                  <a:pt x="6735685" y="3713088"/>
                </a:lnTo>
                <a:lnTo>
                  <a:pt x="6958803" y="2792036"/>
                </a:lnTo>
                <a:lnTo>
                  <a:pt x="8065174" y="2290015"/>
                </a:lnTo>
                <a:lnTo>
                  <a:pt x="9171545" y="2792036"/>
                </a:lnTo>
                <a:lnTo>
                  <a:pt x="9444802" y="3920066"/>
                </a:lnTo>
                <a:lnTo>
                  <a:pt x="8679160" y="4824680"/>
                </a:lnTo>
                <a:lnTo>
                  <a:pt x="7451188" y="4824680"/>
                </a:lnTo>
                <a:lnTo>
                  <a:pt x="6735685" y="3979306"/>
                </a:lnTo>
                <a:lnTo>
                  <a:pt x="6020182" y="4824680"/>
                </a:lnTo>
                <a:lnTo>
                  <a:pt x="4792210" y="4824680"/>
                </a:lnTo>
                <a:lnTo>
                  <a:pt x="4026575" y="3920074"/>
                </a:lnTo>
                <a:lnTo>
                  <a:pt x="3260940" y="4824680"/>
                </a:lnTo>
                <a:lnTo>
                  <a:pt x="2032968" y="4824680"/>
                </a:lnTo>
                <a:lnTo>
                  <a:pt x="1267326" y="3920066"/>
                </a:lnTo>
                <a:lnTo>
                  <a:pt x="1540583" y="2792036"/>
                </a:lnTo>
                <a:close/>
                <a:moveTo>
                  <a:pt x="3808001" y="0"/>
                </a:moveTo>
                <a:lnTo>
                  <a:pt x="4914372" y="502021"/>
                </a:lnTo>
                <a:lnTo>
                  <a:pt x="5187622" y="1630023"/>
                </a:lnTo>
                <a:lnTo>
                  <a:pt x="5460872" y="502021"/>
                </a:lnTo>
                <a:lnTo>
                  <a:pt x="6567243" y="0"/>
                </a:lnTo>
                <a:lnTo>
                  <a:pt x="7673614" y="502021"/>
                </a:lnTo>
                <a:lnTo>
                  <a:pt x="7896732" y="1423074"/>
                </a:lnTo>
                <a:lnTo>
                  <a:pt x="8119850" y="502021"/>
                </a:lnTo>
                <a:lnTo>
                  <a:pt x="9226221" y="0"/>
                </a:lnTo>
                <a:lnTo>
                  <a:pt x="10332592" y="502021"/>
                </a:lnTo>
                <a:lnTo>
                  <a:pt x="10605849" y="1630052"/>
                </a:lnTo>
                <a:lnTo>
                  <a:pt x="9840207" y="2534666"/>
                </a:lnTo>
                <a:lnTo>
                  <a:pt x="8612235" y="2534666"/>
                </a:lnTo>
                <a:lnTo>
                  <a:pt x="7896732" y="1689292"/>
                </a:lnTo>
                <a:lnTo>
                  <a:pt x="7181229" y="2534666"/>
                </a:lnTo>
                <a:lnTo>
                  <a:pt x="5953257" y="2534666"/>
                </a:lnTo>
                <a:lnTo>
                  <a:pt x="5187622" y="1630061"/>
                </a:lnTo>
                <a:lnTo>
                  <a:pt x="4421987" y="2534666"/>
                </a:lnTo>
                <a:lnTo>
                  <a:pt x="3194015" y="2534666"/>
                </a:lnTo>
                <a:lnTo>
                  <a:pt x="2428373" y="1630052"/>
                </a:lnTo>
                <a:lnTo>
                  <a:pt x="2701630" y="502021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innerShdw blurRad="558800" dist="558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55841B-A649-BFBC-7B3B-E5A37113C01E}"/>
              </a:ext>
            </a:extLst>
          </p:cNvPr>
          <p:cNvSpPr txBox="1"/>
          <p:nvPr/>
        </p:nvSpPr>
        <p:spPr>
          <a:xfrm>
            <a:off x="288758" y="320299"/>
            <a:ext cx="68932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59E0B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Part 3.1:</a:t>
            </a:r>
            <a:r>
              <a:rPr lang="en-US" sz="2800" b="1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  <a:t> Exploratory Analysis: Context</a:t>
            </a:r>
            <a:br>
              <a:rPr lang="en-US" sz="2800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endParaRPr lang="en-US" sz="2800" dirty="0">
              <a:solidFill>
                <a:srgbClr val="F8FAF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43977D-9497-7222-09C3-3C97A07BC73F}"/>
              </a:ext>
            </a:extLst>
          </p:cNvPr>
          <p:cNvSpPr txBox="1"/>
          <p:nvPr/>
        </p:nvSpPr>
        <p:spPr>
          <a:xfrm>
            <a:off x="301141" y="1595352"/>
            <a:ext cx="447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  <a:latin typeface="Montserrat" pitchFamily="2" charset="0"/>
              </a:rPr>
              <a:t>What the plot shows: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20E8D4-29B8-95ED-FE84-8ED73C14C6A1}"/>
              </a:ext>
            </a:extLst>
          </p:cNvPr>
          <p:cNvSpPr txBox="1"/>
          <p:nvPr/>
        </p:nvSpPr>
        <p:spPr>
          <a:xfrm>
            <a:off x="288757" y="2285630"/>
            <a:ext cx="42258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Global average education spending is relatively stable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Jordan’s spending is:</a:t>
            </a:r>
          </a:p>
          <a:p>
            <a:pPr marL="800100" lvl="1" indent="-342900">
              <a:buAutoNum type="arabicPeriod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Lower than the global average</a:t>
            </a:r>
          </a:p>
          <a:p>
            <a:pPr marL="800100" lvl="1" indent="-342900">
              <a:buAutoNum type="arabicPeriod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More volatile over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5CA02D-3874-4618-8FF2-B0F1846C74B6}"/>
              </a:ext>
            </a:extLst>
          </p:cNvPr>
          <p:cNvSpPr txBox="1"/>
          <p:nvPr/>
        </p:nvSpPr>
        <p:spPr>
          <a:xfrm>
            <a:off x="313525" y="4527178"/>
            <a:ext cx="447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  <a:latin typeface="Montserrat" pitchFamily="2" charset="0"/>
              </a:rPr>
              <a:t>Why this plot exists: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4D6CB8-F647-2C61-CE7C-38BDC43DFD54}"/>
              </a:ext>
            </a:extLst>
          </p:cNvPr>
          <p:cNvSpPr txBox="1"/>
          <p:nvPr/>
        </p:nvSpPr>
        <p:spPr>
          <a:xfrm>
            <a:off x="301141" y="5217456"/>
            <a:ext cx="42258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Provides context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Highlights cross-country differences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Motivates a global rather than country-specific analysis</a:t>
            </a:r>
          </a:p>
        </p:txBody>
      </p:sp>
    </p:spTree>
    <p:extLst>
      <p:ext uri="{BB962C8B-B14F-4D97-AF65-F5344CB8AC3E}">
        <p14:creationId xmlns:p14="http://schemas.microsoft.com/office/powerpoint/2010/main" val="992909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8000">
              <a:srgbClr val="0F172A"/>
            </a:gs>
            <a:gs pos="0">
              <a:srgbClr val="2E4682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498070-7ACB-9347-D826-AFB0DE53A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19FD8CE-AA4A-8D84-E11B-E931584924A8}"/>
              </a:ext>
            </a:extLst>
          </p:cNvPr>
          <p:cNvSpPr/>
          <p:nvPr/>
        </p:nvSpPr>
        <p:spPr>
          <a:xfrm>
            <a:off x="4774526" y="-244649"/>
            <a:ext cx="10605849" cy="9160069"/>
          </a:xfrm>
          <a:custGeom>
            <a:avLst/>
            <a:gdLst>
              <a:gd name="connsiteX0" fmla="*/ 2759249 w 10605849"/>
              <a:gd name="connsiteY0" fmla="*/ 6210089 h 9160069"/>
              <a:gd name="connsiteX1" fmla="*/ 2188570 w 10605849"/>
              <a:gd name="connsiteY1" fmla="*/ 6884351 h 9160069"/>
              <a:gd name="connsiteX2" fmla="*/ 2759249 w 10605849"/>
              <a:gd name="connsiteY2" fmla="*/ 6625403 h 9160069"/>
              <a:gd name="connsiteX3" fmla="*/ 3329927 w 10605849"/>
              <a:gd name="connsiteY3" fmla="*/ 6884351 h 9160069"/>
              <a:gd name="connsiteX4" fmla="*/ 1379628 w 10605849"/>
              <a:gd name="connsiteY4" fmla="*/ 4580028 h 9160069"/>
              <a:gd name="connsiteX5" fmla="*/ 2485999 w 10605849"/>
              <a:gd name="connsiteY5" fmla="*/ 5082049 h 9160069"/>
              <a:gd name="connsiteX6" fmla="*/ 2759249 w 10605849"/>
              <a:gd name="connsiteY6" fmla="*/ 6210051 h 9160069"/>
              <a:gd name="connsiteX7" fmla="*/ 3032499 w 10605849"/>
              <a:gd name="connsiteY7" fmla="*/ 5082049 h 9160069"/>
              <a:gd name="connsiteX8" fmla="*/ 4138870 w 10605849"/>
              <a:gd name="connsiteY8" fmla="*/ 4580028 h 9160069"/>
              <a:gd name="connsiteX9" fmla="*/ 5245241 w 10605849"/>
              <a:gd name="connsiteY9" fmla="*/ 5082049 h 9160069"/>
              <a:gd name="connsiteX10" fmla="*/ 5468359 w 10605849"/>
              <a:gd name="connsiteY10" fmla="*/ 6003102 h 9160069"/>
              <a:gd name="connsiteX11" fmla="*/ 5691477 w 10605849"/>
              <a:gd name="connsiteY11" fmla="*/ 5082049 h 9160069"/>
              <a:gd name="connsiteX12" fmla="*/ 6797848 w 10605849"/>
              <a:gd name="connsiteY12" fmla="*/ 4580028 h 9160069"/>
              <a:gd name="connsiteX13" fmla="*/ 7904219 w 10605849"/>
              <a:gd name="connsiteY13" fmla="*/ 5082049 h 9160069"/>
              <a:gd name="connsiteX14" fmla="*/ 8177476 w 10605849"/>
              <a:gd name="connsiteY14" fmla="*/ 6210080 h 9160069"/>
              <a:gd name="connsiteX15" fmla="*/ 7411834 w 10605849"/>
              <a:gd name="connsiteY15" fmla="*/ 7114694 h 9160069"/>
              <a:gd name="connsiteX16" fmla="*/ 6183862 w 10605849"/>
              <a:gd name="connsiteY16" fmla="*/ 7114694 h 9160069"/>
              <a:gd name="connsiteX17" fmla="*/ 5468359 w 10605849"/>
              <a:gd name="connsiteY17" fmla="*/ 6269320 h 9160069"/>
              <a:gd name="connsiteX18" fmla="*/ 4752856 w 10605849"/>
              <a:gd name="connsiteY18" fmla="*/ 7114694 h 9160069"/>
              <a:gd name="connsiteX19" fmla="*/ 3837565 w 10605849"/>
              <a:gd name="connsiteY19" fmla="*/ 7114694 h 9160069"/>
              <a:gd name="connsiteX20" fmla="*/ 3865620 w 10605849"/>
              <a:gd name="connsiteY20" fmla="*/ 7127424 h 9160069"/>
              <a:gd name="connsiteX21" fmla="*/ 4138877 w 10605849"/>
              <a:gd name="connsiteY21" fmla="*/ 8255455 h 9160069"/>
              <a:gd name="connsiteX22" fmla="*/ 3373235 w 10605849"/>
              <a:gd name="connsiteY22" fmla="*/ 9160069 h 9160069"/>
              <a:gd name="connsiteX23" fmla="*/ 2145263 w 10605849"/>
              <a:gd name="connsiteY23" fmla="*/ 9160069 h 9160069"/>
              <a:gd name="connsiteX24" fmla="*/ 1379621 w 10605849"/>
              <a:gd name="connsiteY24" fmla="*/ 8255455 h 9160069"/>
              <a:gd name="connsiteX25" fmla="*/ 1652878 w 10605849"/>
              <a:gd name="connsiteY25" fmla="*/ 7127424 h 9160069"/>
              <a:gd name="connsiteX26" fmla="*/ 1680933 w 10605849"/>
              <a:gd name="connsiteY26" fmla="*/ 7114694 h 9160069"/>
              <a:gd name="connsiteX27" fmla="*/ 765642 w 10605849"/>
              <a:gd name="connsiteY27" fmla="*/ 7114694 h 9160069"/>
              <a:gd name="connsiteX28" fmla="*/ 0 w 10605849"/>
              <a:gd name="connsiteY28" fmla="*/ 6210080 h 9160069"/>
              <a:gd name="connsiteX29" fmla="*/ 273257 w 10605849"/>
              <a:gd name="connsiteY29" fmla="*/ 5082049 h 9160069"/>
              <a:gd name="connsiteX30" fmla="*/ 2646954 w 10605849"/>
              <a:gd name="connsiteY30" fmla="*/ 2290015 h 9160069"/>
              <a:gd name="connsiteX31" fmla="*/ 3753325 w 10605849"/>
              <a:gd name="connsiteY31" fmla="*/ 2792036 h 9160069"/>
              <a:gd name="connsiteX32" fmla="*/ 4026575 w 10605849"/>
              <a:gd name="connsiteY32" fmla="*/ 3920037 h 9160069"/>
              <a:gd name="connsiteX33" fmla="*/ 4299825 w 10605849"/>
              <a:gd name="connsiteY33" fmla="*/ 2792036 h 9160069"/>
              <a:gd name="connsiteX34" fmla="*/ 5406196 w 10605849"/>
              <a:gd name="connsiteY34" fmla="*/ 2290015 h 9160069"/>
              <a:gd name="connsiteX35" fmla="*/ 6512567 w 10605849"/>
              <a:gd name="connsiteY35" fmla="*/ 2792036 h 9160069"/>
              <a:gd name="connsiteX36" fmla="*/ 6735685 w 10605849"/>
              <a:gd name="connsiteY36" fmla="*/ 3713088 h 9160069"/>
              <a:gd name="connsiteX37" fmla="*/ 6958803 w 10605849"/>
              <a:gd name="connsiteY37" fmla="*/ 2792036 h 9160069"/>
              <a:gd name="connsiteX38" fmla="*/ 8065174 w 10605849"/>
              <a:gd name="connsiteY38" fmla="*/ 2290015 h 9160069"/>
              <a:gd name="connsiteX39" fmla="*/ 9171545 w 10605849"/>
              <a:gd name="connsiteY39" fmla="*/ 2792036 h 9160069"/>
              <a:gd name="connsiteX40" fmla="*/ 9444802 w 10605849"/>
              <a:gd name="connsiteY40" fmla="*/ 3920066 h 9160069"/>
              <a:gd name="connsiteX41" fmla="*/ 8679160 w 10605849"/>
              <a:gd name="connsiteY41" fmla="*/ 4824680 h 9160069"/>
              <a:gd name="connsiteX42" fmla="*/ 7451188 w 10605849"/>
              <a:gd name="connsiteY42" fmla="*/ 4824680 h 9160069"/>
              <a:gd name="connsiteX43" fmla="*/ 6735685 w 10605849"/>
              <a:gd name="connsiteY43" fmla="*/ 3979306 h 9160069"/>
              <a:gd name="connsiteX44" fmla="*/ 6020182 w 10605849"/>
              <a:gd name="connsiteY44" fmla="*/ 4824680 h 9160069"/>
              <a:gd name="connsiteX45" fmla="*/ 4792210 w 10605849"/>
              <a:gd name="connsiteY45" fmla="*/ 4824680 h 9160069"/>
              <a:gd name="connsiteX46" fmla="*/ 4026575 w 10605849"/>
              <a:gd name="connsiteY46" fmla="*/ 3920074 h 9160069"/>
              <a:gd name="connsiteX47" fmla="*/ 3260940 w 10605849"/>
              <a:gd name="connsiteY47" fmla="*/ 4824680 h 9160069"/>
              <a:gd name="connsiteX48" fmla="*/ 2032968 w 10605849"/>
              <a:gd name="connsiteY48" fmla="*/ 4824680 h 9160069"/>
              <a:gd name="connsiteX49" fmla="*/ 1267326 w 10605849"/>
              <a:gd name="connsiteY49" fmla="*/ 3920066 h 9160069"/>
              <a:gd name="connsiteX50" fmla="*/ 1540583 w 10605849"/>
              <a:gd name="connsiteY50" fmla="*/ 2792036 h 9160069"/>
              <a:gd name="connsiteX51" fmla="*/ 3808001 w 10605849"/>
              <a:gd name="connsiteY51" fmla="*/ 0 h 9160069"/>
              <a:gd name="connsiteX52" fmla="*/ 4914372 w 10605849"/>
              <a:gd name="connsiteY52" fmla="*/ 502021 h 9160069"/>
              <a:gd name="connsiteX53" fmla="*/ 5187622 w 10605849"/>
              <a:gd name="connsiteY53" fmla="*/ 1630023 h 9160069"/>
              <a:gd name="connsiteX54" fmla="*/ 5460872 w 10605849"/>
              <a:gd name="connsiteY54" fmla="*/ 502021 h 9160069"/>
              <a:gd name="connsiteX55" fmla="*/ 6567243 w 10605849"/>
              <a:gd name="connsiteY55" fmla="*/ 0 h 9160069"/>
              <a:gd name="connsiteX56" fmla="*/ 7673614 w 10605849"/>
              <a:gd name="connsiteY56" fmla="*/ 502021 h 9160069"/>
              <a:gd name="connsiteX57" fmla="*/ 7896732 w 10605849"/>
              <a:gd name="connsiteY57" fmla="*/ 1423074 h 9160069"/>
              <a:gd name="connsiteX58" fmla="*/ 8119850 w 10605849"/>
              <a:gd name="connsiteY58" fmla="*/ 502021 h 9160069"/>
              <a:gd name="connsiteX59" fmla="*/ 9226221 w 10605849"/>
              <a:gd name="connsiteY59" fmla="*/ 0 h 9160069"/>
              <a:gd name="connsiteX60" fmla="*/ 10332592 w 10605849"/>
              <a:gd name="connsiteY60" fmla="*/ 502021 h 9160069"/>
              <a:gd name="connsiteX61" fmla="*/ 10605849 w 10605849"/>
              <a:gd name="connsiteY61" fmla="*/ 1630052 h 9160069"/>
              <a:gd name="connsiteX62" fmla="*/ 9840207 w 10605849"/>
              <a:gd name="connsiteY62" fmla="*/ 2534666 h 9160069"/>
              <a:gd name="connsiteX63" fmla="*/ 8612235 w 10605849"/>
              <a:gd name="connsiteY63" fmla="*/ 2534666 h 9160069"/>
              <a:gd name="connsiteX64" fmla="*/ 7896732 w 10605849"/>
              <a:gd name="connsiteY64" fmla="*/ 1689292 h 9160069"/>
              <a:gd name="connsiteX65" fmla="*/ 7181229 w 10605849"/>
              <a:gd name="connsiteY65" fmla="*/ 2534666 h 9160069"/>
              <a:gd name="connsiteX66" fmla="*/ 5953257 w 10605849"/>
              <a:gd name="connsiteY66" fmla="*/ 2534666 h 9160069"/>
              <a:gd name="connsiteX67" fmla="*/ 5187622 w 10605849"/>
              <a:gd name="connsiteY67" fmla="*/ 1630061 h 9160069"/>
              <a:gd name="connsiteX68" fmla="*/ 4421987 w 10605849"/>
              <a:gd name="connsiteY68" fmla="*/ 2534666 h 9160069"/>
              <a:gd name="connsiteX69" fmla="*/ 3194015 w 10605849"/>
              <a:gd name="connsiteY69" fmla="*/ 2534666 h 9160069"/>
              <a:gd name="connsiteX70" fmla="*/ 2428373 w 10605849"/>
              <a:gd name="connsiteY70" fmla="*/ 1630052 h 9160069"/>
              <a:gd name="connsiteX71" fmla="*/ 2701630 w 10605849"/>
              <a:gd name="connsiteY71" fmla="*/ 502021 h 916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0605849" h="9160069">
                <a:moveTo>
                  <a:pt x="2759249" y="6210089"/>
                </a:moveTo>
                <a:lnTo>
                  <a:pt x="2188570" y="6884351"/>
                </a:lnTo>
                <a:lnTo>
                  <a:pt x="2759249" y="6625403"/>
                </a:lnTo>
                <a:lnTo>
                  <a:pt x="3329927" y="6884351"/>
                </a:lnTo>
                <a:close/>
                <a:moveTo>
                  <a:pt x="1379628" y="4580028"/>
                </a:moveTo>
                <a:lnTo>
                  <a:pt x="2485999" y="5082049"/>
                </a:lnTo>
                <a:lnTo>
                  <a:pt x="2759249" y="6210051"/>
                </a:lnTo>
                <a:lnTo>
                  <a:pt x="3032499" y="5082049"/>
                </a:lnTo>
                <a:lnTo>
                  <a:pt x="4138870" y="4580028"/>
                </a:lnTo>
                <a:lnTo>
                  <a:pt x="5245241" y="5082049"/>
                </a:lnTo>
                <a:lnTo>
                  <a:pt x="5468359" y="6003102"/>
                </a:lnTo>
                <a:lnTo>
                  <a:pt x="5691477" y="5082049"/>
                </a:lnTo>
                <a:lnTo>
                  <a:pt x="6797848" y="4580028"/>
                </a:lnTo>
                <a:lnTo>
                  <a:pt x="7904219" y="5082049"/>
                </a:lnTo>
                <a:lnTo>
                  <a:pt x="8177476" y="6210080"/>
                </a:lnTo>
                <a:lnTo>
                  <a:pt x="7411834" y="7114694"/>
                </a:lnTo>
                <a:lnTo>
                  <a:pt x="6183862" y="7114694"/>
                </a:lnTo>
                <a:lnTo>
                  <a:pt x="5468359" y="6269320"/>
                </a:lnTo>
                <a:lnTo>
                  <a:pt x="4752856" y="7114694"/>
                </a:lnTo>
                <a:lnTo>
                  <a:pt x="3837565" y="7114694"/>
                </a:lnTo>
                <a:lnTo>
                  <a:pt x="3865620" y="7127424"/>
                </a:lnTo>
                <a:lnTo>
                  <a:pt x="4138877" y="8255455"/>
                </a:lnTo>
                <a:lnTo>
                  <a:pt x="3373235" y="9160069"/>
                </a:lnTo>
                <a:lnTo>
                  <a:pt x="2145263" y="9160069"/>
                </a:lnTo>
                <a:lnTo>
                  <a:pt x="1379621" y="8255455"/>
                </a:lnTo>
                <a:lnTo>
                  <a:pt x="1652878" y="7127424"/>
                </a:lnTo>
                <a:lnTo>
                  <a:pt x="1680933" y="7114694"/>
                </a:lnTo>
                <a:lnTo>
                  <a:pt x="765642" y="7114694"/>
                </a:lnTo>
                <a:lnTo>
                  <a:pt x="0" y="6210080"/>
                </a:lnTo>
                <a:lnTo>
                  <a:pt x="273257" y="5082049"/>
                </a:lnTo>
                <a:close/>
                <a:moveTo>
                  <a:pt x="2646954" y="2290015"/>
                </a:moveTo>
                <a:lnTo>
                  <a:pt x="3753325" y="2792036"/>
                </a:lnTo>
                <a:lnTo>
                  <a:pt x="4026575" y="3920037"/>
                </a:lnTo>
                <a:lnTo>
                  <a:pt x="4299825" y="2792036"/>
                </a:lnTo>
                <a:lnTo>
                  <a:pt x="5406196" y="2290015"/>
                </a:lnTo>
                <a:lnTo>
                  <a:pt x="6512567" y="2792036"/>
                </a:lnTo>
                <a:lnTo>
                  <a:pt x="6735685" y="3713088"/>
                </a:lnTo>
                <a:lnTo>
                  <a:pt x="6958803" y="2792036"/>
                </a:lnTo>
                <a:lnTo>
                  <a:pt x="8065174" y="2290015"/>
                </a:lnTo>
                <a:lnTo>
                  <a:pt x="9171545" y="2792036"/>
                </a:lnTo>
                <a:lnTo>
                  <a:pt x="9444802" y="3920066"/>
                </a:lnTo>
                <a:lnTo>
                  <a:pt x="8679160" y="4824680"/>
                </a:lnTo>
                <a:lnTo>
                  <a:pt x="7451188" y="4824680"/>
                </a:lnTo>
                <a:lnTo>
                  <a:pt x="6735685" y="3979306"/>
                </a:lnTo>
                <a:lnTo>
                  <a:pt x="6020182" y="4824680"/>
                </a:lnTo>
                <a:lnTo>
                  <a:pt x="4792210" y="4824680"/>
                </a:lnTo>
                <a:lnTo>
                  <a:pt x="4026575" y="3920074"/>
                </a:lnTo>
                <a:lnTo>
                  <a:pt x="3260940" y="4824680"/>
                </a:lnTo>
                <a:lnTo>
                  <a:pt x="2032968" y="4824680"/>
                </a:lnTo>
                <a:lnTo>
                  <a:pt x="1267326" y="3920066"/>
                </a:lnTo>
                <a:lnTo>
                  <a:pt x="1540583" y="2792036"/>
                </a:lnTo>
                <a:close/>
                <a:moveTo>
                  <a:pt x="3808001" y="0"/>
                </a:moveTo>
                <a:lnTo>
                  <a:pt x="4914372" y="502021"/>
                </a:lnTo>
                <a:lnTo>
                  <a:pt x="5187622" y="1630023"/>
                </a:lnTo>
                <a:lnTo>
                  <a:pt x="5460872" y="502021"/>
                </a:lnTo>
                <a:lnTo>
                  <a:pt x="6567243" y="0"/>
                </a:lnTo>
                <a:lnTo>
                  <a:pt x="7673614" y="502021"/>
                </a:lnTo>
                <a:lnTo>
                  <a:pt x="7896732" y="1423074"/>
                </a:lnTo>
                <a:lnTo>
                  <a:pt x="8119850" y="502021"/>
                </a:lnTo>
                <a:lnTo>
                  <a:pt x="9226221" y="0"/>
                </a:lnTo>
                <a:lnTo>
                  <a:pt x="10332592" y="502021"/>
                </a:lnTo>
                <a:lnTo>
                  <a:pt x="10605849" y="1630052"/>
                </a:lnTo>
                <a:lnTo>
                  <a:pt x="9840207" y="2534666"/>
                </a:lnTo>
                <a:lnTo>
                  <a:pt x="8612235" y="2534666"/>
                </a:lnTo>
                <a:lnTo>
                  <a:pt x="7896732" y="1689292"/>
                </a:lnTo>
                <a:lnTo>
                  <a:pt x="7181229" y="2534666"/>
                </a:lnTo>
                <a:lnTo>
                  <a:pt x="5953257" y="2534666"/>
                </a:lnTo>
                <a:lnTo>
                  <a:pt x="5187622" y="1630061"/>
                </a:lnTo>
                <a:lnTo>
                  <a:pt x="4421987" y="2534666"/>
                </a:lnTo>
                <a:lnTo>
                  <a:pt x="3194015" y="2534666"/>
                </a:lnTo>
                <a:lnTo>
                  <a:pt x="2428373" y="1630052"/>
                </a:lnTo>
                <a:lnTo>
                  <a:pt x="2701630" y="502021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innerShdw blurRad="558800" dist="558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D3BDAE-7542-784E-A032-771C0F4070CD}"/>
              </a:ext>
            </a:extLst>
          </p:cNvPr>
          <p:cNvSpPr txBox="1"/>
          <p:nvPr/>
        </p:nvSpPr>
        <p:spPr>
          <a:xfrm>
            <a:off x="288758" y="320299"/>
            <a:ext cx="898355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59E0B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Part 3.2:</a:t>
            </a:r>
            <a:r>
              <a:rPr lang="en-US" sz="2800" b="1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  <a:t> Exploratory Analysis: Global Relationship</a:t>
            </a:r>
            <a:br>
              <a:rPr lang="en-US" sz="2800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endParaRPr lang="en-US" sz="2800" dirty="0">
              <a:solidFill>
                <a:srgbClr val="F8FAF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121A3E-66B2-4027-F9EC-C0B5A7B9D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758" y="1051290"/>
            <a:ext cx="7315214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956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8000">
              <a:srgbClr val="0F172A"/>
            </a:gs>
            <a:gs pos="0">
              <a:srgbClr val="2E4682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FD740F-2FC9-C2EF-B903-BDC72348C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5E24B377-FEE1-6C77-A89F-4627AB58CF49}"/>
              </a:ext>
            </a:extLst>
          </p:cNvPr>
          <p:cNvSpPr/>
          <p:nvPr/>
        </p:nvSpPr>
        <p:spPr>
          <a:xfrm>
            <a:off x="4774526" y="-244649"/>
            <a:ext cx="10605849" cy="9160069"/>
          </a:xfrm>
          <a:custGeom>
            <a:avLst/>
            <a:gdLst>
              <a:gd name="connsiteX0" fmla="*/ 2759249 w 10605849"/>
              <a:gd name="connsiteY0" fmla="*/ 6210089 h 9160069"/>
              <a:gd name="connsiteX1" fmla="*/ 2188570 w 10605849"/>
              <a:gd name="connsiteY1" fmla="*/ 6884351 h 9160069"/>
              <a:gd name="connsiteX2" fmla="*/ 2759249 w 10605849"/>
              <a:gd name="connsiteY2" fmla="*/ 6625403 h 9160069"/>
              <a:gd name="connsiteX3" fmla="*/ 3329927 w 10605849"/>
              <a:gd name="connsiteY3" fmla="*/ 6884351 h 9160069"/>
              <a:gd name="connsiteX4" fmla="*/ 1379628 w 10605849"/>
              <a:gd name="connsiteY4" fmla="*/ 4580028 h 9160069"/>
              <a:gd name="connsiteX5" fmla="*/ 2485999 w 10605849"/>
              <a:gd name="connsiteY5" fmla="*/ 5082049 h 9160069"/>
              <a:gd name="connsiteX6" fmla="*/ 2759249 w 10605849"/>
              <a:gd name="connsiteY6" fmla="*/ 6210051 h 9160069"/>
              <a:gd name="connsiteX7" fmla="*/ 3032499 w 10605849"/>
              <a:gd name="connsiteY7" fmla="*/ 5082049 h 9160069"/>
              <a:gd name="connsiteX8" fmla="*/ 4138870 w 10605849"/>
              <a:gd name="connsiteY8" fmla="*/ 4580028 h 9160069"/>
              <a:gd name="connsiteX9" fmla="*/ 5245241 w 10605849"/>
              <a:gd name="connsiteY9" fmla="*/ 5082049 h 9160069"/>
              <a:gd name="connsiteX10" fmla="*/ 5468359 w 10605849"/>
              <a:gd name="connsiteY10" fmla="*/ 6003102 h 9160069"/>
              <a:gd name="connsiteX11" fmla="*/ 5691477 w 10605849"/>
              <a:gd name="connsiteY11" fmla="*/ 5082049 h 9160069"/>
              <a:gd name="connsiteX12" fmla="*/ 6797848 w 10605849"/>
              <a:gd name="connsiteY12" fmla="*/ 4580028 h 9160069"/>
              <a:gd name="connsiteX13" fmla="*/ 7904219 w 10605849"/>
              <a:gd name="connsiteY13" fmla="*/ 5082049 h 9160069"/>
              <a:gd name="connsiteX14" fmla="*/ 8177476 w 10605849"/>
              <a:gd name="connsiteY14" fmla="*/ 6210080 h 9160069"/>
              <a:gd name="connsiteX15" fmla="*/ 7411834 w 10605849"/>
              <a:gd name="connsiteY15" fmla="*/ 7114694 h 9160069"/>
              <a:gd name="connsiteX16" fmla="*/ 6183862 w 10605849"/>
              <a:gd name="connsiteY16" fmla="*/ 7114694 h 9160069"/>
              <a:gd name="connsiteX17" fmla="*/ 5468359 w 10605849"/>
              <a:gd name="connsiteY17" fmla="*/ 6269320 h 9160069"/>
              <a:gd name="connsiteX18" fmla="*/ 4752856 w 10605849"/>
              <a:gd name="connsiteY18" fmla="*/ 7114694 h 9160069"/>
              <a:gd name="connsiteX19" fmla="*/ 3837565 w 10605849"/>
              <a:gd name="connsiteY19" fmla="*/ 7114694 h 9160069"/>
              <a:gd name="connsiteX20" fmla="*/ 3865620 w 10605849"/>
              <a:gd name="connsiteY20" fmla="*/ 7127424 h 9160069"/>
              <a:gd name="connsiteX21" fmla="*/ 4138877 w 10605849"/>
              <a:gd name="connsiteY21" fmla="*/ 8255455 h 9160069"/>
              <a:gd name="connsiteX22" fmla="*/ 3373235 w 10605849"/>
              <a:gd name="connsiteY22" fmla="*/ 9160069 h 9160069"/>
              <a:gd name="connsiteX23" fmla="*/ 2145263 w 10605849"/>
              <a:gd name="connsiteY23" fmla="*/ 9160069 h 9160069"/>
              <a:gd name="connsiteX24" fmla="*/ 1379621 w 10605849"/>
              <a:gd name="connsiteY24" fmla="*/ 8255455 h 9160069"/>
              <a:gd name="connsiteX25" fmla="*/ 1652878 w 10605849"/>
              <a:gd name="connsiteY25" fmla="*/ 7127424 h 9160069"/>
              <a:gd name="connsiteX26" fmla="*/ 1680933 w 10605849"/>
              <a:gd name="connsiteY26" fmla="*/ 7114694 h 9160069"/>
              <a:gd name="connsiteX27" fmla="*/ 765642 w 10605849"/>
              <a:gd name="connsiteY27" fmla="*/ 7114694 h 9160069"/>
              <a:gd name="connsiteX28" fmla="*/ 0 w 10605849"/>
              <a:gd name="connsiteY28" fmla="*/ 6210080 h 9160069"/>
              <a:gd name="connsiteX29" fmla="*/ 273257 w 10605849"/>
              <a:gd name="connsiteY29" fmla="*/ 5082049 h 9160069"/>
              <a:gd name="connsiteX30" fmla="*/ 2646954 w 10605849"/>
              <a:gd name="connsiteY30" fmla="*/ 2290015 h 9160069"/>
              <a:gd name="connsiteX31" fmla="*/ 3753325 w 10605849"/>
              <a:gd name="connsiteY31" fmla="*/ 2792036 h 9160069"/>
              <a:gd name="connsiteX32" fmla="*/ 4026575 w 10605849"/>
              <a:gd name="connsiteY32" fmla="*/ 3920037 h 9160069"/>
              <a:gd name="connsiteX33" fmla="*/ 4299825 w 10605849"/>
              <a:gd name="connsiteY33" fmla="*/ 2792036 h 9160069"/>
              <a:gd name="connsiteX34" fmla="*/ 5406196 w 10605849"/>
              <a:gd name="connsiteY34" fmla="*/ 2290015 h 9160069"/>
              <a:gd name="connsiteX35" fmla="*/ 6512567 w 10605849"/>
              <a:gd name="connsiteY35" fmla="*/ 2792036 h 9160069"/>
              <a:gd name="connsiteX36" fmla="*/ 6735685 w 10605849"/>
              <a:gd name="connsiteY36" fmla="*/ 3713088 h 9160069"/>
              <a:gd name="connsiteX37" fmla="*/ 6958803 w 10605849"/>
              <a:gd name="connsiteY37" fmla="*/ 2792036 h 9160069"/>
              <a:gd name="connsiteX38" fmla="*/ 8065174 w 10605849"/>
              <a:gd name="connsiteY38" fmla="*/ 2290015 h 9160069"/>
              <a:gd name="connsiteX39" fmla="*/ 9171545 w 10605849"/>
              <a:gd name="connsiteY39" fmla="*/ 2792036 h 9160069"/>
              <a:gd name="connsiteX40" fmla="*/ 9444802 w 10605849"/>
              <a:gd name="connsiteY40" fmla="*/ 3920066 h 9160069"/>
              <a:gd name="connsiteX41" fmla="*/ 8679160 w 10605849"/>
              <a:gd name="connsiteY41" fmla="*/ 4824680 h 9160069"/>
              <a:gd name="connsiteX42" fmla="*/ 7451188 w 10605849"/>
              <a:gd name="connsiteY42" fmla="*/ 4824680 h 9160069"/>
              <a:gd name="connsiteX43" fmla="*/ 6735685 w 10605849"/>
              <a:gd name="connsiteY43" fmla="*/ 3979306 h 9160069"/>
              <a:gd name="connsiteX44" fmla="*/ 6020182 w 10605849"/>
              <a:gd name="connsiteY44" fmla="*/ 4824680 h 9160069"/>
              <a:gd name="connsiteX45" fmla="*/ 4792210 w 10605849"/>
              <a:gd name="connsiteY45" fmla="*/ 4824680 h 9160069"/>
              <a:gd name="connsiteX46" fmla="*/ 4026575 w 10605849"/>
              <a:gd name="connsiteY46" fmla="*/ 3920074 h 9160069"/>
              <a:gd name="connsiteX47" fmla="*/ 3260940 w 10605849"/>
              <a:gd name="connsiteY47" fmla="*/ 4824680 h 9160069"/>
              <a:gd name="connsiteX48" fmla="*/ 2032968 w 10605849"/>
              <a:gd name="connsiteY48" fmla="*/ 4824680 h 9160069"/>
              <a:gd name="connsiteX49" fmla="*/ 1267326 w 10605849"/>
              <a:gd name="connsiteY49" fmla="*/ 3920066 h 9160069"/>
              <a:gd name="connsiteX50" fmla="*/ 1540583 w 10605849"/>
              <a:gd name="connsiteY50" fmla="*/ 2792036 h 9160069"/>
              <a:gd name="connsiteX51" fmla="*/ 3808001 w 10605849"/>
              <a:gd name="connsiteY51" fmla="*/ 0 h 9160069"/>
              <a:gd name="connsiteX52" fmla="*/ 4914372 w 10605849"/>
              <a:gd name="connsiteY52" fmla="*/ 502021 h 9160069"/>
              <a:gd name="connsiteX53" fmla="*/ 5187622 w 10605849"/>
              <a:gd name="connsiteY53" fmla="*/ 1630023 h 9160069"/>
              <a:gd name="connsiteX54" fmla="*/ 5460872 w 10605849"/>
              <a:gd name="connsiteY54" fmla="*/ 502021 h 9160069"/>
              <a:gd name="connsiteX55" fmla="*/ 6567243 w 10605849"/>
              <a:gd name="connsiteY55" fmla="*/ 0 h 9160069"/>
              <a:gd name="connsiteX56" fmla="*/ 7673614 w 10605849"/>
              <a:gd name="connsiteY56" fmla="*/ 502021 h 9160069"/>
              <a:gd name="connsiteX57" fmla="*/ 7896732 w 10605849"/>
              <a:gd name="connsiteY57" fmla="*/ 1423074 h 9160069"/>
              <a:gd name="connsiteX58" fmla="*/ 8119850 w 10605849"/>
              <a:gd name="connsiteY58" fmla="*/ 502021 h 9160069"/>
              <a:gd name="connsiteX59" fmla="*/ 9226221 w 10605849"/>
              <a:gd name="connsiteY59" fmla="*/ 0 h 9160069"/>
              <a:gd name="connsiteX60" fmla="*/ 10332592 w 10605849"/>
              <a:gd name="connsiteY60" fmla="*/ 502021 h 9160069"/>
              <a:gd name="connsiteX61" fmla="*/ 10605849 w 10605849"/>
              <a:gd name="connsiteY61" fmla="*/ 1630052 h 9160069"/>
              <a:gd name="connsiteX62" fmla="*/ 9840207 w 10605849"/>
              <a:gd name="connsiteY62" fmla="*/ 2534666 h 9160069"/>
              <a:gd name="connsiteX63" fmla="*/ 8612235 w 10605849"/>
              <a:gd name="connsiteY63" fmla="*/ 2534666 h 9160069"/>
              <a:gd name="connsiteX64" fmla="*/ 7896732 w 10605849"/>
              <a:gd name="connsiteY64" fmla="*/ 1689292 h 9160069"/>
              <a:gd name="connsiteX65" fmla="*/ 7181229 w 10605849"/>
              <a:gd name="connsiteY65" fmla="*/ 2534666 h 9160069"/>
              <a:gd name="connsiteX66" fmla="*/ 5953257 w 10605849"/>
              <a:gd name="connsiteY66" fmla="*/ 2534666 h 9160069"/>
              <a:gd name="connsiteX67" fmla="*/ 5187622 w 10605849"/>
              <a:gd name="connsiteY67" fmla="*/ 1630061 h 9160069"/>
              <a:gd name="connsiteX68" fmla="*/ 4421987 w 10605849"/>
              <a:gd name="connsiteY68" fmla="*/ 2534666 h 9160069"/>
              <a:gd name="connsiteX69" fmla="*/ 3194015 w 10605849"/>
              <a:gd name="connsiteY69" fmla="*/ 2534666 h 9160069"/>
              <a:gd name="connsiteX70" fmla="*/ 2428373 w 10605849"/>
              <a:gd name="connsiteY70" fmla="*/ 1630052 h 9160069"/>
              <a:gd name="connsiteX71" fmla="*/ 2701630 w 10605849"/>
              <a:gd name="connsiteY71" fmla="*/ 502021 h 916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0605849" h="9160069">
                <a:moveTo>
                  <a:pt x="2759249" y="6210089"/>
                </a:moveTo>
                <a:lnTo>
                  <a:pt x="2188570" y="6884351"/>
                </a:lnTo>
                <a:lnTo>
                  <a:pt x="2759249" y="6625403"/>
                </a:lnTo>
                <a:lnTo>
                  <a:pt x="3329927" y="6884351"/>
                </a:lnTo>
                <a:close/>
                <a:moveTo>
                  <a:pt x="1379628" y="4580028"/>
                </a:moveTo>
                <a:lnTo>
                  <a:pt x="2485999" y="5082049"/>
                </a:lnTo>
                <a:lnTo>
                  <a:pt x="2759249" y="6210051"/>
                </a:lnTo>
                <a:lnTo>
                  <a:pt x="3032499" y="5082049"/>
                </a:lnTo>
                <a:lnTo>
                  <a:pt x="4138870" y="4580028"/>
                </a:lnTo>
                <a:lnTo>
                  <a:pt x="5245241" y="5082049"/>
                </a:lnTo>
                <a:lnTo>
                  <a:pt x="5468359" y="6003102"/>
                </a:lnTo>
                <a:lnTo>
                  <a:pt x="5691477" y="5082049"/>
                </a:lnTo>
                <a:lnTo>
                  <a:pt x="6797848" y="4580028"/>
                </a:lnTo>
                <a:lnTo>
                  <a:pt x="7904219" y="5082049"/>
                </a:lnTo>
                <a:lnTo>
                  <a:pt x="8177476" y="6210080"/>
                </a:lnTo>
                <a:lnTo>
                  <a:pt x="7411834" y="7114694"/>
                </a:lnTo>
                <a:lnTo>
                  <a:pt x="6183862" y="7114694"/>
                </a:lnTo>
                <a:lnTo>
                  <a:pt x="5468359" y="6269320"/>
                </a:lnTo>
                <a:lnTo>
                  <a:pt x="4752856" y="7114694"/>
                </a:lnTo>
                <a:lnTo>
                  <a:pt x="3837565" y="7114694"/>
                </a:lnTo>
                <a:lnTo>
                  <a:pt x="3865620" y="7127424"/>
                </a:lnTo>
                <a:lnTo>
                  <a:pt x="4138877" y="8255455"/>
                </a:lnTo>
                <a:lnTo>
                  <a:pt x="3373235" y="9160069"/>
                </a:lnTo>
                <a:lnTo>
                  <a:pt x="2145263" y="9160069"/>
                </a:lnTo>
                <a:lnTo>
                  <a:pt x="1379621" y="8255455"/>
                </a:lnTo>
                <a:lnTo>
                  <a:pt x="1652878" y="7127424"/>
                </a:lnTo>
                <a:lnTo>
                  <a:pt x="1680933" y="7114694"/>
                </a:lnTo>
                <a:lnTo>
                  <a:pt x="765642" y="7114694"/>
                </a:lnTo>
                <a:lnTo>
                  <a:pt x="0" y="6210080"/>
                </a:lnTo>
                <a:lnTo>
                  <a:pt x="273257" y="5082049"/>
                </a:lnTo>
                <a:close/>
                <a:moveTo>
                  <a:pt x="2646954" y="2290015"/>
                </a:moveTo>
                <a:lnTo>
                  <a:pt x="3753325" y="2792036"/>
                </a:lnTo>
                <a:lnTo>
                  <a:pt x="4026575" y="3920037"/>
                </a:lnTo>
                <a:lnTo>
                  <a:pt x="4299825" y="2792036"/>
                </a:lnTo>
                <a:lnTo>
                  <a:pt x="5406196" y="2290015"/>
                </a:lnTo>
                <a:lnTo>
                  <a:pt x="6512567" y="2792036"/>
                </a:lnTo>
                <a:lnTo>
                  <a:pt x="6735685" y="3713088"/>
                </a:lnTo>
                <a:lnTo>
                  <a:pt x="6958803" y="2792036"/>
                </a:lnTo>
                <a:lnTo>
                  <a:pt x="8065174" y="2290015"/>
                </a:lnTo>
                <a:lnTo>
                  <a:pt x="9171545" y="2792036"/>
                </a:lnTo>
                <a:lnTo>
                  <a:pt x="9444802" y="3920066"/>
                </a:lnTo>
                <a:lnTo>
                  <a:pt x="8679160" y="4824680"/>
                </a:lnTo>
                <a:lnTo>
                  <a:pt x="7451188" y="4824680"/>
                </a:lnTo>
                <a:lnTo>
                  <a:pt x="6735685" y="3979306"/>
                </a:lnTo>
                <a:lnTo>
                  <a:pt x="6020182" y="4824680"/>
                </a:lnTo>
                <a:lnTo>
                  <a:pt x="4792210" y="4824680"/>
                </a:lnTo>
                <a:lnTo>
                  <a:pt x="4026575" y="3920074"/>
                </a:lnTo>
                <a:lnTo>
                  <a:pt x="3260940" y="4824680"/>
                </a:lnTo>
                <a:lnTo>
                  <a:pt x="2032968" y="4824680"/>
                </a:lnTo>
                <a:lnTo>
                  <a:pt x="1267326" y="3920066"/>
                </a:lnTo>
                <a:lnTo>
                  <a:pt x="1540583" y="2792036"/>
                </a:lnTo>
                <a:close/>
                <a:moveTo>
                  <a:pt x="3808001" y="0"/>
                </a:moveTo>
                <a:lnTo>
                  <a:pt x="4914372" y="502021"/>
                </a:lnTo>
                <a:lnTo>
                  <a:pt x="5187622" y="1630023"/>
                </a:lnTo>
                <a:lnTo>
                  <a:pt x="5460872" y="502021"/>
                </a:lnTo>
                <a:lnTo>
                  <a:pt x="6567243" y="0"/>
                </a:lnTo>
                <a:lnTo>
                  <a:pt x="7673614" y="502021"/>
                </a:lnTo>
                <a:lnTo>
                  <a:pt x="7896732" y="1423074"/>
                </a:lnTo>
                <a:lnTo>
                  <a:pt x="8119850" y="502021"/>
                </a:lnTo>
                <a:lnTo>
                  <a:pt x="9226221" y="0"/>
                </a:lnTo>
                <a:lnTo>
                  <a:pt x="10332592" y="502021"/>
                </a:lnTo>
                <a:lnTo>
                  <a:pt x="10605849" y="1630052"/>
                </a:lnTo>
                <a:lnTo>
                  <a:pt x="9840207" y="2534666"/>
                </a:lnTo>
                <a:lnTo>
                  <a:pt x="8612235" y="2534666"/>
                </a:lnTo>
                <a:lnTo>
                  <a:pt x="7896732" y="1689292"/>
                </a:lnTo>
                <a:lnTo>
                  <a:pt x="7181229" y="2534666"/>
                </a:lnTo>
                <a:lnTo>
                  <a:pt x="5953257" y="2534666"/>
                </a:lnTo>
                <a:lnTo>
                  <a:pt x="5187622" y="1630061"/>
                </a:lnTo>
                <a:lnTo>
                  <a:pt x="4421987" y="2534666"/>
                </a:lnTo>
                <a:lnTo>
                  <a:pt x="3194015" y="2534666"/>
                </a:lnTo>
                <a:lnTo>
                  <a:pt x="2428373" y="1630052"/>
                </a:lnTo>
                <a:lnTo>
                  <a:pt x="2701630" y="502021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innerShdw blurRad="558800" dist="558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5EC45DE-BD62-D5D9-8A13-5473ED3B25DE}"/>
              </a:ext>
            </a:extLst>
          </p:cNvPr>
          <p:cNvSpPr txBox="1"/>
          <p:nvPr/>
        </p:nvSpPr>
        <p:spPr>
          <a:xfrm>
            <a:off x="288758" y="320299"/>
            <a:ext cx="898355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59E0B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Part 3.2:</a:t>
            </a:r>
            <a:r>
              <a:rPr lang="en-US" sz="2800" b="1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  <a:t> Exploratory Analysis: Global Relationship</a:t>
            </a:r>
            <a:br>
              <a:rPr lang="en-US" sz="2800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endParaRPr lang="en-US" sz="2800" dirty="0">
              <a:solidFill>
                <a:srgbClr val="F8FAF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FBD552-2117-914B-DF22-321510A86E99}"/>
              </a:ext>
            </a:extLst>
          </p:cNvPr>
          <p:cNvSpPr txBox="1"/>
          <p:nvPr/>
        </p:nvSpPr>
        <p:spPr>
          <a:xfrm>
            <a:off x="301141" y="1595352"/>
            <a:ext cx="447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  <a:latin typeface="Montserrat" pitchFamily="2" charset="0"/>
              </a:rPr>
              <a:t>What the plot shows: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B680D0-E527-9BF8-6EC1-37DA7F8E9F08}"/>
              </a:ext>
            </a:extLst>
          </p:cNvPr>
          <p:cNvSpPr txBox="1"/>
          <p:nvPr/>
        </p:nvSpPr>
        <p:spPr>
          <a:xfrm>
            <a:off x="288757" y="2285630"/>
            <a:ext cx="42258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Each point = country-year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Large dispersion in GDP growth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Weak visible relationship, even after trimming outliers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303BD2-7AFA-9F9C-99A1-2275B5FE57C0}"/>
              </a:ext>
            </a:extLst>
          </p:cNvPr>
          <p:cNvSpPr txBox="1"/>
          <p:nvPr/>
        </p:nvSpPr>
        <p:spPr>
          <a:xfrm>
            <a:off x="313525" y="4527178"/>
            <a:ext cx="447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  <a:latin typeface="Montserrat" pitchFamily="2" charset="0"/>
              </a:rPr>
              <a:t>Why trimming was used: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93CC93-E451-B6AC-6229-956D81A264EB}"/>
              </a:ext>
            </a:extLst>
          </p:cNvPr>
          <p:cNvSpPr txBox="1"/>
          <p:nvPr/>
        </p:nvSpPr>
        <p:spPr>
          <a:xfrm>
            <a:off x="301141" y="5217456"/>
            <a:ext cx="4225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Improves visualization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Does not affect modeling results</a:t>
            </a:r>
          </a:p>
        </p:txBody>
      </p:sp>
    </p:spTree>
    <p:extLst>
      <p:ext uri="{BB962C8B-B14F-4D97-AF65-F5344CB8AC3E}">
        <p14:creationId xmlns:p14="http://schemas.microsoft.com/office/powerpoint/2010/main" val="2521758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8000">
              <a:srgbClr val="0F172A"/>
            </a:gs>
            <a:gs pos="0">
              <a:srgbClr val="2E4682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E5F34-CA1C-92D8-03DF-531986CBA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55E5BB3A-2ADC-D723-FB7C-FC96349863E2}"/>
              </a:ext>
            </a:extLst>
          </p:cNvPr>
          <p:cNvSpPr/>
          <p:nvPr/>
        </p:nvSpPr>
        <p:spPr>
          <a:xfrm>
            <a:off x="4774526" y="-244649"/>
            <a:ext cx="10605849" cy="9160069"/>
          </a:xfrm>
          <a:custGeom>
            <a:avLst/>
            <a:gdLst>
              <a:gd name="connsiteX0" fmla="*/ 2759249 w 10605849"/>
              <a:gd name="connsiteY0" fmla="*/ 6210089 h 9160069"/>
              <a:gd name="connsiteX1" fmla="*/ 2188570 w 10605849"/>
              <a:gd name="connsiteY1" fmla="*/ 6884351 h 9160069"/>
              <a:gd name="connsiteX2" fmla="*/ 2759249 w 10605849"/>
              <a:gd name="connsiteY2" fmla="*/ 6625403 h 9160069"/>
              <a:gd name="connsiteX3" fmla="*/ 3329927 w 10605849"/>
              <a:gd name="connsiteY3" fmla="*/ 6884351 h 9160069"/>
              <a:gd name="connsiteX4" fmla="*/ 1379628 w 10605849"/>
              <a:gd name="connsiteY4" fmla="*/ 4580028 h 9160069"/>
              <a:gd name="connsiteX5" fmla="*/ 2485999 w 10605849"/>
              <a:gd name="connsiteY5" fmla="*/ 5082049 h 9160069"/>
              <a:gd name="connsiteX6" fmla="*/ 2759249 w 10605849"/>
              <a:gd name="connsiteY6" fmla="*/ 6210051 h 9160069"/>
              <a:gd name="connsiteX7" fmla="*/ 3032499 w 10605849"/>
              <a:gd name="connsiteY7" fmla="*/ 5082049 h 9160069"/>
              <a:gd name="connsiteX8" fmla="*/ 4138870 w 10605849"/>
              <a:gd name="connsiteY8" fmla="*/ 4580028 h 9160069"/>
              <a:gd name="connsiteX9" fmla="*/ 5245241 w 10605849"/>
              <a:gd name="connsiteY9" fmla="*/ 5082049 h 9160069"/>
              <a:gd name="connsiteX10" fmla="*/ 5468359 w 10605849"/>
              <a:gd name="connsiteY10" fmla="*/ 6003102 h 9160069"/>
              <a:gd name="connsiteX11" fmla="*/ 5691477 w 10605849"/>
              <a:gd name="connsiteY11" fmla="*/ 5082049 h 9160069"/>
              <a:gd name="connsiteX12" fmla="*/ 6797848 w 10605849"/>
              <a:gd name="connsiteY12" fmla="*/ 4580028 h 9160069"/>
              <a:gd name="connsiteX13" fmla="*/ 7904219 w 10605849"/>
              <a:gd name="connsiteY13" fmla="*/ 5082049 h 9160069"/>
              <a:gd name="connsiteX14" fmla="*/ 8177476 w 10605849"/>
              <a:gd name="connsiteY14" fmla="*/ 6210080 h 9160069"/>
              <a:gd name="connsiteX15" fmla="*/ 7411834 w 10605849"/>
              <a:gd name="connsiteY15" fmla="*/ 7114694 h 9160069"/>
              <a:gd name="connsiteX16" fmla="*/ 6183862 w 10605849"/>
              <a:gd name="connsiteY16" fmla="*/ 7114694 h 9160069"/>
              <a:gd name="connsiteX17" fmla="*/ 5468359 w 10605849"/>
              <a:gd name="connsiteY17" fmla="*/ 6269320 h 9160069"/>
              <a:gd name="connsiteX18" fmla="*/ 4752856 w 10605849"/>
              <a:gd name="connsiteY18" fmla="*/ 7114694 h 9160069"/>
              <a:gd name="connsiteX19" fmla="*/ 3837565 w 10605849"/>
              <a:gd name="connsiteY19" fmla="*/ 7114694 h 9160069"/>
              <a:gd name="connsiteX20" fmla="*/ 3865620 w 10605849"/>
              <a:gd name="connsiteY20" fmla="*/ 7127424 h 9160069"/>
              <a:gd name="connsiteX21" fmla="*/ 4138877 w 10605849"/>
              <a:gd name="connsiteY21" fmla="*/ 8255455 h 9160069"/>
              <a:gd name="connsiteX22" fmla="*/ 3373235 w 10605849"/>
              <a:gd name="connsiteY22" fmla="*/ 9160069 h 9160069"/>
              <a:gd name="connsiteX23" fmla="*/ 2145263 w 10605849"/>
              <a:gd name="connsiteY23" fmla="*/ 9160069 h 9160069"/>
              <a:gd name="connsiteX24" fmla="*/ 1379621 w 10605849"/>
              <a:gd name="connsiteY24" fmla="*/ 8255455 h 9160069"/>
              <a:gd name="connsiteX25" fmla="*/ 1652878 w 10605849"/>
              <a:gd name="connsiteY25" fmla="*/ 7127424 h 9160069"/>
              <a:gd name="connsiteX26" fmla="*/ 1680933 w 10605849"/>
              <a:gd name="connsiteY26" fmla="*/ 7114694 h 9160069"/>
              <a:gd name="connsiteX27" fmla="*/ 765642 w 10605849"/>
              <a:gd name="connsiteY27" fmla="*/ 7114694 h 9160069"/>
              <a:gd name="connsiteX28" fmla="*/ 0 w 10605849"/>
              <a:gd name="connsiteY28" fmla="*/ 6210080 h 9160069"/>
              <a:gd name="connsiteX29" fmla="*/ 273257 w 10605849"/>
              <a:gd name="connsiteY29" fmla="*/ 5082049 h 9160069"/>
              <a:gd name="connsiteX30" fmla="*/ 2646954 w 10605849"/>
              <a:gd name="connsiteY30" fmla="*/ 2290015 h 9160069"/>
              <a:gd name="connsiteX31" fmla="*/ 3753325 w 10605849"/>
              <a:gd name="connsiteY31" fmla="*/ 2792036 h 9160069"/>
              <a:gd name="connsiteX32" fmla="*/ 4026575 w 10605849"/>
              <a:gd name="connsiteY32" fmla="*/ 3920037 h 9160069"/>
              <a:gd name="connsiteX33" fmla="*/ 4299825 w 10605849"/>
              <a:gd name="connsiteY33" fmla="*/ 2792036 h 9160069"/>
              <a:gd name="connsiteX34" fmla="*/ 5406196 w 10605849"/>
              <a:gd name="connsiteY34" fmla="*/ 2290015 h 9160069"/>
              <a:gd name="connsiteX35" fmla="*/ 6512567 w 10605849"/>
              <a:gd name="connsiteY35" fmla="*/ 2792036 h 9160069"/>
              <a:gd name="connsiteX36" fmla="*/ 6735685 w 10605849"/>
              <a:gd name="connsiteY36" fmla="*/ 3713088 h 9160069"/>
              <a:gd name="connsiteX37" fmla="*/ 6958803 w 10605849"/>
              <a:gd name="connsiteY37" fmla="*/ 2792036 h 9160069"/>
              <a:gd name="connsiteX38" fmla="*/ 8065174 w 10605849"/>
              <a:gd name="connsiteY38" fmla="*/ 2290015 h 9160069"/>
              <a:gd name="connsiteX39" fmla="*/ 9171545 w 10605849"/>
              <a:gd name="connsiteY39" fmla="*/ 2792036 h 9160069"/>
              <a:gd name="connsiteX40" fmla="*/ 9444802 w 10605849"/>
              <a:gd name="connsiteY40" fmla="*/ 3920066 h 9160069"/>
              <a:gd name="connsiteX41" fmla="*/ 8679160 w 10605849"/>
              <a:gd name="connsiteY41" fmla="*/ 4824680 h 9160069"/>
              <a:gd name="connsiteX42" fmla="*/ 7451188 w 10605849"/>
              <a:gd name="connsiteY42" fmla="*/ 4824680 h 9160069"/>
              <a:gd name="connsiteX43" fmla="*/ 6735685 w 10605849"/>
              <a:gd name="connsiteY43" fmla="*/ 3979306 h 9160069"/>
              <a:gd name="connsiteX44" fmla="*/ 6020182 w 10605849"/>
              <a:gd name="connsiteY44" fmla="*/ 4824680 h 9160069"/>
              <a:gd name="connsiteX45" fmla="*/ 4792210 w 10605849"/>
              <a:gd name="connsiteY45" fmla="*/ 4824680 h 9160069"/>
              <a:gd name="connsiteX46" fmla="*/ 4026575 w 10605849"/>
              <a:gd name="connsiteY46" fmla="*/ 3920074 h 9160069"/>
              <a:gd name="connsiteX47" fmla="*/ 3260940 w 10605849"/>
              <a:gd name="connsiteY47" fmla="*/ 4824680 h 9160069"/>
              <a:gd name="connsiteX48" fmla="*/ 2032968 w 10605849"/>
              <a:gd name="connsiteY48" fmla="*/ 4824680 h 9160069"/>
              <a:gd name="connsiteX49" fmla="*/ 1267326 w 10605849"/>
              <a:gd name="connsiteY49" fmla="*/ 3920066 h 9160069"/>
              <a:gd name="connsiteX50" fmla="*/ 1540583 w 10605849"/>
              <a:gd name="connsiteY50" fmla="*/ 2792036 h 9160069"/>
              <a:gd name="connsiteX51" fmla="*/ 3808001 w 10605849"/>
              <a:gd name="connsiteY51" fmla="*/ 0 h 9160069"/>
              <a:gd name="connsiteX52" fmla="*/ 4914372 w 10605849"/>
              <a:gd name="connsiteY52" fmla="*/ 502021 h 9160069"/>
              <a:gd name="connsiteX53" fmla="*/ 5187622 w 10605849"/>
              <a:gd name="connsiteY53" fmla="*/ 1630023 h 9160069"/>
              <a:gd name="connsiteX54" fmla="*/ 5460872 w 10605849"/>
              <a:gd name="connsiteY54" fmla="*/ 502021 h 9160069"/>
              <a:gd name="connsiteX55" fmla="*/ 6567243 w 10605849"/>
              <a:gd name="connsiteY55" fmla="*/ 0 h 9160069"/>
              <a:gd name="connsiteX56" fmla="*/ 7673614 w 10605849"/>
              <a:gd name="connsiteY56" fmla="*/ 502021 h 9160069"/>
              <a:gd name="connsiteX57" fmla="*/ 7896732 w 10605849"/>
              <a:gd name="connsiteY57" fmla="*/ 1423074 h 9160069"/>
              <a:gd name="connsiteX58" fmla="*/ 8119850 w 10605849"/>
              <a:gd name="connsiteY58" fmla="*/ 502021 h 9160069"/>
              <a:gd name="connsiteX59" fmla="*/ 9226221 w 10605849"/>
              <a:gd name="connsiteY59" fmla="*/ 0 h 9160069"/>
              <a:gd name="connsiteX60" fmla="*/ 10332592 w 10605849"/>
              <a:gd name="connsiteY60" fmla="*/ 502021 h 9160069"/>
              <a:gd name="connsiteX61" fmla="*/ 10605849 w 10605849"/>
              <a:gd name="connsiteY61" fmla="*/ 1630052 h 9160069"/>
              <a:gd name="connsiteX62" fmla="*/ 9840207 w 10605849"/>
              <a:gd name="connsiteY62" fmla="*/ 2534666 h 9160069"/>
              <a:gd name="connsiteX63" fmla="*/ 8612235 w 10605849"/>
              <a:gd name="connsiteY63" fmla="*/ 2534666 h 9160069"/>
              <a:gd name="connsiteX64" fmla="*/ 7896732 w 10605849"/>
              <a:gd name="connsiteY64" fmla="*/ 1689292 h 9160069"/>
              <a:gd name="connsiteX65" fmla="*/ 7181229 w 10605849"/>
              <a:gd name="connsiteY65" fmla="*/ 2534666 h 9160069"/>
              <a:gd name="connsiteX66" fmla="*/ 5953257 w 10605849"/>
              <a:gd name="connsiteY66" fmla="*/ 2534666 h 9160069"/>
              <a:gd name="connsiteX67" fmla="*/ 5187622 w 10605849"/>
              <a:gd name="connsiteY67" fmla="*/ 1630061 h 9160069"/>
              <a:gd name="connsiteX68" fmla="*/ 4421987 w 10605849"/>
              <a:gd name="connsiteY68" fmla="*/ 2534666 h 9160069"/>
              <a:gd name="connsiteX69" fmla="*/ 3194015 w 10605849"/>
              <a:gd name="connsiteY69" fmla="*/ 2534666 h 9160069"/>
              <a:gd name="connsiteX70" fmla="*/ 2428373 w 10605849"/>
              <a:gd name="connsiteY70" fmla="*/ 1630052 h 9160069"/>
              <a:gd name="connsiteX71" fmla="*/ 2701630 w 10605849"/>
              <a:gd name="connsiteY71" fmla="*/ 502021 h 916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0605849" h="9160069">
                <a:moveTo>
                  <a:pt x="2759249" y="6210089"/>
                </a:moveTo>
                <a:lnTo>
                  <a:pt x="2188570" y="6884351"/>
                </a:lnTo>
                <a:lnTo>
                  <a:pt x="2759249" y="6625403"/>
                </a:lnTo>
                <a:lnTo>
                  <a:pt x="3329927" y="6884351"/>
                </a:lnTo>
                <a:close/>
                <a:moveTo>
                  <a:pt x="1379628" y="4580028"/>
                </a:moveTo>
                <a:lnTo>
                  <a:pt x="2485999" y="5082049"/>
                </a:lnTo>
                <a:lnTo>
                  <a:pt x="2759249" y="6210051"/>
                </a:lnTo>
                <a:lnTo>
                  <a:pt x="3032499" y="5082049"/>
                </a:lnTo>
                <a:lnTo>
                  <a:pt x="4138870" y="4580028"/>
                </a:lnTo>
                <a:lnTo>
                  <a:pt x="5245241" y="5082049"/>
                </a:lnTo>
                <a:lnTo>
                  <a:pt x="5468359" y="6003102"/>
                </a:lnTo>
                <a:lnTo>
                  <a:pt x="5691477" y="5082049"/>
                </a:lnTo>
                <a:lnTo>
                  <a:pt x="6797848" y="4580028"/>
                </a:lnTo>
                <a:lnTo>
                  <a:pt x="7904219" y="5082049"/>
                </a:lnTo>
                <a:lnTo>
                  <a:pt x="8177476" y="6210080"/>
                </a:lnTo>
                <a:lnTo>
                  <a:pt x="7411834" y="7114694"/>
                </a:lnTo>
                <a:lnTo>
                  <a:pt x="6183862" y="7114694"/>
                </a:lnTo>
                <a:lnTo>
                  <a:pt x="5468359" y="6269320"/>
                </a:lnTo>
                <a:lnTo>
                  <a:pt x="4752856" y="7114694"/>
                </a:lnTo>
                <a:lnTo>
                  <a:pt x="3837565" y="7114694"/>
                </a:lnTo>
                <a:lnTo>
                  <a:pt x="3865620" y="7127424"/>
                </a:lnTo>
                <a:lnTo>
                  <a:pt x="4138877" y="8255455"/>
                </a:lnTo>
                <a:lnTo>
                  <a:pt x="3373235" y="9160069"/>
                </a:lnTo>
                <a:lnTo>
                  <a:pt x="2145263" y="9160069"/>
                </a:lnTo>
                <a:lnTo>
                  <a:pt x="1379621" y="8255455"/>
                </a:lnTo>
                <a:lnTo>
                  <a:pt x="1652878" y="7127424"/>
                </a:lnTo>
                <a:lnTo>
                  <a:pt x="1680933" y="7114694"/>
                </a:lnTo>
                <a:lnTo>
                  <a:pt x="765642" y="7114694"/>
                </a:lnTo>
                <a:lnTo>
                  <a:pt x="0" y="6210080"/>
                </a:lnTo>
                <a:lnTo>
                  <a:pt x="273257" y="5082049"/>
                </a:lnTo>
                <a:close/>
                <a:moveTo>
                  <a:pt x="2646954" y="2290015"/>
                </a:moveTo>
                <a:lnTo>
                  <a:pt x="3753325" y="2792036"/>
                </a:lnTo>
                <a:lnTo>
                  <a:pt x="4026575" y="3920037"/>
                </a:lnTo>
                <a:lnTo>
                  <a:pt x="4299825" y="2792036"/>
                </a:lnTo>
                <a:lnTo>
                  <a:pt x="5406196" y="2290015"/>
                </a:lnTo>
                <a:lnTo>
                  <a:pt x="6512567" y="2792036"/>
                </a:lnTo>
                <a:lnTo>
                  <a:pt x="6735685" y="3713088"/>
                </a:lnTo>
                <a:lnTo>
                  <a:pt x="6958803" y="2792036"/>
                </a:lnTo>
                <a:lnTo>
                  <a:pt x="8065174" y="2290015"/>
                </a:lnTo>
                <a:lnTo>
                  <a:pt x="9171545" y="2792036"/>
                </a:lnTo>
                <a:lnTo>
                  <a:pt x="9444802" y="3920066"/>
                </a:lnTo>
                <a:lnTo>
                  <a:pt x="8679160" y="4824680"/>
                </a:lnTo>
                <a:lnTo>
                  <a:pt x="7451188" y="4824680"/>
                </a:lnTo>
                <a:lnTo>
                  <a:pt x="6735685" y="3979306"/>
                </a:lnTo>
                <a:lnTo>
                  <a:pt x="6020182" y="4824680"/>
                </a:lnTo>
                <a:lnTo>
                  <a:pt x="4792210" y="4824680"/>
                </a:lnTo>
                <a:lnTo>
                  <a:pt x="4026575" y="3920074"/>
                </a:lnTo>
                <a:lnTo>
                  <a:pt x="3260940" y="4824680"/>
                </a:lnTo>
                <a:lnTo>
                  <a:pt x="2032968" y="4824680"/>
                </a:lnTo>
                <a:lnTo>
                  <a:pt x="1267326" y="3920066"/>
                </a:lnTo>
                <a:lnTo>
                  <a:pt x="1540583" y="2792036"/>
                </a:lnTo>
                <a:close/>
                <a:moveTo>
                  <a:pt x="3808001" y="0"/>
                </a:moveTo>
                <a:lnTo>
                  <a:pt x="4914372" y="502021"/>
                </a:lnTo>
                <a:lnTo>
                  <a:pt x="5187622" y="1630023"/>
                </a:lnTo>
                <a:lnTo>
                  <a:pt x="5460872" y="502021"/>
                </a:lnTo>
                <a:lnTo>
                  <a:pt x="6567243" y="0"/>
                </a:lnTo>
                <a:lnTo>
                  <a:pt x="7673614" y="502021"/>
                </a:lnTo>
                <a:lnTo>
                  <a:pt x="7896732" y="1423074"/>
                </a:lnTo>
                <a:lnTo>
                  <a:pt x="8119850" y="502021"/>
                </a:lnTo>
                <a:lnTo>
                  <a:pt x="9226221" y="0"/>
                </a:lnTo>
                <a:lnTo>
                  <a:pt x="10332592" y="502021"/>
                </a:lnTo>
                <a:lnTo>
                  <a:pt x="10605849" y="1630052"/>
                </a:lnTo>
                <a:lnTo>
                  <a:pt x="9840207" y="2534666"/>
                </a:lnTo>
                <a:lnTo>
                  <a:pt x="8612235" y="2534666"/>
                </a:lnTo>
                <a:lnTo>
                  <a:pt x="7896732" y="1689292"/>
                </a:lnTo>
                <a:lnTo>
                  <a:pt x="7181229" y="2534666"/>
                </a:lnTo>
                <a:lnTo>
                  <a:pt x="5953257" y="2534666"/>
                </a:lnTo>
                <a:lnTo>
                  <a:pt x="5187622" y="1630061"/>
                </a:lnTo>
                <a:lnTo>
                  <a:pt x="4421987" y="2534666"/>
                </a:lnTo>
                <a:lnTo>
                  <a:pt x="3194015" y="2534666"/>
                </a:lnTo>
                <a:lnTo>
                  <a:pt x="2428373" y="1630052"/>
                </a:lnTo>
                <a:lnTo>
                  <a:pt x="2701630" y="502021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innerShdw blurRad="558800" dist="558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BCA2966-73C6-C2CD-8085-4624FD4D422F}"/>
              </a:ext>
            </a:extLst>
          </p:cNvPr>
          <p:cNvSpPr txBox="1"/>
          <p:nvPr/>
        </p:nvSpPr>
        <p:spPr>
          <a:xfrm>
            <a:off x="288758" y="320299"/>
            <a:ext cx="621195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59E0B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Part 4.1:</a:t>
            </a:r>
            <a:r>
              <a:rPr lang="en-US" sz="2800" b="1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  <a:t> Modeling the Relationship</a:t>
            </a:r>
            <a:br>
              <a:rPr lang="en-US" sz="2800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endParaRPr lang="en-US" sz="2800" dirty="0">
              <a:solidFill>
                <a:srgbClr val="F8FAF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22AC67-9399-2B6E-33AD-CAE9BA93AD94}"/>
              </a:ext>
            </a:extLst>
          </p:cNvPr>
          <p:cNvSpPr txBox="1"/>
          <p:nvPr/>
        </p:nvSpPr>
        <p:spPr>
          <a:xfrm>
            <a:off x="301141" y="1595352"/>
            <a:ext cx="447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  <a:latin typeface="Montserrat" pitchFamily="2" charset="0"/>
              </a:rPr>
              <a:t>Why build models if not predicting?: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3A3A4B-AE90-2083-1EEE-2ED60E57F07A}"/>
              </a:ext>
            </a:extLst>
          </p:cNvPr>
          <p:cNvSpPr txBox="1"/>
          <p:nvPr/>
        </p:nvSpPr>
        <p:spPr>
          <a:xfrm>
            <a:off x="288757" y="2285630"/>
            <a:ext cx="42258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Quantifies how much variation is explained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Tests linear vs non-linear relationships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Confirms EDA findings statistically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188A46-E4D6-9C34-2393-D651D356F88D}"/>
              </a:ext>
            </a:extLst>
          </p:cNvPr>
          <p:cNvSpPr txBox="1"/>
          <p:nvPr/>
        </p:nvSpPr>
        <p:spPr>
          <a:xfrm>
            <a:off x="313525" y="4527178"/>
            <a:ext cx="447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  <a:latin typeface="Montserrat" pitchFamily="2" charset="0"/>
              </a:rPr>
              <a:t>Models used: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C748DF-C6F6-7388-47A0-B5F3EF147298}"/>
              </a:ext>
            </a:extLst>
          </p:cNvPr>
          <p:cNvSpPr txBox="1"/>
          <p:nvPr/>
        </p:nvSpPr>
        <p:spPr>
          <a:xfrm>
            <a:off x="301141" y="5217456"/>
            <a:ext cx="42258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Linear Regression (baseline)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Random Forest (flexible, non-linear)</a:t>
            </a:r>
          </a:p>
        </p:txBody>
      </p:sp>
    </p:spTree>
    <p:extLst>
      <p:ext uri="{BB962C8B-B14F-4D97-AF65-F5344CB8AC3E}">
        <p14:creationId xmlns:p14="http://schemas.microsoft.com/office/powerpoint/2010/main" val="2029153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8000">
              <a:srgbClr val="0F172A"/>
            </a:gs>
            <a:gs pos="0">
              <a:srgbClr val="2E4682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06E8F6-7DBD-99E4-D11A-EF7C0689D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B5CEFD5-A7F1-8D54-D2DC-1E4C393B556C}"/>
              </a:ext>
            </a:extLst>
          </p:cNvPr>
          <p:cNvSpPr/>
          <p:nvPr/>
        </p:nvSpPr>
        <p:spPr>
          <a:xfrm>
            <a:off x="4774526" y="-244649"/>
            <a:ext cx="10605849" cy="9160069"/>
          </a:xfrm>
          <a:custGeom>
            <a:avLst/>
            <a:gdLst>
              <a:gd name="connsiteX0" fmla="*/ 2759249 w 10605849"/>
              <a:gd name="connsiteY0" fmla="*/ 6210089 h 9160069"/>
              <a:gd name="connsiteX1" fmla="*/ 2188570 w 10605849"/>
              <a:gd name="connsiteY1" fmla="*/ 6884351 h 9160069"/>
              <a:gd name="connsiteX2" fmla="*/ 2759249 w 10605849"/>
              <a:gd name="connsiteY2" fmla="*/ 6625403 h 9160069"/>
              <a:gd name="connsiteX3" fmla="*/ 3329927 w 10605849"/>
              <a:gd name="connsiteY3" fmla="*/ 6884351 h 9160069"/>
              <a:gd name="connsiteX4" fmla="*/ 1379628 w 10605849"/>
              <a:gd name="connsiteY4" fmla="*/ 4580028 h 9160069"/>
              <a:gd name="connsiteX5" fmla="*/ 2485999 w 10605849"/>
              <a:gd name="connsiteY5" fmla="*/ 5082049 h 9160069"/>
              <a:gd name="connsiteX6" fmla="*/ 2759249 w 10605849"/>
              <a:gd name="connsiteY6" fmla="*/ 6210051 h 9160069"/>
              <a:gd name="connsiteX7" fmla="*/ 3032499 w 10605849"/>
              <a:gd name="connsiteY7" fmla="*/ 5082049 h 9160069"/>
              <a:gd name="connsiteX8" fmla="*/ 4138870 w 10605849"/>
              <a:gd name="connsiteY8" fmla="*/ 4580028 h 9160069"/>
              <a:gd name="connsiteX9" fmla="*/ 5245241 w 10605849"/>
              <a:gd name="connsiteY9" fmla="*/ 5082049 h 9160069"/>
              <a:gd name="connsiteX10" fmla="*/ 5468359 w 10605849"/>
              <a:gd name="connsiteY10" fmla="*/ 6003102 h 9160069"/>
              <a:gd name="connsiteX11" fmla="*/ 5691477 w 10605849"/>
              <a:gd name="connsiteY11" fmla="*/ 5082049 h 9160069"/>
              <a:gd name="connsiteX12" fmla="*/ 6797848 w 10605849"/>
              <a:gd name="connsiteY12" fmla="*/ 4580028 h 9160069"/>
              <a:gd name="connsiteX13" fmla="*/ 7904219 w 10605849"/>
              <a:gd name="connsiteY13" fmla="*/ 5082049 h 9160069"/>
              <a:gd name="connsiteX14" fmla="*/ 8177476 w 10605849"/>
              <a:gd name="connsiteY14" fmla="*/ 6210080 h 9160069"/>
              <a:gd name="connsiteX15" fmla="*/ 7411834 w 10605849"/>
              <a:gd name="connsiteY15" fmla="*/ 7114694 h 9160069"/>
              <a:gd name="connsiteX16" fmla="*/ 6183862 w 10605849"/>
              <a:gd name="connsiteY16" fmla="*/ 7114694 h 9160069"/>
              <a:gd name="connsiteX17" fmla="*/ 5468359 w 10605849"/>
              <a:gd name="connsiteY17" fmla="*/ 6269320 h 9160069"/>
              <a:gd name="connsiteX18" fmla="*/ 4752856 w 10605849"/>
              <a:gd name="connsiteY18" fmla="*/ 7114694 h 9160069"/>
              <a:gd name="connsiteX19" fmla="*/ 3837565 w 10605849"/>
              <a:gd name="connsiteY19" fmla="*/ 7114694 h 9160069"/>
              <a:gd name="connsiteX20" fmla="*/ 3865620 w 10605849"/>
              <a:gd name="connsiteY20" fmla="*/ 7127424 h 9160069"/>
              <a:gd name="connsiteX21" fmla="*/ 4138877 w 10605849"/>
              <a:gd name="connsiteY21" fmla="*/ 8255455 h 9160069"/>
              <a:gd name="connsiteX22" fmla="*/ 3373235 w 10605849"/>
              <a:gd name="connsiteY22" fmla="*/ 9160069 h 9160069"/>
              <a:gd name="connsiteX23" fmla="*/ 2145263 w 10605849"/>
              <a:gd name="connsiteY23" fmla="*/ 9160069 h 9160069"/>
              <a:gd name="connsiteX24" fmla="*/ 1379621 w 10605849"/>
              <a:gd name="connsiteY24" fmla="*/ 8255455 h 9160069"/>
              <a:gd name="connsiteX25" fmla="*/ 1652878 w 10605849"/>
              <a:gd name="connsiteY25" fmla="*/ 7127424 h 9160069"/>
              <a:gd name="connsiteX26" fmla="*/ 1680933 w 10605849"/>
              <a:gd name="connsiteY26" fmla="*/ 7114694 h 9160069"/>
              <a:gd name="connsiteX27" fmla="*/ 765642 w 10605849"/>
              <a:gd name="connsiteY27" fmla="*/ 7114694 h 9160069"/>
              <a:gd name="connsiteX28" fmla="*/ 0 w 10605849"/>
              <a:gd name="connsiteY28" fmla="*/ 6210080 h 9160069"/>
              <a:gd name="connsiteX29" fmla="*/ 273257 w 10605849"/>
              <a:gd name="connsiteY29" fmla="*/ 5082049 h 9160069"/>
              <a:gd name="connsiteX30" fmla="*/ 2646954 w 10605849"/>
              <a:gd name="connsiteY30" fmla="*/ 2290015 h 9160069"/>
              <a:gd name="connsiteX31" fmla="*/ 3753325 w 10605849"/>
              <a:gd name="connsiteY31" fmla="*/ 2792036 h 9160069"/>
              <a:gd name="connsiteX32" fmla="*/ 4026575 w 10605849"/>
              <a:gd name="connsiteY32" fmla="*/ 3920037 h 9160069"/>
              <a:gd name="connsiteX33" fmla="*/ 4299825 w 10605849"/>
              <a:gd name="connsiteY33" fmla="*/ 2792036 h 9160069"/>
              <a:gd name="connsiteX34" fmla="*/ 5406196 w 10605849"/>
              <a:gd name="connsiteY34" fmla="*/ 2290015 h 9160069"/>
              <a:gd name="connsiteX35" fmla="*/ 6512567 w 10605849"/>
              <a:gd name="connsiteY35" fmla="*/ 2792036 h 9160069"/>
              <a:gd name="connsiteX36" fmla="*/ 6735685 w 10605849"/>
              <a:gd name="connsiteY36" fmla="*/ 3713088 h 9160069"/>
              <a:gd name="connsiteX37" fmla="*/ 6958803 w 10605849"/>
              <a:gd name="connsiteY37" fmla="*/ 2792036 h 9160069"/>
              <a:gd name="connsiteX38" fmla="*/ 8065174 w 10605849"/>
              <a:gd name="connsiteY38" fmla="*/ 2290015 h 9160069"/>
              <a:gd name="connsiteX39" fmla="*/ 9171545 w 10605849"/>
              <a:gd name="connsiteY39" fmla="*/ 2792036 h 9160069"/>
              <a:gd name="connsiteX40" fmla="*/ 9444802 w 10605849"/>
              <a:gd name="connsiteY40" fmla="*/ 3920066 h 9160069"/>
              <a:gd name="connsiteX41" fmla="*/ 8679160 w 10605849"/>
              <a:gd name="connsiteY41" fmla="*/ 4824680 h 9160069"/>
              <a:gd name="connsiteX42" fmla="*/ 7451188 w 10605849"/>
              <a:gd name="connsiteY42" fmla="*/ 4824680 h 9160069"/>
              <a:gd name="connsiteX43" fmla="*/ 6735685 w 10605849"/>
              <a:gd name="connsiteY43" fmla="*/ 3979306 h 9160069"/>
              <a:gd name="connsiteX44" fmla="*/ 6020182 w 10605849"/>
              <a:gd name="connsiteY44" fmla="*/ 4824680 h 9160069"/>
              <a:gd name="connsiteX45" fmla="*/ 4792210 w 10605849"/>
              <a:gd name="connsiteY45" fmla="*/ 4824680 h 9160069"/>
              <a:gd name="connsiteX46" fmla="*/ 4026575 w 10605849"/>
              <a:gd name="connsiteY46" fmla="*/ 3920074 h 9160069"/>
              <a:gd name="connsiteX47" fmla="*/ 3260940 w 10605849"/>
              <a:gd name="connsiteY47" fmla="*/ 4824680 h 9160069"/>
              <a:gd name="connsiteX48" fmla="*/ 2032968 w 10605849"/>
              <a:gd name="connsiteY48" fmla="*/ 4824680 h 9160069"/>
              <a:gd name="connsiteX49" fmla="*/ 1267326 w 10605849"/>
              <a:gd name="connsiteY49" fmla="*/ 3920066 h 9160069"/>
              <a:gd name="connsiteX50" fmla="*/ 1540583 w 10605849"/>
              <a:gd name="connsiteY50" fmla="*/ 2792036 h 9160069"/>
              <a:gd name="connsiteX51" fmla="*/ 3808001 w 10605849"/>
              <a:gd name="connsiteY51" fmla="*/ 0 h 9160069"/>
              <a:gd name="connsiteX52" fmla="*/ 4914372 w 10605849"/>
              <a:gd name="connsiteY52" fmla="*/ 502021 h 9160069"/>
              <a:gd name="connsiteX53" fmla="*/ 5187622 w 10605849"/>
              <a:gd name="connsiteY53" fmla="*/ 1630023 h 9160069"/>
              <a:gd name="connsiteX54" fmla="*/ 5460872 w 10605849"/>
              <a:gd name="connsiteY54" fmla="*/ 502021 h 9160069"/>
              <a:gd name="connsiteX55" fmla="*/ 6567243 w 10605849"/>
              <a:gd name="connsiteY55" fmla="*/ 0 h 9160069"/>
              <a:gd name="connsiteX56" fmla="*/ 7673614 w 10605849"/>
              <a:gd name="connsiteY56" fmla="*/ 502021 h 9160069"/>
              <a:gd name="connsiteX57" fmla="*/ 7896732 w 10605849"/>
              <a:gd name="connsiteY57" fmla="*/ 1423074 h 9160069"/>
              <a:gd name="connsiteX58" fmla="*/ 8119850 w 10605849"/>
              <a:gd name="connsiteY58" fmla="*/ 502021 h 9160069"/>
              <a:gd name="connsiteX59" fmla="*/ 9226221 w 10605849"/>
              <a:gd name="connsiteY59" fmla="*/ 0 h 9160069"/>
              <a:gd name="connsiteX60" fmla="*/ 10332592 w 10605849"/>
              <a:gd name="connsiteY60" fmla="*/ 502021 h 9160069"/>
              <a:gd name="connsiteX61" fmla="*/ 10605849 w 10605849"/>
              <a:gd name="connsiteY61" fmla="*/ 1630052 h 9160069"/>
              <a:gd name="connsiteX62" fmla="*/ 9840207 w 10605849"/>
              <a:gd name="connsiteY62" fmla="*/ 2534666 h 9160069"/>
              <a:gd name="connsiteX63" fmla="*/ 8612235 w 10605849"/>
              <a:gd name="connsiteY63" fmla="*/ 2534666 h 9160069"/>
              <a:gd name="connsiteX64" fmla="*/ 7896732 w 10605849"/>
              <a:gd name="connsiteY64" fmla="*/ 1689292 h 9160069"/>
              <a:gd name="connsiteX65" fmla="*/ 7181229 w 10605849"/>
              <a:gd name="connsiteY65" fmla="*/ 2534666 h 9160069"/>
              <a:gd name="connsiteX66" fmla="*/ 5953257 w 10605849"/>
              <a:gd name="connsiteY66" fmla="*/ 2534666 h 9160069"/>
              <a:gd name="connsiteX67" fmla="*/ 5187622 w 10605849"/>
              <a:gd name="connsiteY67" fmla="*/ 1630061 h 9160069"/>
              <a:gd name="connsiteX68" fmla="*/ 4421987 w 10605849"/>
              <a:gd name="connsiteY68" fmla="*/ 2534666 h 9160069"/>
              <a:gd name="connsiteX69" fmla="*/ 3194015 w 10605849"/>
              <a:gd name="connsiteY69" fmla="*/ 2534666 h 9160069"/>
              <a:gd name="connsiteX70" fmla="*/ 2428373 w 10605849"/>
              <a:gd name="connsiteY70" fmla="*/ 1630052 h 9160069"/>
              <a:gd name="connsiteX71" fmla="*/ 2701630 w 10605849"/>
              <a:gd name="connsiteY71" fmla="*/ 502021 h 916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0605849" h="9160069">
                <a:moveTo>
                  <a:pt x="2759249" y="6210089"/>
                </a:moveTo>
                <a:lnTo>
                  <a:pt x="2188570" y="6884351"/>
                </a:lnTo>
                <a:lnTo>
                  <a:pt x="2759249" y="6625403"/>
                </a:lnTo>
                <a:lnTo>
                  <a:pt x="3329927" y="6884351"/>
                </a:lnTo>
                <a:close/>
                <a:moveTo>
                  <a:pt x="1379628" y="4580028"/>
                </a:moveTo>
                <a:lnTo>
                  <a:pt x="2485999" y="5082049"/>
                </a:lnTo>
                <a:lnTo>
                  <a:pt x="2759249" y="6210051"/>
                </a:lnTo>
                <a:lnTo>
                  <a:pt x="3032499" y="5082049"/>
                </a:lnTo>
                <a:lnTo>
                  <a:pt x="4138870" y="4580028"/>
                </a:lnTo>
                <a:lnTo>
                  <a:pt x="5245241" y="5082049"/>
                </a:lnTo>
                <a:lnTo>
                  <a:pt x="5468359" y="6003102"/>
                </a:lnTo>
                <a:lnTo>
                  <a:pt x="5691477" y="5082049"/>
                </a:lnTo>
                <a:lnTo>
                  <a:pt x="6797848" y="4580028"/>
                </a:lnTo>
                <a:lnTo>
                  <a:pt x="7904219" y="5082049"/>
                </a:lnTo>
                <a:lnTo>
                  <a:pt x="8177476" y="6210080"/>
                </a:lnTo>
                <a:lnTo>
                  <a:pt x="7411834" y="7114694"/>
                </a:lnTo>
                <a:lnTo>
                  <a:pt x="6183862" y="7114694"/>
                </a:lnTo>
                <a:lnTo>
                  <a:pt x="5468359" y="6269320"/>
                </a:lnTo>
                <a:lnTo>
                  <a:pt x="4752856" y="7114694"/>
                </a:lnTo>
                <a:lnTo>
                  <a:pt x="3837565" y="7114694"/>
                </a:lnTo>
                <a:lnTo>
                  <a:pt x="3865620" y="7127424"/>
                </a:lnTo>
                <a:lnTo>
                  <a:pt x="4138877" y="8255455"/>
                </a:lnTo>
                <a:lnTo>
                  <a:pt x="3373235" y="9160069"/>
                </a:lnTo>
                <a:lnTo>
                  <a:pt x="2145263" y="9160069"/>
                </a:lnTo>
                <a:lnTo>
                  <a:pt x="1379621" y="8255455"/>
                </a:lnTo>
                <a:lnTo>
                  <a:pt x="1652878" y="7127424"/>
                </a:lnTo>
                <a:lnTo>
                  <a:pt x="1680933" y="7114694"/>
                </a:lnTo>
                <a:lnTo>
                  <a:pt x="765642" y="7114694"/>
                </a:lnTo>
                <a:lnTo>
                  <a:pt x="0" y="6210080"/>
                </a:lnTo>
                <a:lnTo>
                  <a:pt x="273257" y="5082049"/>
                </a:lnTo>
                <a:close/>
                <a:moveTo>
                  <a:pt x="2646954" y="2290015"/>
                </a:moveTo>
                <a:lnTo>
                  <a:pt x="3753325" y="2792036"/>
                </a:lnTo>
                <a:lnTo>
                  <a:pt x="4026575" y="3920037"/>
                </a:lnTo>
                <a:lnTo>
                  <a:pt x="4299825" y="2792036"/>
                </a:lnTo>
                <a:lnTo>
                  <a:pt x="5406196" y="2290015"/>
                </a:lnTo>
                <a:lnTo>
                  <a:pt x="6512567" y="2792036"/>
                </a:lnTo>
                <a:lnTo>
                  <a:pt x="6735685" y="3713088"/>
                </a:lnTo>
                <a:lnTo>
                  <a:pt x="6958803" y="2792036"/>
                </a:lnTo>
                <a:lnTo>
                  <a:pt x="8065174" y="2290015"/>
                </a:lnTo>
                <a:lnTo>
                  <a:pt x="9171545" y="2792036"/>
                </a:lnTo>
                <a:lnTo>
                  <a:pt x="9444802" y="3920066"/>
                </a:lnTo>
                <a:lnTo>
                  <a:pt x="8679160" y="4824680"/>
                </a:lnTo>
                <a:lnTo>
                  <a:pt x="7451188" y="4824680"/>
                </a:lnTo>
                <a:lnTo>
                  <a:pt x="6735685" y="3979306"/>
                </a:lnTo>
                <a:lnTo>
                  <a:pt x="6020182" y="4824680"/>
                </a:lnTo>
                <a:lnTo>
                  <a:pt x="4792210" y="4824680"/>
                </a:lnTo>
                <a:lnTo>
                  <a:pt x="4026575" y="3920074"/>
                </a:lnTo>
                <a:lnTo>
                  <a:pt x="3260940" y="4824680"/>
                </a:lnTo>
                <a:lnTo>
                  <a:pt x="2032968" y="4824680"/>
                </a:lnTo>
                <a:lnTo>
                  <a:pt x="1267326" y="3920066"/>
                </a:lnTo>
                <a:lnTo>
                  <a:pt x="1540583" y="2792036"/>
                </a:lnTo>
                <a:close/>
                <a:moveTo>
                  <a:pt x="3808001" y="0"/>
                </a:moveTo>
                <a:lnTo>
                  <a:pt x="4914372" y="502021"/>
                </a:lnTo>
                <a:lnTo>
                  <a:pt x="5187622" y="1630023"/>
                </a:lnTo>
                <a:lnTo>
                  <a:pt x="5460872" y="502021"/>
                </a:lnTo>
                <a:lnTo>
                  <a:pt x="6567243" y="0"/>
                </a:lnTo>
                <a:lnTo>
                  <a:pt x="7673614" y="502021"/>
                </a:lnTo>
                <a:lnTo>
                  <a:pt x="7896732" y="1423074"/>
                </a:lnTo>
                <a:lnTo>
                  <a:pt x="8119850" y="502021"/>
                </a:lnTo>
                <a:lnTo>
                  <a:pt x="9226221" y="0"/>
                </a:lnTo>
                <a:lnTo>
                  <a:pt x="10332592" y="502021"/>
                </a:lnTo>
                <a:lnTo>
                  <a:pt x="10605849" y="1630052"/>
                </a:lnTo>
                <a:lnTo>
                  <a:pt x="9840207" y="2534666"/>
                </a:lnTo>
                <a:lnTo>
                  <a:pt x="8612235" y="2534666"/>
                </a:lnTo>
                <a:lnTo>
                  <a:pt x="7896732" y="1689292"/>
                </a:lnTo>
                <a:lnTo>
                  <a:pt x="7181229" y="2534666"/>
                </a:lnTo>
                <a:lnTo>
                  <a:pt x="5953257" y="2534666"/>
                </a:lnTo>
                <a:lnTo>
                  <a:pt x="5187622" y="1630061"/>
                </a:lnTo>
                <a:lnTo>
                  <a:pt x="4421987" y="2534666"/>
                </a:lnTo>
                <a:lnTo>
                  <a:pt x="3194015" y="2534666"/>
                </a:lnTo>
                <a:lnTo>
                  <a:pt x="2428373" y="1630052"/>
                </a:lnTo>
                <a:lnTo>
                  <a:pt x="2701630" y="502021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innerShdw blurRad="558800" dist="558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5E9EA3B-7966-4F7B-1D00-2AFB305D5113}"/>
              </a:ext>
            </a:extLst>
          </p:cNvPr>
          <p:cNvSpPr txBox="1"/>
          <p:nvPr/>
        </p:nvSpPr>
        <p:spPr>
          <a:xfrm>
            <a:off x="288758" y="320299"/>
            <a:ext cx="42594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59E0B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Part 4.2:</a:t>
            </a:r>
            <a:r>
              <a:rPr lang="en-US" sz="2800" b="1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  <a:t> Model Results</a:t>
            </a:r>
            <a:br>
              <a:rPr lang="en-US" sz="2800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endParaRPr lang="en-US" sz="2800" dirty="0">
              <a:solidFill>
                <a:srgbClr val="F8FAF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39A7F9-A213-6B55-D23B-23C1F41E11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758" y="1051290"/>
            <a:ext cx="7315214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385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8000">
              <a:srgbClr val="0F172A"/>
            </a:gs>
            <a:gs pos="0">
              <a:srgbClr val="2E4682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2C1C50-4F66-3D0A-B8F2-C3691A9C5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FEE09947-55C7-CB10-28E0-10E4D61DFA5A}"/>
              </a:ext>
            </a:extLst>
          </p:cNvPr>
          <p:cNvSpPr/>
          <p:nvPr/>
        </p:nvSpPr>
        <p:spPr>
          <a:xfrm>
            <a:off x="4774526" y="-244649"/>
            <a:ext cx="10605849" cy="9160069"/>
          </a:xfrm>
          <a:custGeom>
            <a:avLst/>
            <a:gdLst>
              <a:gd name="connsiteX0" fmla="*/ 2759249 w 10605849"/>
              <a:gd name="connsiteY0" fmla="*/ 6210089 h 9160069"/>
              <a:gd name="connsiteX1" fmla="*/ 2188570 w 10605849"/>
              <a:gd name="connsiteY1" fmla="*/ 6884351 h 9160069"/>
              <a:gd name="connsiteX2" fmla="*/ 2759249 w 10605849"/>
              <a:gd name="connsiteY2" fmla="*/ 6625403 h 9160069"/>
              <a:gd name="connsiteX3" fmla="*/ 3329927 w 10605849"/>
              <a:gd name="connsiteY3" fmla="*/ 6884351 h 9160069"/>
              <a:gd name="connsiteX4" fmla="*/ 1379628 w 10605849"/>
              <a:gd name="connsiteY4" fmla="*/ 4580028 h 9160069"/>
              <a:gd name="connsiteX5" fmla="*/ 2485999 w 10605849"/>
              <a:gd name="connsiteY5" fmla="*/ 5082049 h 9160069"/>
              <a:gd name="connsiteX6" fmla="*/ 2759249 w 10605849"/>
              <a:gd name="connsiteY6" fmla="*/ 6210051 h 9160069"/>
              <a:gd name="connsiteX7" fmla="*/ 3032499 w 10605849"/>
              <a:gd name="connsiteY7" fmla="*/ 5082049 h 9160069"/>
              <a:gd name="connsiteX8" fmla="*/ 4138870 w 10605849"/>
              <a:gd name="connsiteY8" fmla="*/ 4580028 h 9160069"/>
              <a:gd name="connsiteX9" fmla="*/ 5245241 w 10605849"/>
              <a:gd name="connsiteY9" fmla="*/ 5082049 h 9160069"/>
              <a:gd name="connsiteX10" fmla="*/ 5468359 w 10605849"/>
              <a:gd name="connsiteY10" fmla="*/ 6003102 h 9160069"/>
              <a:gd name="connsiteX11" fmla="*/ 5691477 w 10605849"/>
              <a:gd name="connsiteY11" fmla="*/ 5082049 h 9160069"/>
              <a:gd name="connsiteX12" fmla="*/ 6797848 w 10605849"/>
              <a:gd name="connsiteY12" fmla="*/ 4580028 h 9160069"/>
              <a:gd name="connsiteX13" fmla="*/ 7904219 w 10605849"/>
              <a:gd name="connsiteY13" fmla="*/ 5082049 h 9160069"/>
              <a:gd name="connsiteX14" fmla="*/ 8177476 w 10605849"/>
              <a:gd name="connsiteY14" fmla="*/ 6210080 h 9160069"/>
              <a:gd name="connsiteX15" fmla="*/ 7411834 w 10605849"/>
              <a:gd name="connsiteY15" fmla="*/ 7114694 h 9160069"/>
              <a:gd name="connsiteX16" fmla="*/ 6183862 w 10605849"/>
              <a:gd name="connsiteY16" fmla="*/ 7114694 h 9160069"/>
              <a:gd name="connsiteX17" fmla="*/ 5468359 w 10605849"/>
              <a:gd name="connsiteY17" fmla="*/ 6269320 h 9160069"/>
              <a:gd name="connsiteX18" fmla="*/ 4752856 w 10605849"/>
              <a:gd name="connsiteY18" fmla="*/ 7114694 h 9160069"/>
              <a:gd name="connsiteX19" fmla="*/ 3837565 w 10605849"/>
              <a:gd name="connsiteY19" fmla="*/ 7114694 h 9160069"/>
              <a:gd name="connsiteX20" fmla="*/ 3865620 w 10605849"/>
              <a:gd name="connsiteY20" fmla="*/ 7127424 h 9160069"/>
              <a:gd name="connsiteX21" fmla="*/ 4138877 w 10605849"/>
              <a:gd name="connsiteY21" fmla="*/ 8255455 h 9160069"/>
              <a:gd name="connsiteX22" fmla="*/ 3373235 w 10605849"/>
              <a:gd name="connsiteY22" fmla="*/ 9160069 h 9160069"/>
              <a:gd name="connsiteX23" fmla="*/ 2145263 w 10605849"/>
              <a:gd name="connsiteY23" fmla="*/ 9160069 h 9160069"/>
              <a:gd name="connsiteX24" fmla="*/ 1379621 w 10605849"/>
              <a:gd name="connsiteY24" fmla="*/ 8255455 h 9160069"/>
              <a:gd name="connsiteX25" fmla="*/ 1652878 w 10605849"/>
              <a:gd name="connsiteY25" fmla="*/ 7127424 h 9160069"/>
              <a:gd name="connsiteX26" fmla="*/ 1680933 w 10605849"/>
              <a:gd name="connsiteY26" fmla="*/ 7114694 h 9160069"/>
              <a:gd name="connsiteX27" fmla="*/ 765642 w 10605849"/>
              <a:gd name="connsiteY27" fmla="*/ 7114694 h 9160069"/>
              <a:gd name="connsiteX28" fmla="*/ 0 w 10605849"/>
              <a:gd name="connsiteY28" fmla="*/ 6210080 h 9160069"/>
              <a:gd name="connsiteX29" fmla="*/ 273257 w 10605849"/>
              <a:gd name="connsiteY29" fmla="*/ 5082049 h 9160069"/>
              <a:gd name="connsiteX30" fmla="*/ 2646954 w 10605849"/>
              <a:gd name="connsiteY30" fmla="*/ 2290015 h 9160069"/>
              <a:gd name="connsiteX31" fmla="*/ 3753325 w 10605849"/>
              <a:gd name="connsiteY31" fmla="*/ 2792036 h 9160069"/>
              <a:gd name="connsiteX32" fmla="*/ 4026575 w 10605849"/>
              <a:gd name="connsiteY32" fmla="*/ 3920037 h 9160069"/>
              <a:gd name="connsiteX33" fmla="*/ 4299825 w 10605849"/>
              <a:gd name="connsiteY33" fmla="*/ 2792036 h 9160069"/>
              <a:gd name="connsiteX34" fmla="*/ 5406196 w 10605849"/>
              <a:gd name="connsiteY34" fmla="*/ 2290015 h 9160069"/>
              <a:gd name="connsiteX35" fmla="*/ 6512567 w 10605849"/>
              <a:gd name="connsiteY35" fmla="*/ 2792036 h 9160069"/>
              <a:gd name="connsiteX36" fmla="*/ 6735685 w 10605849"/>
              <a:gd name="connsiteY36" fmla="*/ 3713088 h 9160069"/>
              <a:gd name="connsiteX37" fmla="*/ 6958803 w 10605849"/>
              <a:gd name="connsiteY37" fmla="*/ 2792036 h 9160069"/>
              <a:gd name="connsiteX38" fmla="*/ 8065174 w 10605849"/>
              <a:gd name="connsiteY38" fmla="*/ 2290015 h 9160069"/>
              <a:gd name="connsiteX39" fmla="*/ 9171545 w 10605849"/>
              <a:gd name="connsiteY39" fmla="*/ 2792036 h 9160069"/>
              <a:gd name="connsiteX40" fmla="*/ 9444802 w 10605849"/>
              <a:gd name="connsiteY40" fmla="*/ 3920066 h 9160069"/>
              <a:gd name="connsiteX41" fmla="*/ 8679160 w 10605849"/>
              <a:gd name="connsiteY41" fmla="*/ 4824680 h 9160069"/>
              <a:gd name="connsiteX42" fmla="*/ 7451188 w 10605849"/>
              <a:gd name="connsiteY42" fmla="*/ 4824680 h 9160069"/>
              <a:gd name="connsiteX43" fmla="*/ 6735685 w 10605849"/>
              <a:gd name="connsiteY43" fmla="*/ 3979306 h 9160069"/>
              <a:gd name="connsiteX44" fmla="*/ 6020182 w 10605849"/>
              <a:gd name="connsiteY44" fmla="*/ 4824680 h 9160069"/>
              <a:gd name="connsiteX45" fmla="*/ 4792210 w 10605849"/>
              <a:gd name="connsiteY45" fmla="*/ 4824680 h 9160069"/>
              <a:gd name="connsiteX46" fmla="*/ 4026575 w 10605849"/>
              <a:gd name="connsiteY46" fmla="*/ 3920074 h 9160069"/>
              <a:gd name="connsiteX47" fmla="*/ 3260940 w 10605849"/>
              <a:gd name="connsiteY47" fmla="*/ 4824680 h 9160069"/>
              <a:gd name="connsiteX48" fmla="*/ 2032968 w 10605849"/>
              <a:gd name="connsiteY48" fmla="*/ 4824680 h 9160069"/>
              <a:gd name="connsiteX49" fmla="*/ 1267326 w 10605849"/>
              <a:gd name="connsiteY49" fmla="*/ 3920066 h 9160069"/>
              <a:gd name="connsiteX50" fmla="*/ 1540583 w 10605849"/>
              <a:gd name="connsiteY50" fmla="*/ 2792036 h 9160069"/>
              <a:gd name="connsiteX51" fmla="*/ 3808001 w 10605849"/>
              <a:gd name="connsiteY51" fmla="*/ 0 h 9160069"/>
              <a:gd name="connsiteX52" fmla="*/ 4914372 w 10605849"/>
              <a:gd name="connsiteY52" fmla="*/ 502021 h 9160069"/>
              <a:gd name="connsiteX53" fmla="*/ 5187622 w 10605849"/>
              <a:gd name="connsiteY53" fmla="*/ 1630023 h 9160069"/>
              <a:gd name="connsiteX54" fmla="*/ 5460872 w 10605849"/>
              <a:gd name="connsiteY54" fmla="*/ 502021 h 9160069"/>
              <a:gd name="connsiteX55" fmla="*/ 6567243 w 10605849"/>
              <a:gd name="connsiteY55" fmla="*/ 0 h 9160069"/>
              <a:gd name="connsiteX56" fmla="*/ 7673614 w 10605849"/>
              <a:gd name="connsiteY56" fmla="*/ 502021 h 9160069"/>
              <a:gd name="connsiteX57" fmla="*/ 7896732 w 10605849"/>
              <a:gd name="connsiteY57" fmla="*/ 1423074 h 9160069"/>
              <a:gd name="connsiteX58" fmla="*/ 8119850 w 10605849"/>
              <a:gd name="connsiteY58" fmla="*/ 502021 h 9160069"/>
              <a:gd name="connsiteX59" fmla="*/ 9226221 w 10605849"/>
              <a:gd name="connsiteY59" fmla="*/ 0 h 9160069"/>
              <a:gd name="connsiteX60" fmla="*/ 10332592 w 10605849"/>
              <a:gd name="connsiteY60" fmla="*/ 502021 h 9160069"/>
              <a:gd name="connsiteX61" fmla="*/ 10605849 w 10605849"/>
              <a:gd name="connsiteY61" fmla="*/ 1630052 h 9160069"/>
              <a:gd name="connsiteX62" fmla="*/ 9840207 w 10605849"/>
              <a:gd name="connsiteY62" fmla="*/ 2534666 h 9160069"/>
              <a:gd name="connsiteX63" fmla="*/ 8612235 w 10605849"/>
              <a:gd name="connsiteY63" fmla="*/ 2534666 h 9160069"/>
              <a:gd name="connsiteX64" fmla="*/ 7896732 w 10605849"/>
              <a:gd name="connsiteY64" fmla="*/ 1689292 h 9160069"/>
              <a:gd name="connsiteX65" fmla="*/ 7181229 w 10605849"/>
              <a:gd name="connsiteY65" fmla="*/ 2534666 h 9160069"/>
              <a:gd name="connsiteX66" fmla="*/ 5953257 w 10605849"/>
              <a:gd name="connsiteY66" fmla="*/ 2534666 h 9160069"/>
              <a:gd name="connsiteX67" fmla="*/ 5187622 w 10605849"/>
              <a:gd name="connsiteY67" fmla="*/ 1630061 h 9160069"/>
              <a:gd name="connsiteX68" fmla="*/ 4421987 w 10605849"/>
              <a:gd name="connsiteY68" fmla="*/ 2534666 h 9160069"/>
              <a:gd name="connsiteX69" fmla="*/ 3194015 w 10605849"/>
              <a:gd name="connsiteY69" fmla="*/ 2534666 h 9160069"/>
              <a:gd name="connsiteX70" fmla="*/ 2428373 w 10605849"/>
              <a:gd name="connsiteY70" fmla="*/ 1630052 h 9160069"/>
              <a:gd name="connsiteX71" fmla="*/ 2701630 w 10605849"/>
              <a:gd name="connsiteY71" fmla="*/ 502021 h 916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0605849" h="9160069">
                <a:moveTo>
                  <a:pt x="2759249" y="6210089"/>
                </a:moveTo>
                <a:lnTo>
                  <a:pt x="2188570" y="6884351"/>
                </a:lnTo>
                <a:lnTo>
                  <a:pt x="2759249" y="6625403"/>
                </a:lnTo>
                <a:lnTo>
                  <a:pt x="3329927" y="6884351"/>
                </a:lnTo>
                <a:close/>
                <a:moveTo>
                  <a:pt x="1379628" y="4580028"/>
                </a:moveTo>
                <a:lnTo>
                  <a:pt x="2485999" y="5082049"/>
                </a:lnTo>
                <a:lnTo>
                  <a:pt x="2759249" y="6210051"/>
                </a:lnTo>
                <a:lnTo>
                  <a:pt x="3032499" y="5082049"/>
                </a:lnTo>
                <a:lnTo>
                  <a:pt x="4138870" y="4580028"/>
                </a:lnTo>
                <a:lnTo>
                  <a:pt x="5245241" y="5082049"/>
                </a:lnTo>
                <a:lnTo>
                  <a:pt x="5468359" y="6003102"/>
                </a:lnTo>
                <a:lnTo>
                  <a:pt x="5691477" y="5082049"/>
                </a:lnTo>
                <a:lnTo>
                  <a:pt x="6797848" y="4580028"/>
                </a:lnTo>
                <a:lnTo>
                  <a:pt x="7904219" y="5082049"/>
                </a:lnTo>
                <a:lnTo>
                  <a:pt x="8177476" y="6210080"/>
                </a:lnTo>
                <a:lnTo>
                  <a:pt x="7411834" y="7114694"/>
                </a:lnTo>
                <a:lnTo>
                  <a:pt x="6183862" y="7114694"/>
                </a:lnTo>
                <a:lnTo>
                  <a:pt x="5468359" y="6269320"/>
                </a:lnTo>
                <a:lnTo>
                  <a:pt x="4752856" y="7114694"/>
                </a:lnTo>
                <a:lnTo>
                  <a:pt x="3837565" y="7114694"/>
                </a:lnTo>
                <a:lnTo>
                  <a:pt x="3865620" y="7127424"/>
                </a:lnTo>
                <a:lnTo>
                  <a:pt x="4138877" y="8255455"/>
                </a:lnTo>
                <a:lnTo>
                  <a:pt x="3373235" y="9160069"/>
                </a:lnTo>
                <a:lnTo>
                  <a:pt x="2145263" y="9160069"/>
                </a:lnTo>
                <a:lnTo>
                  <a:pt x="1379621" y="8255455"/>
                </a:lnTo>
                <a:lnTo>
                  <a:pt x="1652878" y="7127424"/>
                </a:lnTo>
                <a:lnTo>
                  <a:pt x="1680933" y="7114694"/>
                </a:lnTo>
                <a:lnTo>
                  <a:pt x="765642" y="7114694"/>
                </a:lnTo>
                <a:lnTo>
                  <a:pt x="0" y="6210080"/>
                </a:lnTo>
                <a:lnTo>
                  <a:pt x="273257" y="5082049"/>
                </a:lnTo>
                <a:close/>
                <a:moveTo>
                  <a:pt x="2646954" y="2290015"/>
                </a:moveTo>
                <a:lnTo>
                  <a:pt x="3753325" y="2792036"/>
                </a:lnTo>
                <a:lnTo>
                  <a:pt x="4026575" y="3920037"/>
                </a:lnTo>
                <a:lnTo>
                  <a:pt x="4299825" y="2792036"/>
                </a:lnTo>
                <a:lnTo>
                  <a:pt x="5406196" y="2290015"/>
                </a:lnTo>
                <a:lnTo>
                  <a:pt x="6512567" y="2792036"/>
                </a:lnTo>
                <a:lnTo>
                  <a:pt x="6735685" y="3713088"/>
                </a:lnTo>
                <a:lnTo>
                  <a:pt x="6958803" y="2792036"/>
                </a:lnTo>
                <a:lnTo>
                  <a:pt x="8065174" y="2290015"/>
                </a:lnTo>
                <a:lnTo>
                  <a:pt x="9171545" y="2792036"/>
                </a:lnTo>
                <a:lnTo>
                  <a:pt x="9444802" y="3920066"/>
                </a:lnTo>
                <a:lnTo>
                  <a:pt x="8679160" y="4824680"/>
                </a:lnTo>
                <a:lnTo>
                  <a:pt x="7451188" y="4824680"/>
                </a:lnTo>
                <a:lnTo>
                  <a:pt x="6735685" y="3979306"/>
                </a:lnTo>
                <a:lnTo>
                  <a:pt x="6020182" y="4824680"/>
                </a:lnTo>
                <a:lnTo>
                  <a:pt x="4792210" y="4824680"/>
                </a:lnTo>
                <a:lnTo>
                  <a:pt x="4026575" y="3920074"/>
                </a:lnTo>
                <a:lnTo>
                  <a:pt x="3260940" y="4824680"/>
                </a:lnTo>
                <a:lnTo>
                  <a:pt x="2032968" y="4824680"/>
                </a:lnTo>
                <a:lnTo>
                  <a:pt x="1267326" y="3920066"/>
                </a:lnTo>
                <a:lnTo>
                  <a:pt x="1540583" y="2792036"/>
                </a:lnTo>
                <a:close/>
                <a:moveTo>
                  <a:pt x="3808001" y="0"/>
                </a:moveTo>
                <a:lnTo>
                  <a:pt x="4914372" y="502021"/>
                </a:lnTo>
                <a:lnTo>
                  <a:pt x="5187622" y="1630023"/>
                </a:lnTo>
                <a:lnTo>
                  <a:pt x="5460872" y="502021"/>
                </a:lnTo>
                <a:lnTo>
                  <a:pt x="6567243" y="0"/>
                </a:lnTo>
                <a:lnTo>
                  <a:pt x="7673614" y="502021"/>
                </a:lnTo>
                <a:lnTo>
                  <a:pt x="7896732" y="1423074"/>
                </a:lnTo>
                <a:lnTo>
                  <a:pt x="8119850" y="502021"/>
                </a:lnTo>
                <a:lnTo>
                  <a:pt x="9226221" y="0"/>
                </a:lnTo>
                <a:lnTo>
                  <a:pt x="10332592" y="502021"/>
                </a:lnTo>
                <a:lnTo>
                  <a:pt x="10605849" y="1630052"/>
                </a:lnTo>
                <a:lnTo>
                  <a:pt x="9840207" y="2534666"/>
                </a:lnTo>
                <a:lnTo>
                  <a:pt x="8612235" y="2534666"/>
                </a:lnTo>
                <a:lnTo>
                  <a:pt x="7896732" y="1689292"/>
                </a:lnTo>
                <a:lnTo>
                  <a:pt x="7181229" y="2534666"/>
                </a:lnTo>
                <a:lnTo>
                  <a:pt x="5953257" y="2534666"/>
                </a:lnTo>
                <a:lnTo>
                  <a:pt x="5187622" y="1630061"/>
                </a:lnTo>
                <a:lnTo>
                  <a:pt x="4421987" y="2534666"/>
                </a:lnTo>
                <a:lnTo>
                  <a:pt x="3194015" y="2534666"/>
                </a:lnTo>
                <a:lnTo>
                  <a:pt x="2428373" y="1630052"/>
                </a:lnTo>
                <a:lnTo>
                  <a:pt x="2701630" y="502021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innerShdw blurRad="558800" dist="558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E59A45-5955-2C37-144A-D50CD112002A}"/>
              </a:ext>
            </a:extLst>
          </p:cNvPr>
          <p:cNvSpPr txBox="1"/>
          <p:nvPr/>
        </p:nvSpPr>
        <p:spPr>
          <a:xfrm>
            <a:off x="288758" y="320299"/>
            <a:ext cx="424827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59E0B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Part 4.2:</a:t>
            </a:r>
            <a:r>
              <a:rPr lang="en-US" sz="2800" b="1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  <a:t> Model Results</a:t>
            </a:r>
            <a:br>
              <a:rPr lang="en-US" sz="2800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endParaRPr lang="en-US" sz="2800" dirty="0">
              <a:solidFill>
                <a:srgbClr val="F8FAF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CB231-EE4D-5FEC-9C86-989A20A8D9E6}"/>
              </a:ext>
            </a:extLst>
          </p:cNvPr>
          <p:cNvSpPr txBox="1"/>
          <p:nvPr/>
        </p:nvSpPr>
        <p:spPr>
          <a:xfrm>
            <a:off x="301141" y="1595352"/>
            <a:ext cx="447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  <a:latin typeface="Montserrat" pitchFamily="2" charset="0"/>
              </a:rPr>
              <a:t>What the plot shows: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542865-3CE1-E1C4-3AE8-294E2EF01D4C}"/>
              </a:ext>
            </a:extLst>
          </p:cNvPr>
          <p:cNvSpPr txBox="1"/>
          <p:nvPr/>
        </p:nvSpPr>
        <p:spPr>
          <a:xfrm>
            <a:off x="288757" y="2285630"/>
            <a:ext cx="42258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Model captures general trends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Large dispersion around the 45° line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4610DD-BCDE-A9F0-9A5A-E24908AE920E}"/>
              </a:ext>
            </a:extLst>
          </p:cNvPr>
          <p:cNvSpPr txBox="1"/>
          <p:nvPr/>
        </p:nvSpPr>
        <p:spPr>
          <a:xfrm>
            <a:off x="301141" y="3429000"/>
            <a:ext cx="447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  <a:latin typeface="Montserrat" pitchFamily="2" charset="0"/>
              </a:rPr>
              <a:t>Evaluation Metrics: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254996-519F-1989-1E58-9C961A518843}"/>
              </a:ext>
            </a:extLst>
          </p:cNvPr>
          <p:cNvSpPr txBox="1"/>
          <p:nvPr/>
        </p:nvSpPr>
        <p:spPr>
          <a:xfrm>
            <a:off x="288756" y="4012219"/>
            <a:ext cx="4225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R² ≈ 0.17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RMSE ≈ 3.54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5950A-6BE3-68FC-BE34-6081C0CC1DAA}"/>
              </a:ext>
            </a:extLst>
          </p:cNvPr>
          <p:cNvSpPr txBox="1"/>
          <p:nvPr/>
        </p:nvSpPr>
        <p:spPr>
          <a:xfrm>
            <a:off x="301141" y="4878590"/>
            <a:ext cx="447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  <a:latin typeface="Montserrat" pitchFamily="2" charset="0"/>
              </a:rPr>
              <a:t>Interpretation: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B94645-C8E8-739E-11A5-F692AD0D1324}"/>
              </a:ext>
            </a:extLst>
          </p:cNvPr>
          <p:cNvSpPr txBox="1"/>
          <p:nvPr/>
        </p:nvSpPr>
        <p:spPr>
          <a:xfrm>
            <a:off x="288756" y="5461809"/>
            <a:ext cx="4225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Only a small share of GDP growth is explained</a:t>
            </a:r>
          </a:p>
        </p:txBody>
      </p:sp>
    </p:spTree>
    <p:extLst>
      <p:ext uri="{BB962C8B-B14F-4D97-AF65-F5344CB8AC3E}">
        <p14:creationId xmlns:p14="http://schemas.microsoft.com/office/powerpoint/2010/main" val="4097919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8000">
              <a:srgbClr val="0F172A"/>
            </a:gs>
            <a:gs pos="0">
              <a:srgbClr val="2E4682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2E7FB4-DE0F-13CC-C162-1C707B394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349E8BEF-B63A-7CF4-69E3-E8EC38D51013}"/>
              </a:ext>
            </a:extLst>
          </p:cNvPr>
          <p:cNvSpPr/>
          <p:nvPr/>
        </p:nvSpPr>
        <p:spPr>
          <a:xfrm>
            <a:off x="4774526" y="-244649"/>
            <a:ext cx="10605849" cy="9160069"/>
          </a:xfrm>
          <a:custGeom>
            <a:avLst/>
            <a:gdLst>
              <a:gd name="connsiteX0" fmla="*/ 2759249 w 10605849"/>
              <a:gd name="connsiteY0" fmla="*/ 6210089 h 9160069"/>
              <a:gd name="connsiteX1" fmla="*/ 2188570 w 10605849"/>
              <a:gd name="connsiteY1" fmla="*/ 6884351 h 9160069"/>
              <a:gd name="connsiteX2" fmla="*/ 2759249 w 10605849"/>
              <a:gd name="connsiteY2" fmla="*/ 6625403 h 9160069"/>
              <a:gd name="connsiteX3" fmla="*/ 3329927 w 10605849"/>
              <a:gd name="connsiteY3" fmla="*/ 6884351 h 9160069"/>
              <a:gd name="connsiteX4" fmla="*/ 1379628 w 10605849"/>
              <a:gd name="connsiteY4" fmla="*/ 4580028 h 9160069"/>
              <a:gd name="connsiteX5" fmla="*/ 2485999 w 10605849"/>
              <a:gd name="connsiteY5" fmla="*/ 5082049 h 9160069"/>
              <a:gd name="connsiteX6" fmla="*/ 2759249 w 10605849"/>
              <a:gd name="connsiteY6" fmla="*/ 6210051 h 9160069"/>
              <a:gd name="connsiteX7" fmla="*/ 3032499 w 10605849"/>
              <a:gd name="connsiteY7" fmla="*/ 5082049 h 9160069"/>
              <a:gd name="connsiteX8" fmla="*/ 4138870 w 10605849"/>
              <a:gd name="connsiteY8" fmla="*/ 4580028 h 9160069"/>
              <a:gd name="connsiteX9" fmla="*/ 5245241 w 10605849"/>
              <a:gd name="connsiteY9" fmla="*/ 5082049 h 9160069"/>
              <a:gd name="connsiteX10" fmla="*/ 5468359 w 10605849"/>
              <a:gd name="connsiteY10" fmla="*/ 6003102 h 9160069"/>
              <a:gd name="connsiteX11" fmla="*/ 5691477 w 10605849"/>
              <a:gd name="connsiteY11" fmla="*/ 5082049 h 9160069"/>
              <a:gd name="connsiteX12" fmla="*/ 6797848 w 10605849"/>
              <a:gd name="connsiteY12" fmla="*/ 4580028 h 9160069"/>
              <a:gd name="connsiteX13" fmla="*/ 7904219 w 10605849"/>
              <a:gd name="connsiteY13" fmla="*/ 5082049 h 9160069"/>
              <a:gd name="connsiteX14" fmla="*/ 8177476 w 10605849"/>
              <a:gd name="connsiteY14" fmla="*/ 6210080 h 9160069"/>
              <a:gd name="connsiteX15" fmla="*/ 7411834 w 10605849"/>
              <a:gd name="connsiteY15" fmla="*/ 7114694 h 9160069"/>
              <a:gd name="connsiteX16" fmla="*/ 6183862 w 10605849"/>
              <a:gd name="connsiteY16" fmla="*/ 7114694 h 9160069"/>
              <a:gd name="connsiteX17" fmla="*/ 5468359 w 10605849"/>
              <a:gd name="connsiteY17" fmla="*/ 6269320 h 9160069"/>
              <a:gd name="connsiteX18" fmla="*/ 4752856 w 10605849"/>
              <a:gd name="connsiteY18" fmla="*/ 7114694 h 9160069"/>
              <a:gd name="connsiteX19" fmla="*/ 3837565 w 10605849"/>
              <a:gd name="connsiteY19" fmla="*/ 7114694 h 9160069"/>
              <a:gd name="connsiteX20" fmla="*/ 3865620 w 10605849"/>
              <a:gd name="connsiteY20" fmla="*/ 7127424 h 9160069"/>
              <a:gd name="connsiteX21" fmla="*/ 4138877 w 10605849"/>
              <a:gd name="connsiteY21" fmla="*/ 8255455 h 9160069"/>
              <a:gd name="connsiteX22" fmla="*/ 3373235 w 10605849"/>
              <a:gd name="connsiteY22" fmla="*/ 9160069 h 9160069"/>
              <a:gd name="connsiteX23" fmla="*/ 2145263 w 10605849"/>
              <a:gd name="connsiteY23" fmla="*/ 9160069 h 9160069"/>
              <a:gd name="connsiteX24" fmla="*/ 1379621 w 10605849"/>
              <a:gd name="connsiteY24" fmla="*/ 8255455 h 9160069"/>
              <a:gd name="connsiteX25" fmla="*/ 1652878 w 10605849"/>
              <a:gd name="connsiteY25" fmla="*/ 7127424 h 9160069"/>
              <a:gd name="connsiteX26" fmla="*/ 1680933 w 10605849"/>
              <a:gd name="connsiteY26" fmla="*/ 7114694 h 9160069"/>
              <a:gd name="connsiteX27" fmla="*/ 765642 w 10605849"/>
              <a:gd name="connsiteY27" fmla="*/ 7114694 h 9160069"/>
              <a:gd name="connsiteX28" fmla="*/ 0 w 10605849"/>
              <a:gd name="connsiteY28" fmla="*/ 6210080 h 9160069"/>
              <a:gd name="connsiteX29" fmla="*/ 273257 w 10605849"/>
              <a:gd name="connsiteY29" fmla="*/ 5082049 h 9160069"/>
              <a:gd name="connsiteX30" fmla="*/ 2646954 w 10605849"/>
              <a:gd name="connsiteY30" fmla="*/ 2290015 h 9160069"/>
              <a:gd name="connsiteX31" fmla="*/ 3753325 w 10605849"/>
              <a:gd name="connsiteY31" fmla="*/ 2792036 h 9160069"/>
              <a:gd name="connsiteX32" fmla="*/ 4026575 w 10605849"/>
              <a:gd name="connsiteY32" fmla="*/ 3920037 h 9160069"/>
              <a:gd name="connsiteX33" fmla="*/ 4299825 w 10605849"/>
              <a:gd name="connsiteY33" fmla="*/ 2792036 h 9160069"/>
              <a:gd name="connsiteX34" fmla="*/ 5406196 w 10605849"/>
              <a:gd name="connsiteY34" fmla="*/ 2290015 h 9160069"/>
              <a:gd name="connsiteX35" fmla="*/ 6512567 w 10605849"/>
              <a:gd name="connsiteY35" fmla="*/ 2792036 h 9160069"/>
              <a:gd name="connsiteX36" fmla="*/ 6735685 w 10605849"/>
              <a:gd name="connsiteY36" fmla="*/ 3713088 h 9160069"/>
              <a:gd name="connsiteX37" fmla="*/ 6958803 w 10605849"/>
              <a:gd name="connsiteY37" fmla="*/ 2792036 h 9160069"/>
              <a:gd name="connsiteX38" fmla="*/ 8065174 w 10605849"/>
              <a:gd name="connsiteY38" fmla="*/ 2290015 h 9160069"/>
              <a:gd name="connsiteX39" fmla="*/ 9171545 w 10605849"/>
              <a:gd name="connsiteY39" fmla="*/ 2792036 h 9160069"/>
              <a:gd name="connsiteX40" fmla="*/ 9444802 w 10605849"/>
              <a:gd name="connsiteY40" fmla="*/ 3920066 h 9160069"/>
              <a:gd name="connsiteX41" fmla="*/ 8679160 w 10605849"/>
              <a:gd name="connsiteY41" fmla="*/ 4824680 h 9160069"/>
              <a:gd name="connsiteX42" fmla="*/ 7451188 w 10605849"/>
              <a:gd name="connsiteY42" fmla="*/ 4824680 h 9160069"/>
              <a:gd name="connsiteX43" fmla="*/ 6735685 w 10605849"/>
              <a:gd name="connsiteY43" fmla="*/ 3979306 h 9160069"/>
              <a:gd name="connsiteX44" fmla="*/ 6020182 w 10605849"/>
              <a:gd name="connsiteY44" fmla="*/ 4824680 h 9160069"/>
              <a:gd name="connsiteX45" fmla="*/ 4792210 w 10605849"/>
              <a:gd name="connsiteY45" fmla="*/ 4824680 h 9160069"/>
              <a:gd name="connsiteX46" fmla="*/ 4026575 w 10605849"/>
              <a:gd name="connsiteY46" fmla="*/ 3920074 h 9160069"/>
              <a:gd name="connsiteX47" fmla="*/ 3260940 w 10605849"/>
              <a:gd name="connsiteY47" fmla="*/ 4824680 h 9160069"/>
              <a:gd name="connsiteX48" fmla="*/ 2032968 w 10605849"/>
              <a:gd name="connsiteY48" fmla="*/ 4824680 h 9160069"/>
              <a:gd name="connsiteX49" fmla="*/ 1267326 w 10605849"/>
              <a:gd name="connsiteY49" fmla="*/ 3920066 h 9160069"/>
              <a:gd name="connsiteX50" fmla="*/ 1540583 w 10605849"/>
              <a:gd name="connsiteY50" fmla="*/ 2792036 h 9160069"/>
              <a:gd name="connsiteX51" fmla="*/ 3808001 w 10605849"/>
              <a:gd name="connsiteY51" fmla="*/ 0 h 9160069"/>
              <a:gd name="connsiteX52" fmla="*/ 4914372 w 10605849"/>
              <a:gd name="connsiteY52" fmla="*/ 502021 h 9160069"/>
              <a:gd name="connsiteX53" fmla="*/ 5187622 w 10605849"/>
              <a:gd name="connsiteY53" fmla="*/ 1630023 h 9160069"/>
              <a:gd name="connsiteX54" fmla="*/ 5460872 w 10605849"/>
              <a:gd name="connsiteY54" fmla="*/ 502021 h 9160069"/>
              <a:gd name="connsiteX55" fmla="*/ 6567243 w 10605849"/>
              <a:gd name="connsiteY55" fmla="*/ 0 h 9160069"/>
              <a:gd name="connsiteX56" fmla="*/ 7673614 w 10605849"/>
              <a:gd name="connsiteY56" fmla="*/ 502021 h 9160069"/>
              <a:gd name="connsiteX57" fmla="*/ 7896732 w 10605849"/>
              <a:gd name="connsiteY57" fmla="*/ 1423074 h 9160069"/>
              <a:gd name="connsiteX58" fmla="*/ 8119850 w 10605849"/>
              <a:gd name="connsiteY58" fmla="*/ 502021 h 9160069"/>
              <a:gd name="connsiteX59" fmla="*/ 9226221 w 10605849"/>
              <a:gd name="connsiteY59" fmla="*/ 0 h 9160069"/>
              <a:gd name="connsiteX60" fmla="*/ 10332592 w 10605849"/>
              <a:gd name="connsiteY60" fmla="*/ 502021 h 9160069"/>
              <a:gd name="connsiteX61" fmla="*/ 10605849 w 10605849"/>
              <a:gd name="connsiteY61" fmla="*/ 1630052 h 9160069"/>
              <a:gd name="connsiteX62" fmla="*/ 9840207 w 10605849"/>
              <a:gd name="connsiteY62" fmla="*/ 2534666 h 9160069"/>
              <a:gd name="connsiteX63" fmla="*/ 8612235 w 10605849"/>
              <a:gd name="connsiteY63" fmla="*/ 2534666 h 9160069"/>
              <a:gd name="connsiteX64" fmla="*/ 7896732 w 10605849"/>
              <a:gd name="connsiteY64" fmla="*/ 1689292 h 9160069"/>
              <a:gd name="connsiteX65" fmla="*/ 7181229 w 10605849"/>
              <a:gd name="connsiteY65" fmla="*/ 2534666 h 9160069"/>
              <a:gd name="connsiteX66" fmla="*/ 5953257 w 10605849"/>
              <a:gd name="connsiteY66" fmla="*/ 2534666 h 9160069"/>
              <a:gd name="connsiteX67" fmla="*/ 5187622 w 10605849"/>
              <a:gd name="connsiteY67" fmla="*/ 1630061 h 9160069"/>
              <a:gd name="connsiteX68" fmla="*/ 4421987 w 10605849"/>
              <a:gd name="connsiteY68" fmla="*/ 2534666 h 9160069"/>
              <a:gd name="connsiteX69" fmla="*/ 3194015 w 10605849"/>
              <a:gd name="connsiteY69" fmla="*/ 2534666 h 9160069"/>
              <a:gd name="connsiteX70" fmla="*/ 2428373 w 10605849"/>
              <a:gd name="connsiteY70" fmla="*/ 1630052 h 9160069"/>
              <a:gd name="connsiteX71" fmla="*/ 2701630 w 10605849"/>
              <a:gd name="connsiteY71" fmla="*/ 502021 h 916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0605849" h="9160069">
                <a:moveTo>
                  <a:pt x="2759249" y="6210089"/>
                </a:moveTo>
                <a:lnTo>
                  <a:pt x="2188570" y="6884351"/>
                </a:lnTo>
                <a:lnTo>
                  <a:pt x="2759249" y="6625403"/>
                </a:lnTo>
                <a:lnTo>
                  <a:pt x="3329927" y="6884351"/>
                </a:lnTo>
                <a:close/>
                <a:moveTo>
                  <a:pt x="1379628" y="4580028"/>
                </a:moveTo>
                <a:lnTo>
                  <a:pt x="2485999" y="5082049"/>
                </a:lnTo>
                <a:lnTo>
                  <a:pt x="2759249" y="6210051"/>
                </a:lnTo>
                <a:lnTo>
                  <a:pt x="3032499" y="5082049"/>
                </a:lnTo>
                <a:lnTo>
                  <a:pt x="4138870" y="4580028"/>
                </a:lnTo>
                <a:lnTo>
                  <a:pt x="5245241" y="5082049"/>
                </a:lnTo>
                <a:lnTo>
                  <a:pt x="5468359" y="6003102"/>
                </a:lnTo>
                <a:lnTo>
                  <a:pt x="5691477" y="5082049"/>
                </a:lnTo>
                <a:lnTo>
                  <a:pt x="6797848" y="4580028"/>
                </a:lnTo>
                <a:lnTo>
                  <a:pt x="7904219" y="5082049"/>
                </a:lnTo>
                <a:lnTo>
                  <a:pt x="8177476" y="6210080"/>
                </a:lnTo>
                <a:lnTo>
                  <a:pt x="7411834" y="7114694"/>
                </a:lnTo>
                <a:lnTo>
                  <a:pt x="6183862" y="7114694"/>
                </a:lnTo>
                <a:lnTo>
                  <a:pt x="5468359" y="6269320"/>
                </a:lnTo>
                <a:lnTo>
                  <a:pt x="4752856" y="7114694"/>
                </a:lnTo>
                <a:lnTo>
                  <a:pt x="3837565" y="7114694"/>
                </a:lnTo>
                <a:lnTo>
                  <a:pt x="3865620" y="7127424"/>
                </a:lnTo>
                <a:lnTo>
                  <a:pt x="4138877" y="8255455"/>
                </a:lnTo>
                <a:lnTo>
                  <a:pt x="3373235" y="9160069"/>
                </a:lnTo>
                <a:lnTo>
                  <a:pt x="2145263" y="9160069"/>
                </a:lnTo>
                <a:lnTo>
                  <a:pt x="1379621" y="8255455"/>
                </a:lnTo>
                <a:lnTo>
                  <a:pt x="1652878" y="7127424"/>
                </a:lnTo>
                <a:lnTo>
                  <a:pt x="1680933" y="7114694"/>
                </a:lnTo>
                <a:lnTo>
                  <a:pt x="765642" y="7114694"/>
                </a:lnTo>
                <a:lnTo>
                  <a:pt x="0" y="6210080"/>
                </a:lnTo>
                <a:lnTo>
                  <a:pt x="273257" y="5082049"/>
                </a:lnTo>
                <a:close/>
                <a:moveTo>
                  <a:pt x="2646954" y="2290015"/>
                </a:moveTo>
                <a:lnTo>
                  <a:pt x="3753325" y="2792036"/>
                </a:lnTo>
                <a:lnTo>
                  <a:pt x="4026575" y="3920037"/>
                </a:lnTo>
                <a:lnTo>
                  <a:pt x="4299825" y="2792036"/>
                </a:lnTo>
                <a:lnTo>
                  <a:pt x="5406196" y="2290015"/>
                </a:lnTo>
                <a:lnTo>
                  <a:pt x="6512567" y="2792036"/>
                </a:lnTo>
                <a:lnTo>
                  <a:pt x="6735685" y="3713088"/>
                </a:lnTo>
                <a:lnTo>
                  <a:pt x="6958803" y="2792036"/>
                </a:lnTo>
                <a:lnTo>
                  <a:pt x="8065174" y="2290015"/>
                </a:lnTo>
                <a:lnTo>
                  <a:pt x="9171545" y="2792036"/>
                </a:lnTo>
                <a:lnTo>
                  <a:pt x="9444802" y="3920066"/>
                </a:lnTo>
                <a:lnTo>
                  <a:pt x="8679160" y="4824680"/>
                </a:lnTo>
                <a:lnTo>
                  <a:pt x="7451188" y="4824680"/>
                </a:lnTo>
                <a:lnTo>
                  <a:pt x="6735685" y="3979306"/>
                </a:lnTo>
                <a:lnTo>
                  <a:pt x="6020182" y="4824680"/>
                </a:lnTo>
                <a:lnTo>
                  <a:pt x="4792210" y="4824680"/>
                </a:lnTo>
                <a:lnTo>
                  <a:pt x="4026575" y="3920074"/>
                </a:lnTo>
                <a:lnTo>
                  <a:pt x="3260940" y="4824680"/>
                </a:lnTo>
                <a:lnTo>
                  <a:pt x="2032968" y="4824680"/>
                </a:lnTo>
                <a:lnTo>
                  <a:pt x="1267326" y="3920066"/>
                </a:lnTo>
                <a:lnTo>
                  <a:pt x="1540583" y="2792036"/>
                </a:lnTo>
                <a:close/>
                <a:moveTo>
                  <a:pt x="3808001" y="0"/>
                </a:moveTo>
                <a:lnTo>
                  <a:pt x="4914372" y="502021"/>
                </a:lnTo>
                <a:lnTo>
                  <a:pt x="5187622" y="1630023"/>
                </a:lnTo>
                <a:lnTo>
                  <a:pt x="5460872" y="502021"/>
                </a:lnTo>
                <a:lnTo>
                  <a:pt x="6567243" y="0"/>
                </a:lnTo>
                <a:lnTo>
                  <a:pt x="7673614" y="502021"/>
                </a:lnTo>
                <a:lnTo>
                  <a:pt x="7896732" y="1423074"/>
                </a:lnTo>
                <a:lnTo>
                  <a:pt x="8119850" y="502021"/>
                </a:lnTo>
                <a:lnTo>
                  <a:pt x="9226221" y="0"/>
                </a:lnTo>
                <a:lnTo>
                  <a:pt x="10332592" y="502021"/>
                </a:lnTo>
                <a:lnTo>
                  <a:pt x="10605849" y="1630052"/>
                </a:lnTo>
                <a:lnTo>
                  <a:pt x="9840207" y="2534666"/>
                </a:lnTo>
                <a:lnTo>
                  <a:pt x="8612235" y="2534666"/>
                </a:lnTo>
                <a:lnTo>
                  <a:pt x="7896732" y="1689292"/>
                </a:lnTo>
                <a:lnTo>
                  <a:pt x="7181229" y="2534666"/>
                </a:lnTo>
                <a:lnTo>
                  <a:pt x="5953257" y="2534666"/>
                </a:lnTo>
                <a:lnTo>
                  <a:pt x="5187622" y="1630061"/>
                </a:lnTo>
                <a:lnTo>
                  <a:pt x="4421987" y="2534666"/>
                </a:lnTo>
                <a:lnTo>
                  <a:pt x="3194015" y="2534666"/>
                </a:lnTo>
                <a:lnTo>
                  <a:pt x="2428373" y="1630052"/>
                </a:lnTo>
                <a:lnTo>
                  <a:pt x="2701630" y="502021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innerShdw blurRad="558800" dist="558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6304254-1B04-02B5-BED2-FDCD1B157EB9}"/>
              </a:ext>
            </a:extLst>
          </p:cNvPr>
          <p:cNvSpPr txBox="1"/>
          <p:nvPr/>
        </p:nvSpPr>
        <p:spPr>
          <a:xfrm>
            <a:off x="288758" y="320299"/>
            <a:ext cx="445827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59E0B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Part 4.3:</a:t>
            </a:r>
            <a:r>
              <a:rPr lang="en-US" sz="2800" b="1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  <a:t> Why Is R² Low?</a:t>
            </a:r>
            <a:br>
              <a:rPr lang="en-US" sz="2800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endParaRPr lang="en-US" sz="2800" dirty="0">
              <a:solidFill>
                <a:srgbClr val="F8FAF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E889A2-B83A-03BC-ECD5-3C4121F30CE1}"/>
              </a:ext>
            </a:extLst>
          </p:cNvPr>
          <p:cNvSpPr txBox="1"/>
          <p:nvPr/>
        </p:nvSpPr>
        <p:spPr>
          <a:xfrm>
            <a:off x="301141" y="1595352"/>
            <a:ext cx="447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  <a:latin typeface="Montserrat" pitchFamily="2" charset="0"/>
              </a:rPr>
              <a:t>Key Reasons: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4BEC1F-0200-A2FE-3784-CE2B68E1F4C6}"/>
              </a:ext>
            </a:extLst>
          </p:cNvPr>
          <p:cNvSpPr txBox="1"/>
          <p:nvPr/>
        </p:nvSpPr>
        <p:spPr>
          <a:xfrm>
            <a:off x="288757" y="2285630"/>
            <a:ext cx="422583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GDP growth affected by: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Wars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Pandemics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Political instability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External shocks</a:t>
            </a:r>
          </a:p>
          <a:p>
            <a:pPr lvl="1"/>
            <a:endParaRPr lang="en-US" dirty="0">
              <a:solidFill>
                <a:srgbClr val="CBD5E1"/>
              </a:solidFill>
              <a:latin typeface="Montserrat" pitchFamily="2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Many influential factors are unobserved</a:t>
            </a:r>
          </a:p>
          <a:p>
            <a:endParaRPr lang="en-US" dirty="0">
              <a:solidFill>
                <a:srgbClr val="CBD5E1"/>
              </a:solidFill>
              <a:latin typeface="Montserrat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D1C528-7B24-D288-0C88-132354CA00C8}"/>
              </a:ext>
            </a:extLst>
          </p:cNvPr>
          <p:cNvSpPr txBox="1"/>
          <p:nvPr/>
        </p:nvSpPr>
        <p:spPr>
          <a:xfrm>
            <a:off x="273645" y="4707521"/>
            <a:ext cx="447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  <a:latin typeface="Montserrat" pitchFamily="2" charset="0"/>
              </a:rPr>
              <a:t>Important Point: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6F17CF-EF33-64B6-54D9-47E88C4C4129}"/>
              </a:ext>
            </a:extLst>
          </p:cNvPr>
          <p:cNvSpPr txBox="1"/>
          <p:nvPr/>
        </p:nvSpPr>
        <p:spPr>
          <a:xfrm>
            <a:off x="261261" y="5397799"/>
            <a:ext cx="4225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Low R² reflects economic complexity, not model failure</a:t>
            </a:r>
          </a:p>
        </p:txBody>
      </p:sp>
    </p:spTree>
    <p:extLst>
      <p:ext uri="{BB962C8B-B14F-4D97-AF65-F5344CB8AC3E}">
        <p14:creationId xmlns:p14="http://schemas.microsoft.com/office/powerpoint/2010/main" val="212304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8000">
              <a:srgbClr val="0F172A"/>
            </a:gs>
            <a:gs pos="0">
              <a:srgbClr val="2E4682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5EE2BC-DE3D-8757-7A48-2F8584411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66D6EFD6-7E00-8B2B-71FE-A680E25AFE13}"/>
              </a:ext>
            </a:extLst>
          </p:cNvPr>
          <p:cNvSpPr/>
          <p:nvPr/>
        </p:nvSpPr>
        <p:spPr>
          <a:xfrm>
            <a:off x="4774526" y="-244649"/>
            <a:ext cx="10605849" cy="9160069"/>
          </a:xfrm>
          <a:custGeom>
            <a:avLst/>
            <a:gdLst>
              <a:gd name="connsiteX0" fmla="*/ 2759249 w 10605849"/>
              <a:gd name="connsiteY0" fmla="*/ 6210089 h 9160069"/>
              <a:gd name="connsiteX1" fmla="*/ 2188570 w 10605849"/>
              <a:gd name="connsiteY1" fmla="*/ 6884351 h 9160069"/>
              <a:gd name="connsiteX2" fmla="*/ 2759249 w 10605849"/>
              <a:gd name="connsiteY2" fmla="*/ 6625403 h 9160069"/>
              <a:gd name="connsiteX3" fmla="*/ 3329927 w 10605849"/>
              <a:gd name="connsiteY3" fmla="*/ 6884351 h 9160069"/>
              <a:gd name="connsiteX4" fmla="*/ 1379628 w 10605849"/>
              <a:gd name="connsiteY4" fmla="*/ 4580028 h 9160069"/>
              <a:gd name="connsiteX5" fmla="*/ 2485999 w 10605849"/>
              <a:gd name="connsiteY5" fmla="*/ 5082049 h 9160069"/>
              <a:gd name="connsiteX6" fmla="*/ 2759249 w 10605849"/>
              <a:gd name="connsiteY6" fmla="*/ 6210051 h 9160069"/>
              <a:gd name="connsiteX7" fmla="*/ 3032499 w 10605849"/>
              <a:gd name="connsiteY7" fmla="*/ 5082049 h 9160069"/>
              <a:gd name="connsiteX8" fmla="*/ 4138870 w 10605849"/>
              <a:gd name="connsiteY8" fmla="*/ 4580028 h 9160069"/>
              <a:gd name="connsiteX9" fmla="*/ 5245241 w 10605849"/>
              <a:gd name="connsiteY9" fmla="*/ 5082049 h 9160069"/>
              <a:gd name="connsiteX10" fmla="*/ 5468359 w 10605849"/>
              <a:gd name="connsiteY10" fmla="*/ 6003102 h 9160069"/>
              <a:gd name="connsiteX11" fmla="*/ 5691477 w 10605849"/>
              <a:gd name="connsiteY11" fmla="*/ 5082049 h 9160069"/>
              <a:gd name="connsiteX12" fmla="*/ 6797848 w 10605849"/>
              <a:gd name="connsiteY12" fmla="*/ 4580028 h 9160069"/>
              <a:gd name="connsiteX13" fmla="*/ 7904219 w 10605849"/>
              <a:gd name="connsiteY13" fmla="*/ 5082049 h 9160069"/>
              <a:gd name="connsiteX14" fmla="*/ 8177476 w 10605849"/>
              <a:gd name="connsiteY14" fmla="*/ 6210080 h 9160069"/>
              <a:gd name="connsiteX15" fmla="*/ 7411834 w 10605849"/>
              <a:gd name="connsiteY15" fmla="*/ 7114694 h 9160069"/>
              <a:gd name="connsiteX16" fmla="*/ 6183862 w 10605849"/>
              <a:gd name="connsiteY16" fmla="*/ 7114694 h 9160069"/>
              <a:gd name="connsiteX17" fmla="*/ 5468359 w 10605849"/>
              <a:gd name="connsiteY17" fmla="*/ 6269320 h 9160069"/>
              <a:gd name="connsiteX18" fmla="*/ 4752856 w 10605849"/>
              <a:gd name="connsiteY18" fmla="*/ 7114694 h 9160069"/>
              <a:gd name="connsiteX19" fmla="*/ 3837565 w 10605849"/>
              <a:gd name="connsiteY19" fmla="*/ 7114694 h 9160069"/>
              <a:gd name="connsiteX20" fmla="*/ 3865620 w 10605849"/>
              <a:gd name="connsiteY20" fmla="*/ 7127424 h 9160069"/>
              <a:gd name="connsiteX21" fmla="*/ 4138877 w 10605849"/>
              <a:gd name="connsiteY21" fmla="*/ 8255455 h 9160069"/>
              <a:gd name="connsiteX22" fmla="*/ 3373235 w 10605849"/>
              <a:gd name="connsiteY22" fmla="*/ 9160069 h 9160069"/>
              <a:gd name="connsiteX23" fmla="*/ 2145263 w 10605849"/>
              <a:gd name="connsiteY23" fmla="*/ 9160069 h 9160069"/>
              <a:gd name="connsiteX24" fmla="*/ 1379621 w 10605849"/>
              <a:gd name="connsiteY24" fmla="*/ 8255455 h 9160069"/>
              <a:gd name="connsiteX25" fmla="*/ 1652878 w 10605849"/>
              <a:gd name="connsiteY25" fmla="*/ 7127424 h 9160069"/>
              <a:gd name="connsiteX26" fmla="*/ 1680933 w 10605849"/>
              <a:gd name="connsiteY26" fmla="*/ 7114694 h 9160069"/>
              <a:gd name="connsiteX27" fmla="*/ 765642 w 10605849"/>
              <a:gd name="connsiteY27" fmla="*/ 7114694 h 9160069"/>
              <a:gd name="connsiteX28" fmla="*/ 0 w 10605849"/>
              <a:gd name="connsiteY28" fmla="*/ 6210080 h 9160069"/>
              <a:gd name="connsiteX29" fmla="*/ 273257 w 10605849"/>
              <a:gd name="connsiteY29" fmla="*/ 5082049 h 9160069"/>
              <a:gd name="connsiteX30" fmla="*/ 2646954 w 10605849"/>
              <a:gd name="connsiteY30" fmla="*/ 2290015 h 9160069"/>
              <a:gd name="connsiteX31" fmla="*/ 3753325 w 10605849"/>
              <a:gd name="connsiteY31" fmla="*/ 2792036 h 9160069"/>
              <a:gd name="connsiteX32" fmla="*/ 4026575 w 10605849"/>
              <a:gd name="connsiteY32" fmla="*/ 3920037 h 9160069"/>
              <a:gd name="connsiteX33" fmla="*/ 4299825 w 10605849"/>
              <a:gd name="connsiteY33" fmla="*/ 2792036 h 9160069"/>
              <a:gd name="connsiteX34" fmla="*/ 5406196 w 10605849"/>
              <a:gd name="connsiteY34" fmla="*/ 2290015 h 9160069"/>
              <a:gd name="connsiteX35" fmla="*/ 6512567 w 10605849"/>
              <a:gd name="connsiteY35" fmla="*/ 2792036 h 9160069"/>
              <a:gd name="connsiteX36" fmla="*/ 6735685 w 10605849"/>
              <a:gd name="connsiteY36" fmla="*/ 3713088 h 9160069"/>
              <a:gd name="connsiteX37" fmla="*/ 6958803 w 10605849"/>
              <a:gd name="connsiteY37" fmla="*/ 2792036 h 9160069"/>
              <a:gd name="connsiteX38" fmla="*/ 8065174 w 10605849"/>
              <a:gd name="connsiteY38" fmla="*/ 2290015 h 9160069"/>
              <a:gd name="connsiteX39" fmla="*/ 9171545 w 10605849"/>
              <a:gd name="connsiteY39" fmla="*/ 2792036 h 9160069"/>
              <a:gd name="connsiteX40" fmla="*/ 9444802 w 10605849"/>
              <a:gd name="connsiteY40" fmla="*/ 3920066 h 9160069"/>
              <a:gd name="connsiteX41" fmla="*/ 8679160 w 10605849"/>
              <a:gd name="connsiteY41" fmla="*/ 4824680 h 9160069"/>
              <a:gd name="connsiteX42" fmla="*/ 7451188 w 10605849"/>
              <a:gd name="connsiteY42" fmla="*/ 4824680 h 9160069"/>
              <a:gd name="connsiteX43" fmla="*/ 6735685 w 10605849"/>
              <a:gd name="connsiteY43" fmla="*/ 3979306 h 9160069"/>
              <a:gd name="connsiteX44" fmla="*/ 6020182 w 10605849"/>
              <a:gd name="connsiteY44" fmla="*/ 4824680 h 9160069"/>
              <a:gd name="connsiteX45" fmla="*/ 4792210 w 10605849"/>
              <a:gd name="connsiteY45" fmla="*/ 4824680 h 9160069"/>
              <a:gd name="connsiteX46" fmla="*/ 4026575 w 10605849"/>
              <a:gd name="connsiteY46" fmla="*/ 3920074 h 9160069"/>
              <a:gd name="connsiteX47" fmla="*/ 3260940 w 10605849"/>
              <a:gd name="connsiteY47" fmla="*/ 4824680 h 9160069"/>
              <a:gd name="connsiteX48" fmla="*/ 2032968 w 10605849"/>
              <a:gd name="connsiteY48" fmla="*/ 4824680 h 9160069"/>
              <a:gd name="connsiteX49" fmla="*/ 1267326 w 10605849"/>
              <a:gd name="connsiteY49" fmla="*/ 3920066 h 9160069"/>
              <a:gd name="connsiteX50" fmla="*/ 1540583 w 10605849"/>
              <a:gd name="connsiteY50" fmla="*/ 2792036 h 9160069"/>
              <a:gd name="connsiteX51" fmla="*/ 3808001 w 10605849"/>
              <a:gd name="connsiteY51" fmla="*/ 0 h 9160069"/>
              <a:gd name="connsiteX52" fmla="*/ 4914372 w 10605849"/>
              <a:gd name="connsiteY52" fmla="*/ 502021 h 9160069"/>
              <a:gd name="connsiteX53" fmla="*/ 5187622 w 10605849"/>
              <a:gd name="connsiteY53" fmla="*/ 1630023 h 9160069"/>
              <a:gd name="connsiteX54" fmla="*/ 5460872 w 10605849"/>
              <a:gd name="connsiteY54" fmla="*/ 502021 h 9160069"/>
              <a:gd name="connsiteX55" fmla="*/ 6567243 w 10605849"/>
              <a:gd name="connsiteY55" fmla="*/ 0 h 9160069"/>
              <a:gd name="connsiteX56" fmla="*/ 7673614 w 10605849"/>
              <a:gd name="connsiteY56" fmla="*/ 502021 h 9160069"/>
              <a:gd name="connsiteX57" fmla="*/ 7896732 w 10605849"/>
              <a:gd name="connsiteY57" fmla="*/ 1423074 h 9160069"/>
              <a:gd name="connsiteX58" fmla="*/ 8119850 w 10605849"/>
              <a:gd name="connsiteY58" fmla="*/ 502021 h 9160069"/>
              <a:gd name="connsiteX59" fmla="*/ 9226221 w 10605849"/>
              <a:gd name="connsiteY59" fmla="*/ 0 h 9160069"/>
              <a:gd name="connsiteX60" fmla="*/ 10332592 w 10605849"/>
              <a:gd name="connsiteY60" fmla="*/ 502021 h 9160069"/>
              <a:gd name="connsiteX61" fmla="*/ 10605849 w 10605849"/>
              <a:gd name="connsiteY61" fmla="*/ 1630052 h 9160069"/>
              <a:gd name="connsiteX62" fmla="*/ 9840207 w 10605849"/>
              <a:gd name="connsiteY62" fmla="*/ 2534666 h 9160069"/>
              <a:gd name="connsiteX63" fmla="*/ 8612235 w 10605849"/>
              <a:gd name="connsiteY63" fmla="*/ 2534666 h 9160069"/>
              <a:gd name="connsiteX64" fmla="*/ 7896732 w 10605849"/>
              <a:gd name="connsiteY64" fmla="*/ 1689292 h 9160069"/>
              <a:gd name="connsiteX65" fmla="*/ 7181229 w 10605849"/>
              <a:gd name="connsiteY65" fmla="*/ 2534666 h 9160069"/>
              <a:gd name="connsiteX66" fmla="*/ 5953257 w 10605849"/>
              <a:gd name="connsiteY66" fmla="*/ 2534666 h 9160069"/>
              <a:gd name="connsiteX67" fmla="*/ 5187622 w 10605849"/>
              <a:gd name="connsiteY67" fmla="*/ 1630061 h 9160069"/>
              <a:gd name="connsiteX68" fmla="*/ 4421987 w 10605849"/>
              <a:gd name="connsiteY68" fmla="*/ 2534666 h 9160069"/>
              <a:gd name="connsiteX69" fmla="*/ 3194015 w 10605849"/>
              <a:gd name="connsiteY69" fmla="*/ 2534666 h 9160069"/>
              <a:gd name="connsiteX70" fmla="*/ 2428373 w 10605849"/>
              <a:gd name="connsiteY70" fmla="*/ 1630052 h 9160069"/>
              <a:gd name="connsiteX71" fmla="*/ 2701630 w 10605849"/>
              <a:gd name="connsiteY71" fmla="*/ 502021 h 916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0605849" h="9160069">
                <a:moveTo>
                  <a:pt x="2759249" y="6210089"/>
                </a:moveTo>
                <a:lnTo>
                  <a:pt x="2188570" y="6884351"/>
                </a:lnTo>
                <a:lnTo>
                  <a:pt x="2759249" y="6625403"/>
                </a:lnTo>
                <a:lnTo>
                  <a:pt x="3329927" y="6884351"/>
                </a:lnTo>
                <a:close/>
                <a:moveTo>
                  <a:pt x="1379628" y="4580028"/>
                </a:moveTo>
                <a:lnTo>
                  <a:pt x="2485999" y="5082049"/>
                </a:lnTo>
                <a:lnTo>
                  <a:pt x="2759249" y="6210051"/>
                </a:lnTo>
                <a:lnTo>
                  <a:pt x="3032499" y="5082049"/>
                </a:lnTo>
                <a:lnTo>
                  <a:pt x="4138870" y="4580028"/>
                </a:lnTo>
                <a:lnTo>
                  <a:pt x="5245241" y="5082049"/>
                </a:lnTo>
                <a:lnTo>
                  <a:pt x="5468359" y="6003102"/>
                </a:lnTo>
                <a:lnTo>
                  <a:pt x="5691477" y="5082049"/>
                </a:lnTo>
                <a:lnTo>
                  <a:pt x="6797848" y="4580028"/>
                </a:lnTo>
                <a:lnTo>
                  <a:pt x="7904219" y="5082049"/>
                </a:lnTo>
                <a:lnTo>
                  <a:pt x="8177476" y="6210080"/>
                </a:lnTo>
                <a:lnTo>
                  <a:pt x="7411834" y="7114694"/>
                </a:lnTo>
                <a:lnTo>
                  <a:pt x="6183862" y="7114694"/>
                </a:lnTo>
                <a:lnTo>
                  <a:pt x="5468359" y="6269320"/>
                </a:lnTo>
                <a:lnTo>
                  <a:pt x="4752856" y="7114694"/>
                </a:lnTo>
                <a:lnTo>
                  <a:pt x="3837565" y="7114694"/>
                </a:lnTo>
                <a:lnTo>
                  <a:pt x="3865620" y="7127424"/>
                </a:lnTo>
                <a:lnTo>
                  <a:pt x="4138877" y="8255455"/>
                </a:lnTo>
                <a:lnTo>
                  <a:pt x="3373235" y="9160069"/>
                </a:lnTo>
                <a:lnTo>
                  <a:pt x="2145263" y="9160069"/>
                </a:lnTo>
                <a:lnTo>
                  <a:pt x="1379621" y="8255455"/>
                </a:lnTo>
                <a:lnTo>
                  <a:pt x="1652878" y="7127424"/>
                </a:lnTo>
                <a:lnTo>
                  <a:pt x="1680933" y="7114694"/>
                </a:lnTo>
                <a:lnTo>
                  <a:pt x="765642" y="7114694"/>
                </a:lnTo>
                <a:lnTo>
                  <a:pt x="0" y="6210080"/>
                </a:lnTo>
                <a:lnTo>
                  <a:pt x="273257" y="5082049"/>
                </a:lnTo>
                <a:close/>
                <a:moveTo>
                  <a:pt x="2646954" y="2290015"/>
                </a:moveTo>
                <a:lnTo>
                  <a:pt x="3753325" y="2792036"/>
                </a:lnTo>
                <a:lnTo>
                  <a:pt x="4026575" y="3920037"/>
                </a:lnTo>
                <a:lnTo>
                  <a:pt x="4299825" y="2792036"/>
                </a:lnTo>
                <a:lnTo>
                  <a:pt x="5406196" y="2290015"/>
                </a:lnTo>
                <a:lnTo>
                  <a:pt x="6512567" y="2792036"/>
                </a:lnTo>
                <a:lnTo>
                  <a:pt x="6735685" y="3713088"/>
                </a:lnTo>
                <a:lnTo>
                  <a:pt x="6958803" y="2792036"/>
                </a:lnTo>
                <a:lnTo>
                  <a:pt x="8065174" y="2290015"/>
                </a:lnTo>
                <a:lnTo>
                  <a:pt x="9171545" y="2792036"/>
                </a:lnTo>
                <a:lnTo>
                  <a:pt x="9444802" y="3920066"/>
                </a:lnTo>
                <a:lnTo>
                  <a:pt x="8679160" y="4824680"/>
                </a:lnTo>
                <a:lnTo>
                  <a:pt x="7451188" y="4824680"/>
                </a:lnTo>
                <a:lnTo>
                  <a:pt x="6735685" y="3979306"/>
                </a:lnTo>
                <a:lnTo>
                  <a:pt x="6020182" y="4824680"/>
                </a:lnTo>
                <a:lnTo>
                  <a:pt x="4792210" y="4824680"/>
                </a:lnTo>
                <a:lnTo>
                  <a:pt x="4026575" y="3920074"/>
                </a:lnTo>
                <a:lnTo>
                  <a:pt x="3260940" y="4824680"/>
                </a:lnTo>
                <a:lnTo>
                  <a:pt x="2032968" y="4824680"/>
                </a:lnTo>
                <a:lnTo>
                  <a:pt x="1267326" y="3920066"/>
                </a:lnTo>
                <a:lnTo>
                  <a:pt x="1540583" y="2792036"/>
                </a:lnTo>
                <a:close/>
                <a:moveTo>
                  <a:pt x="3808001" y="0"/>
                </a:moveTo>
                <a:lnTo>
                  <a:pt x="4914372" y="502021"/>
                </a:lnTo>
                <a:lnTo>
                  <a:pt x="5187622" y="1630023"/>
                </a:lnTo>
                <a:lnTo>
                  <a:pt x="5460872" y="502021"/>
                </a:lnTo>
                <a:lnTo>
                  <a:pt x="6567243" y="0"/>
                </a:lnTo>
                <a:lnTo>
                  <a:pt x="7673614" y="502021"/>
                </a:lnTo>
                <a:lnTo>
                  <a:pt x="7896732" y="1423074"/>
                </a:lnTo>
                <a:lnTo>
                  <a:pt x="8119850" y="502021"/>
                </a:lnTo>
                <a:lnTo>
                  <a:pt x="9226221" y="0"/>
                </a:lnTo>
                <a:lnTo>
                  <a:pt x="10332592" y="502021"/>
                </a:lnTo>
                <a:lnTo>
                  <a:pt x="10605849" y="1630052"/>
                </a:lnTo>
                <a:lnTo>
                  <a:pt x="9840207" y="2534666"/>
                </a:lnTo>
                <a:lnTo>
                  <a:pt x="8612235" y="2534666"/>
                </a:lnTo>
                <a:lnTo>
                  <a:pt x="7896732" y="1689292"/>
                </a:lnTo>
                <a:lnTo>
                  <a:pt x="7181229" y="2534666"/>
                </a:lnTo>
                <a:lnTo>
                  <a:pt x="5953257" y="2534666"/>
                </a:lnTo>
                <a:lnTo>
                  <a:pt x="5187622" y="1630061"/>
                </a:lnTo>
                <a:lnTo>
                  <a:pt x="4421987" y="2534666"/>
                </a:lnTo>
                <a:lnTo>
                  <a:pt x="3194015" y="2534666"/>
                </a:lnTo>
                <a:lnTo>
                  <a:pt x="2428373" y="1630052"/>
                </a:lnTo>
                <a:lnTo>
                  <a:pt x="2701630" y="502021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innerShdw blurRad="558800" dist="558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0681F89-002E-DDF7-8B8F-D90FEB8B4ADE}"/>
              </a:ext>
            </a:extLst>
          </p:cNvPr>
          <p:cNvSpPr txBox="1"/>
          <p:nvPr/>
        </p:nvSpPr>
        <p:spPr>
          <a:xfrm>
            <a:off x="288758" y="320299"/>
            <a:ext cx="34002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59E0B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Part 5:</a:t>
            </a:r>
            <a:r>
              <a:rPr lang="en-US" sz="2800" b="1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  <a:t> Conclusion</a:t>
            </a:r>
            <a:endParaRPr lang="en-US" sz="2800" dirty="0">
              <a:solidFill>
                <a:srgbClr val="F8FAF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88968B-D8AC-3C29-45E9-13A6D11E3F2B}"/>
              </a:ext>
            </a:extLst>
          </p:cNvPr>
          <p:cNvSpPr txBox="1"/>
          <p:nvPr/>
        </p:nvSpPr>
        <p:spPr>
          <a:xfrm>
            <a:off x="301141" y="1595352"/>
            <a:ext cx="447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  <a:latin typeface="Montserrat" pitchFamily="2" charset="0"/>
              </a:rPr>
              <a:t>Main Takeaways: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5B55A-D504-9371-B611-39B24629D4E0}"/>
              </a:ext>
            </a:extLst>
          </p:cNvPr>
          <p:cNvSpPr txBox="1"/>
          <p:nvPr/>
        </p:nvSpPr>
        <p:spPr>
          <a:xfrm>
            <a:off x="288757" y="2285630"/>
            <a:ext cx="42258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Education spending has a weak short-term association with GDP growth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Modeling confirms EDA rather than contradicting it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Results are associative, not causal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96734B-B3D2-058E-6306-AEAEE3B67084}"/>
              </a:ext>
            </a:extLst>
          </p:cNvPr>
          <p:cNvSpPr txBox="1"/>
          <p:nvPr/>
        </p:nvSpPr>
        <p:spPr>
          <a:xfrm>
            <a:off x="273645" y="4707521"/>
            <a:ext cx="447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59E0B"/>
                </a:solidFill>
                <a:latin typeface="Montserrat" pitchFamily="2" charset="0"/>
              </a:rPr>
              <a:t>Final Message: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373EA4-8D91-325A-001C-60E8BD44AC63}"/>
              </a:ext>
            </a:extLst>
          </p:cNvPr>
          <p:cNvSpPr txBox="1"/>
          <p:nvPr/>
        </p:nvSpPr>
        <p:spPr>
          <a:xfrm>
            <a:off x="261261" y="5397799"/>
            <a:ext cx="42258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Education matters structurally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CBD5E1"/>
                </a:solidFill>
                <a:latin typeface="Montserrat" pitchFamily="2" charset="0"/>
              </a:rPr>
              <a:t>Growth is driven by many interacting factors</a:t>
            </a:r>
          </a:p>
        </p:txBody>
      </p:sp>
    </p:spTree>
    <p:extLst>
      <p:ext uri="{BB962C8B-B14F-4D97-AF65-F5344CB8AC3E}">
        <p14:creationId xmlns:p14="http://schemas.microsoft.com/office/powerpoint/2010/main" val="2503108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8000">
              <a:srgbClr val="0F172A"/>
            </a:gs>
            <a:gs pos="0">
              <a:srgbClr val="2E4682"/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BF974B-50B3-E5B2-39BD-3133EC87A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D45139E-C94A-FD9C-E81B-C119D91DA9FF}"/>
              </a:ext>
            </a:extLst>
          </p:cNvPr>
          <p:cNvSpPr/>
          <p:nvPr/>
        </p:nvSpPr>
        <p:spPr>
          <a:xfrm>
            <a:off x="4774526" y="-244649"/>
            <a:ext cx="10605849" cy="9160069"/>
          </a:xfrm>
          <a:custGeom>
            <a:avLst/>
            <a:gdLst>
              <a:gd name="connsiteX0" fmla="*/ 2759249 w 10605849"/>
              <a:gd name="connsiteY0" fmla="*/ 6210089 h 9160069"/>
              <a:gd name="connsiteX1" fmla="*/ 2188570 w 10605849"/>
              <a:gd name="connsiteY1" fmla="*/ 6884351 h 9160069"/>
              <a:gd name="connsiteX2" fmla="*/ 2759249 w 10605849"/>
              <a:gd name="connsiteY2" fmla="*/ 6625403 h 9160069"/>
              <a:gd name="connsiteX3" fmla="*/ 3329927 w 10605849"/>
              <a:gd name="connsiteY3" fmla="*/ 6884351 h 9160069"/>
              <a:gd name="connsiteX4" fmla="*/ 1379628 w 10605849"/>
              <a:gd name="connsiteY4" fmla="*/ 4580028 h 9160069"/>
              <a:gd name="connsiteX5" fmla="*/ 2485999 w 10605849"/>
              <a:gd name="connsiteY5" fmla="*/ 5082049 h 9160069"/>
              <a:gd name="connsiteX6" fmla="*/ 2759249 w 10605849"/>
              <a:gd name="connsiteY6" fmla="*/ 6210051 h 9160069"/>
              <a:gd name="connsiteX7" fmla="*/ 3032499 w 10605849"/>
              <a:gd name="connsiteY7" fmla="*/ 5082049 h 9160069"/>
              <a:gd name="connsiteX8" fmla="*/ 4138870 w 10605849"/>
              <a:gd name="connsiteY8" fmla="*/ 4580028 h 9160069"/>
              <a:gd name="connsiteX9" fmla="*/ 5245241 w 10605849"/>
              <a:gd name="connsiteY9" fmla="*/ 5082049 h 9160069"/>
              <a:gd name="connsiteX10" fmla="*/ 5468359 w 10605849"/>
              <a:gd name="connsiteY10" fmla="*/ 6003102 h 9160069"/>
              <a:gd name="connsiteX11" fmla="*/ 5691477 w 10605849"/>
              <a:gd name="connsiteY11" fmla="*/ 5082049 h 9160069"/>
              <a:gd name="connsiteX12" fmla="*/ 6797848 w 10605849"/>
              <a:gd name="connsiteY12" fmla="*/ 4580028 h 9160069"/>
              <a:gd name="connsiteX13" fmla="*/ 7904219 w 10605849"/>
              <a:gd name="connsiteY13" fmla="*/ 5082049 h 9160069"/>
              <a:gd name="connsiteX14" fmla="*/ 8177476 w 10605849"/>
              <a:gd name="connsiteY14" fmla="*/ 6210080 h 9160069"/>
              <a:gd name="connsiteX15" fmla="*/ 7411834 w 10605849"/>
              <a:gd name="connsiteY15" fmla="*/ 7114694 h 9160069"/>
              <a:gd name="connsiteX16" fmla="*/ 6183862 w 10605849"/>
              <a:gd name="connsiteY16" fmla="*/ 7114694 h 9160069"/>
              <a:gd name="connsiteX17" fmla="*/ 5468359 w 10605849"/>
              <a:gd name="connsiteY17" fmla="*/ 6269320 h 9160069"/>
              <a:gd name="connsiteX18" fmla="*/ 4752856 w 10605849"/>
              <a:gd name="connsiteY18" fmla="*/ 7114694 h 9160069"/>
              <a:gd name="connsiteX19" fmla="*/ 3837565 w 10605849"/>
              <a:gd name="connsiteY19" fmla="*/ 7114694 h 9160069"/>
              <a:gd name="connsiteX20" fmla="*/ 3865620 w 10605849"/>
              <a:gd name="connsiteY20" fmla="*/ 7127424 h 9160069"/>
              <a:gd name="connsiteX21" fmla="*/ 4138877 w 10605849"/>
              <a:gd name="connsiteY21" fmla="*/ 8255455 h 9160069"/>
              <a:gd name="connsiteX22" fmla="*/ 3373235 w 10605849"/>
              <a:gd name="connsiteY22" fmla="*/ 9160069 h 9160069"/>
              <a:gd name="connsiteX23" fmla="*/ 2145263 w 10605849"/>
              <a:gd name="connsiteY23" fmla="*/ 9160069 h 9160069"/>
              <a:gd name="connsiteX24" fmla="*/ 1379621 w 10605849"/>
              <a:gd name="connsiteY24" fmla="*/ 8255455 h 9160069"/>
              <a:gd name="connsiteX25" fmla="*/ 1652878 w 10605849"/>
              <a:gd name="connsiteY25" fmla="*/ 7127424 h 9160069"/>
              <a:gd name="connsiteX26" fmla="*/ 1680933 w 10605849"/>
              <a:gd name="connsiteY26" fmla="*/ 7114694 h 9160069"/>
              <a:gd name="connsiteX27" fmla="*/ 765642 w 10605849"/>
              <a:gd name="connsiteY27" fmla="*/ 7114694 h 9160069"/>
              <a:gd name="connsiteX28" fmla="*/ 0 w 10605849"/>
              <a:gd name="connsiteY28" fmla="*/ 6210080 h 9160069"/>
              <a:gd name="connsiteX29" fmla="*/ 273257 w 10605849"/>
              <a:gd name="connsiteY29" fmla="*/ 5082049 h 9160069"/>
              <a:gd name="connsiteX30" fmla="*/ 2646954 w 10605849"/>
              <a:gd name="connsiteY30" fmla="*/ 2290015 h 9160069"/>
              <a:gd name="connsiteX31" fmla="*/ 3753325 w 10605849"/>
              <a:gd name="connsiteY31" fmla="*/ 2792036 h 9160069"/>
              <a:gd name="connsiteX32" fmla="*/ 4026575 w 10605849"/>
              <a:gd name="connsiteY32" fmla="*/ 3920037 h 9160069"/>
              <a:gd name="connsiteX33" fmla="*/ 4299825 w 10605849"/>
              <a:gd name="connsiteY33" fmla="*/ 2792036 h 9160069"/>
              <a:gd name="connsiteX34" fmla="*/ 5406196 w 10605849"/>
              <a:gd name="connsiteY34" fmla="*/ 2290015 h 9160069"/>
              <a:gd name="connsiteX35" fmla="*/ 6512567 w 10605849"/>
              <a:gd name="connsiteY35" fmla="*/ 2792036 h 9160069"/>
              <a:gd name="connsiteX36" fmla="*/ 6735685 w 10605849"/>
              <a:gd name="connsiteY36" fmla="*/ 3713088 h 9160069"/>
              <a:gd name="connsiteX37" fmla="*/ 6958803 w 10605849"/>
              <a:gd name="connsiteY37" fmla="*/ 2792036 h 9160069"/>
              <a:gd name="connsiteX38" fmla="*/ 8065174 w 10605849"/>
              <a:gd name="connsiteY38" fmla="*/ 2290015 h 9160069"/>
              <a:gd name="connsiteX39" fmla="*/ 9171545 w 10605849"/>
              <a:gd name="connsiteY39" fmla="*/ 2792036 h 9160069"/>
              <a:gd name="connsiteX40" fmla="*/ 9444802 w 10605849"/>
              <a:gd name="connsiteY40" fmla="*/ 3920066 h 9160069"/>
              <a:gd name="connsiteX41" fmla="*/ 8679160 w 10605849"/>
              <a:gd name="connsiteY41" fmla="*/ 4824680 h 9160069"/>
              <a:gd name="connsiteX42" fmla="*/ 7451188 w 10605849"/>
              <a:gd name="connsiteY42" fmla="*/ 4824680 h 9160069"/>
              <a:gd name="connsiteX43" fmla="*/ 6735685 w 10605849"/>
              <a:gd name="connsiteY43" fmla="*/ 3979306 h 9160069"/>
              <a:gd name="connsiteX44" fmla="*/ 6020182 w 10605849"/>
              <a:gd name="connsiteY44" fmla="*/ 4824680 h 9160069"/>
              <a:gd name="connsiteX45" fmla="*/ 4792210 w 10605849"/>
              <a:gd name="connsiteY45" fmla="*/ 4824680 h 9160069"/>
              <a:gd name="connsiteX46" fmla="*/ 4026575 w 10605849"/>
              <a:gd name="connsiteY46" fmla="*/ 3920074 h 9160069"/>
              <a:gd name="connsiteX47" fmla="*/ 3260940 w 10605849"/>
              <a:gd name="connsiteY47" fmla="*/ 4824680 h 9160069"/>
              <a:gd name="connsiteX48" fmla="*/ 2032968 w 10605849"/>
              <a:gd name="connsiteY48" fmla="*/ 4824680 h 9160069"/>
              <a:gd name="connsiteX49" fmla="*/ 1267326 w 10605849"/>
              <a:gd name="connsiteY49" fmla="*/ 3920066 h 9160069"/>
              <a:gd name="connsiteX50" fmla="*/ 1540583 w 10605849"/>
              <a:gd name="connsiteY50" fmla="*/ 2792036 h 9160069"/>
              <a:gd name="connsiteX51" fmla="*/ 3808001 w 10605849"/>
              <a:gd name="connsiteY51" fmla="*/ 0 h 9160069"/>
              <a:gd name="connsiteX52" fmla="*/ 4914372 w 10605849"/>
              <a:gd name="connsiteY52" fmla="*/ 502021 h 9160069"/>
              <a:gd name="connsiteX53" fmla="*/ 5187622 w 10605849"/>
              <a:gd name="connsiteY53" fmla="*/ 1630023 h 9160069"/>
              <a:gd name="connsiteX54" fmla="*/ 5460872 w 10605849"/>
              <a:gd name="connsiteY54" fmla="*/ 502021 h 9160069"/>
              <a:gd name="connsiteX55" fmla="*/ 6567243 w 10605849"/>
              <a:gd name="connsiteY55" fmla="*/ 0 h 9160069"/>
              <a:gd name="connsiteX56" fmla="*/ 7673614 w 10605849"/>
              <a:gd name="connsiteY56" fmla="*/ 502021 h 9160069"/>
              <a:gd name="connsiteX57" fmla="*/ 7896732 w 10605849"/>
              <a:gd name="connsiteY57" fmla="*/ 1423074 h 9160069"/>
              <a:gd name="connsiteX58" fmla="*/ 8119850 w 10605849"/>
              <a:gd name="connsiteY58" fmla="*/ 502021 h 9160069"/>
              <a:gd name="connsiteX59" fmla="*/ 9226221 w 10605849"/>
              <a:gd name="connsiteY59" fmla="*/ 0 h 9160069"/>
              <a:gd name="connsiteX60" fmla="*/ 10332592 w 10605849"/>
              <a:gd name="connsiteY60" fmla="*/ 502021 h 9160069"/>
              <a:gd name="connsiteX61" fmla="*/ 10605849 w 10605849"/>
              <a:gd name="connsiteY61" fmla="*/ 1630052 h 9160069"/>
              <a:gd name="connsiteX62" fmla="*/ 9840207 w 10605849"/>
              <a:gd name="connsiteY62" fmla="*/ 2534666 h 9160069"/>
              <a:gd name="connsiteX63" fmla="*/ 8612235 w 10605849"/>
              <a:gd name="connsiteY63" fmla="*/ 2534666 h 9160069"/>
              <a:gd name="connsiteX64" fmla="*/ 7896732 w 10605849"/>
              <a:gd name="connsiteY64" fmla="*/ 1689292 h 9160069"/>
              <a:gd name="connsiteX65" fmla="*/ 7181229 w 10605849"/>
              <a:gd name="connsiteY65" fmla="*/ 2534666 h 9160069"/>
              <a:gd name="connsiteX66" fmla="*/ 5953257 w 10605849"/>
              <a:gd name="connsiteY66" fmla="*/ 2534666 h 9160069"/>
              <a:gd name="connsiteX67" fmla="*/ 5187622 w 10605849"/>
              <a:gd name="connsiteY67" fmla="*/ 1630061 h 9160069"/>
              <a:gd name="connsiteX68" fmla="*/ 4421987 w 10605849"/>
              <a:gd name="connsiteY68" fmla="*/ 2534666 h 9160069"/>
              <a:gd name="connsiteX69" fmla="*/ 3194015 w 10605849"/>
              <a:gd name="connsiteY69" fmla="*/ 2534666 h 9160069"/>
              <a:gd name="connsiteX70" fmla="*/ 2428373 w 10605849"/>
              <a:gd name="connsiteY70" fmla="*/ 1630052 h 9160069"/>
              <a:gd name="connsiteX71" fmla="*/ 2701630 w 10605849"/>
              <a:gd name="connsiteY71" fmla="*/ 502021 h 916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0605849" h="9160069">
                <a:moveTo>
                  <a:pt x="2759249" y="6210089"/>
                </a:moveTo>
                <a:lnTo>
                  <a:pt x="2188570" y="6884351"/>
                </a:lnTo>
                <a:lnTo>
                  <a:pt x="2759249" y="6625403"/>
                </a:lnTo>
                <a:lnTo>
                  <a:pt x="3329927" y="6884351"/>
                </a:lnTo>
                <a:close/>
                <a:moveTo>
                  <a:pt x="1379628" y="4580028"/>
                </a:moveTo>
                <a:lnTo>
                  <a:pt x="2485999" y="5082049"/>
                </a:lnTo>
                <a:lnTo>
                  <a:pt x="2759249" y="6210051"/>
                </a:lnTo>
                <a:lnTo>
                  <a:pt x="3032499" y="5082049"/>
                </a:lnTo>
                <a:lnTo>
                  <a:pt x="4138870" y="4580028"/>
                </a:lnTo>
                <a:lnTo>
                  <a:pt x="5245241" y="5082049"/>
                </a:lnTo>
                <a:lnTo>
                  <a:pt x="5468359" y="6003102"/>
                </a:lnTo>
                <a:lnTo>
                  <a:pt x="5691477" y="5082049"/>
                </a:lnTo>
                <a:lnTo>
                  <a:pt x="6797848" y="4580028"/>
                </a:lnTo>
                <a:lnTo>
                  <a:pt x="7904219" y="5082049"/>
                </a:lnTo>
                <a:lnTo>
                  <a:pt x="8177476" y="6210080"/>
                </a:lnTo>
                <a:lnTo>
                  <a:pt x="7411834" y="7114694"/>
                </a:lnTo>
                <a:lnTo>
                  <a:pt x="6183862" y="7114694"/>
                </a:lnTo>
                <a:lnTo>
                  <a:pt x="5468359" y="6269320"/>
                </a:lnTo>
                <a:lnTo>
                  <a:pt x="4752856" y="7114694"/>
                </a:lnTo>
                <a:lnTo>
                  <a:pt x="3837565" y="7114694"/>
                </a:lnTo>
                <a:lnTo>
                  <a:pt x="3865620" y="7127424"/>
                </a:lnTo>
                <a:lnTo>
                  <a:pt x="4138877" y="8255455"/>
                </a:lnTo>
                <a:lnTo>
                  <a:pt x="3373235" y="9160069"/>
                </a:lnTo>
                <a:lnTo>
                  <a:pt x="2145263" y="9160069"/>
                </a:lnTo>
                <a:lnTo>
                  <a:pt x="1379621" y="8255455"/>
                </a:lnTo>
                <a:lnTo>
                  <a:pt x="1652878" y="7127424"/>
                </a:lnTo>
                <a:lnTo>
                  <a:pt x="1680933" y="7114694"/>
                </a:lnTo>
                <a:lnTo>
                  <a:pt x="765642" y="7114694"/>
                </a:lnTo>
                <a:lnTo>
                  <a:pt x="0" y="6210080"/>
                </a:lnTo>
                <a:lnTo>
                  <a:pt x="273257" y="5082049"/>
                </a:lnTo>
                <a:close/>
                <a:moveTo>
                  <a:pt x="2646954" y="2290015"/>
                </a:moveTo>
                <a:lnTo>
                  <a:pt x="3753325" y="2792036"/>
                </a:lnTo>
                <a:lnTo>
                  <a:pt x="4026575" y="3920037"/>
                </a:lnTo>
                <a:lnTo>
                  <a:pt x="4299825" y="2792036"/>
                </a:lnTo>
                <a:lnTo>
                  <a:pt x="5406196" y="2290015"/>
                </a:lnTo>
                <a:lnTo>
                  <a:pt x="6512567" y="2792036"/>
                </a:lnTo>
                <a:lnTo>
                  <a:pt x="6735685" y="3713088"/>
                </a:lnTo>
                <a:lnTo>
                  <a:pt x="6958803" y="2792036"/>
                </a:lnTo>
                <a:lnTo>
                  <a:pt x="8065174" y="2290015"/>
                </a:lnTo>
                <a:lnTo>
                  <a:pt x="9171545" y="2792036"/>
                </a:lnTo>
                <a:lnTo>
                  <a:pt x="9444802" y="3920066"/>
                </a:lnTo>
                <a:lnTo>
                  <a:pt x="8679160" y="4824680"/>
                </a:lnTo>
                <a:lnTo>
                  <a:pt x="7451188" y="4824680"/>
                </a:lnTo>
                <a:lnTo>
                  <a:pt x="6735685" y="3979306"/>
                </a:lnTo>
                <a:lnTo>
                  <a:pt x="6020182" y="4824680"/>
                </a:lnTo>
                <a:lnTo>
                  <a:pt x="4792210" y="4824680"/>
                </a:lnTo>
                <a:lnTo>
                  <a:pt x="4026575" y="3920074"/>
                </a:lnTo>
                <a:lnTo>
                  <a:pt x="3260940" y="4824680"/>
                </a:lnTo>
                <a:lnTo>
                  <a:pt x="2032968" y="4824680"/>
                </a:lnTo>
                <a:lnTo>
                  <a:pt x="1267326" y="3920066"/>
                </a:lnTo>
                <a:lnTo>
                  <a:pt x="1540583" y="2792036"/>
                </a:lnTo>
                <a:close/>
                <a:moveTo>
                  <a:pt x="3808001" y="0"/>
                </a:moveTo>
                <a:lnTo>
                  <a:pt x="4914372" y="502021"/>
                </a:lnTo>
                <a:lnTo>
                  <a:pt x="5187622" y="1630023"/>
                </a:lnTo>
                <a:lnTo>
                  <a:pt x="5460872" y="502021"/>
                </a:lnTo>
                <a:lnTo>
                  <a:pt x="6567243" y="0"/>
                </a:lnTo>
                <a:lnTo>
                  <a:pt x="7673614" y="502021"/>
                </a:lnTo>
                <a:lnTo>
                  <a:pt x="7896732" y="1423074"/>
                </a:lnTo>
                <a:lnTo>
                  <a:pt x="8119850" y="502021"/>
                </a:lnTo>
                <a:lnTo>
                  <a:pt x="9226221" y="0"/>
                </a:lnTo>
                <a:lnTo>
                  <a:pt x="10332592" y="502021"/>
                </a:lnTo>
                <a:lnTo>
                  <a:pt x="10605849" y="1630052"/>
                </a:lnTo>
                <a:lnTo>
                  <a:pt x="9840207" y="2534666"/>
                </a:lnTo>
                <a:lnTo>
                  <a:pt x="8612235" y="2534666"/>
                </a:lnTo>
                <a:lnTo>
                  <a:pt x="7896732" y="1689292"/>
                </a:lnTo>
                <a:lnTo>
                  <a:pt x="7181229" y="2534666"/>
                </a:lnTo>
                <a:lnTo>
                  <a:pt x="5953257" y="2534666"/>
                </a:lnTo>
                <a:lnTo>
                  <a:pt x="5187622" y="1630061"/>
                </a:lnTo>
                <a:lnTo>
                  <a:pt x="4421987" y="2534666"/>
                </a:lnTo>
                <a:lnTo>
                  <a:pt x="3194015" y="2534666"/>
                </a:lnTo>
                <a:lnTo>
                  <a:pt x="2428373" y="1630052"/>
                </a:lnTo>
                <a:lnTo>
                  <a:pt x="2701630" y="502021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innerShdw blurRad="558800" dist="558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56F7140-1B43-CA27-37A6-010E0482FF9A}"/>
              </a:ext>
            </a:extLst>
          </p:cNvPr>
          <p:cNvSpPr txBox="1"/>
          <p:nvPr/>
        </p:nvSpPr>
        <p:spPr>
          <a:xfrm>
            <a:off x="0" y="1443790"/>
            <a:ext cx="72090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  <a:t>Education Spending &amp; Economic Growth</a:t>
            </a:r>
            <a:br>
              <a:rPr lang="en-US" sz="2800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endParaRPr lang="en-US" sz="2800" dirty="0">
              <a:solidFill>
                <a:srgbClr val="F8FAF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58EC68-1831-4E56-238F-BB7CBD1DBE19}"/>
              </a:ext>
            </a:extLst>
          </p:cNvPr>
          <p:cNvSpPr txBox="1"/>
          <p:nvPr/>
        </p:nvSpPr>
        <p:spPr>
          <a:xfrm>
            <a:off x="1475873" y="2074731"/>
            <a:ext cx="35028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BD5E1"/>
                </a:solidFill>
                <a:latin typeface="Inter" panose="02000503000000020004" pitchFamily="2" charset="0"/>
                <a:ea typeface="Inter" panose="02000503000000020004" pitchFamily="2" charset="0"/>
              </a:rPr>
              <a:t>A Global Relationship Analysis</a:t>
            </a:r>
            <a:endParaRPr lang="en-US" dirty="0">
              <a:solidFill>
                <a:srgbClr val="CBD5E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US" dirty="0">
              <a:solidFill>
                <a:srgbClr val="CBD5E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364E2F2D-C620-670E-CFC2-D58F48D7C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315" y="2505618"/>
            <a:ext cx="35381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59E0B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World Bank Data • R • Regression &amp; ML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59E0B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F59E0B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2B6D5817-93AE-AFEE-D3BA-BE377F9C3B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852" y="-128106"/>
            <a:ext cx="1463167" cy="15180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96020B-496A-6546-3B25-3D836DBBF56E}"/>
              </a:ext>
            </a:extLst>
          </p:cNvPr>
          <p:cNvSpPr txBox="1"/>
          <p:nvPr/>
        </p:nvSpPr>
        <p:spPr>
          <a:xfrm>
            <a:off x="2180520" y="3812165"/>
            <a:ext cx="20377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  <a:t>Thank You</a:t>
            </a:r>
            <a:endParaRPr lang="en-US" sz="2800" dirty="0">
              <a:solidFill>
                <a:srgbClr val="F8FAF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128E21-C55A-757E-3554-0AFDC607BFB4}"/>
              </a:ext>
            </a:extLst>
          </p:cNvPr>
          <p:cNvSpPr txBox="1"/>
          <p:nvPr/>
        </p:nvSpPr>
        <p:spPr>
          <a:xfrm>
            <a:off x="2208445" y="5143189"/>
            <a:ext cx="2172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8FAFC"/>
                </a:solidFill>
                <a:latin typeface="Inter" panose="02000503000000020004" pitchFamily="2" charset="0"/>
                <a:ea typeface="Inter" panose="02000503000000020004" pitchFamily="2" charset="0"/>
              </a:rPr>
              <a:t>Questions?</a:t>
            </a:r>
            <a:endParaRPr lang="en-US" sz="2800" dirty="0">
              <a:solidFill>
                <a:srgbClr val="F8FAF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F9AF04-B040-496B-A339-A9B55C0896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9843" y="1669040"/>
            <a:ext cx="4286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01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538</Words>
  <Application>Microsoft Office PowerPoint</Application>
  <PresentationFormat>Widescreen</PresentationFormat>
  <Paragraphs>107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Inter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Faisal Naem</dc:creator>
  <cp:lastModifiedBy>Faisal Naem</cp:lastModifiedBy>
  <cp:revision>1</cp:revision>
  <dcterms:created xsi:type="dcterms:W3CDTF">2025-12-24T11:17:03Z</dcterms:created>
  <dcterms:modified xsi:type="dcterms:W3CDTF">2025-12-24T12:38:53Z</dcterms:modified>
</cp:coreProperties>
</file>